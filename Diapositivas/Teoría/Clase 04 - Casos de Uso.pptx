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9" r:id="rId1"/>
  </p:sldMasterIdLst>
  <p:notesMasterIdLst>
    <p:notesMasterId r:id="rId28"/>
  </p:notesMasterIdLst>
  <p:sldIdLst>
    <p:sldId id="299" r:id="rId2"/>
    <p:sldId id="300" r:id="rId3"/>
    <p:sldId id="301" r:id="rId4"/>
    <p:sldId id="302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9" r:id="rId16"/>
    <p:sldId id="314" r:id="rId17"/>
    <p:sldId id="315" r:id="rId18"/>
    <p:sldId id="316" r:id="rId19"/>
    <p:sldId id="317" r:id="rId20"/>
    <p:sldId id="320" r:id="rId21"/>
    <p:sldId id="318" r:id="rId22"/>
    <p:sldId id="321" r:id="rId23"/>
    <p:sldId id="322" r:id="rId24"/>
    <p:sldId id="323" r:id="rId25"/>
    <p:sldId id="324" r:id="rId26"/>
    <p:sldId id="325" r:id="rId27"/>
  </p:sldIdLst>
  <p:sldSz cx="12192000" cy="6858000"/>
  <p:notesSz cx="6797675" cy="987425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0" roundtripDataSignature="AMtx7mgI0A6PBOH3yEcFcnBZ3aP36FD4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0967553-65DA-4D28-9A68-6F0D093F462A}">
  <a:tblStyle styleId="{80967553-65DA-4D28-9A68-6F0D093F46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39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0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7950" y="741363"/>
            <a:ext cx="6581775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  <p:sp>
        <p:nvSpPr>
          <p:cNvPr id="125" name="Google Shape;125;p3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126" name="Google Shape;126;p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>
                <a:solidFill>
                  <a:srgbClr val="000000"/>
                </a:solidFill>
              </a:rPr>
              <a:t>Ingeniera de Software I 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E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:notes"/>
          <p:cNvSpPr/>
          <p:nvPr/>
        </p:nvSpPr>
        <p:spPr>
          <a:xfrm>
            <a:off x="3884760" y="8685360"/>
            <a:ext cx="2971080" cy="4564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6" name="Google Shape;366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88FA718E-BC95-B4B7-49CD-37997D415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A5B63817-5075-8D06-5D11-B263CE9772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BB6FA37A-AE7A-C869-9B64-2A78467303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E1D17A09-6F09-0822-B15F-B165A2C94A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731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31C7E1B4-25F8-B9DF-C116-F60C17AAE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AA6BC22B-1B9F-67BD-5B7E-40466DA264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01DCC758-91A0-6AEE-757C-FAAA944077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F671D1C0-142F-C834-3428-885040F39B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5083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BFE6DB8D-5F16-C9CB-1EF0-B8C94E71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386277FA-611F-5FB0-CBA0-C5B4166A71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81F74EF7-3F12-F3C8-CACE-4BC9AA4654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FACDD382-1F05-D480-9028-BE7408AAA7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3262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04C12538-144E-CC53-D6FE-98CD8957E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C9DD432F-DE9C-6AD8-9C0C-7DF78479D1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47F874D2-64C5-4B54-6A6A-5A418AA3D6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209EA918-590B-5B9B-984D-0FC043A38D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73377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DF3762DC-4F39-56DE-C70E-62A54002B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926605F3-332B-7ED5-2381-452FB99C20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DD57CAAC-50D3-9878-322E-F67FEFC7D3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960A2E76-CFE3-12FC-8EDC-57936E5CF4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0561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7C6CBB1E-86CD-FA60-6CEC-CD16E95D9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F535714F-702F-9F4C-F57B-C6F365BD4E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81C5C759-BE32-8D21-D3D0-799B8A7913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7513557F-BADE-3D4C-6681-727E0CCB70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59645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84E8CFD1-3FD6-ED44-5CF4-21AF1684D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B2C05F3C-4BA7-4E86-E7E0-369650FFA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E83CA656-300D-F153-149A-D57CA6E6A4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F23348C7-5695-075C-7298-2CB62006F39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51354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00672F6D-1250-EB7C-28E2-B959EBC31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F35FD03C-956A-C8AD-918A-CDDE4DBB88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DB5F29EE-7268-3BCA-021C-AE3E10385A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237D85B4-3F8C-D192-8455-FC5DE56D14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31528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183AD948-F74B-CB0C-2811-55CD4979F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FA401D30-790A-A719-006C-3D993A55A0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4F7854FC-9771-47C7-C05B-784FD762FF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B820E2D5-DA82-5D7B-0955-4FA320924C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59150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47DE5BC1-9848-2EF7-AD06-6B77DFA01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8489A20C-2B49-FF88-72F2-AA05D99C5F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E56AB04D-D4A6-5086-600D-90DF5C1B8C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F6F2FC0F-CD97-9940-B89C-3DBC8B0BA00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9067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064DDB13-E763-44C0-0707-B724AC4D1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C95051D7-C1CC-F7C8-5841-3EBC41B097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DD86349E-91E2-AE06-CA04-F1C57AE505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03D47B6B-2296-E5CB-E87C-85A6EB5880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94682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51B08F3A-C2D2-298A-0994-63A3919D4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147D6690-EF31-6D6E-89EF-3399E5B728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90764286-7F5E-9B68-709A-FF75EC2EFE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91752A14-19DF-8851-2221-125D43592E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87857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05350FFA-FA81-6156-E756-98FD0A95A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1A6A5D11-5CD7-985E-7164-55CAE64CF2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5A69F29D-DB27-71F2-5B41-D8CF638271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B25B28BA-F645-65D5-53EE-E8607D92BD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17741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DD939A15-5858-8F6F-D5AE-E45A46613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6A74CC53-C40B-9C2E-87D5-BFDEC51CAB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DAD8C67D-4C14-24BE-4CE1-02C36317B4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6FDD506A-FBA2-802E-C62B-5EBB98A273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9255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EEF4AD42-3A5A-73EB-0E1A-99038E587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7A426412-E8FB-7A7D-BF63-3B555F4634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82D5EDE9-6540-A3B8-662E-A60D76B637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E748D351-05D4-8125-05B0-FD99AD7828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33598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49616366-71B7-4653-F26A-1D7CEED3D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C270ADFF-2A9B-4442-B401-691E9F8AE4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3F53F52A-0BA1-1C81-84E9-98025A2A0F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5284BEBA-EDCA-0A04-7BCB-8EE7779850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19184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9331E67F-3EA2-395D-5C7E-052AC1E85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F0B2AC50-A808-41A1-DB48-EA0BD78D72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8E93B653-8240-CCD3-5EEB-A3D0C436EC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B2366106-2BF7-5598-7461-FF36AF52DC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19659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B768C05A-11A8-F0F0-5043-DACE0FF5C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6EBB7F57-FA4B-4D26-75F5-D29C3B9980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2149A25C-02E3-D263-57D9-562E1DCD5A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B50541AA-E4E1-8BF5-5B69-9CF11BDFE7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62794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00B324B7-0D60-B3B6-D84E-2859664A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49C51E1E-B038-4FF9-292A-41018D8F08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845FA5D4-EF16-6622-A1C3-B72185E6BA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707DA721-626B-C5AC-F51F-56C592889C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28988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B45A698C-8BCF-D666-7F1A-E722DCA02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E678B0C1-788D-E3B5-2A47-672953BCB2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001A02A3-355C-A6F0-E2C7-6F2B367A86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053E78CA-111C-4E9B-EF1F-3B22DFC8A0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32859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F0EDE5FD-466B-EA66-59E2-740236548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7D32E378-F228-AD4B-FA3B-EF1D991CFE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6D45613C-2546-A8B2-9242-593A691EFA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B8A2A8F9-F2D8-97C2-04F4-1FCA539161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89102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2" name="Google Shape;582;p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3" name="Google Shape;583;p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26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 con 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0FEAECEB-BF88-3954-623C-F78A6C485884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4B3F05A-644E-CB40-7C9D-A085AD944DCD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865DEBF2-0DBC-0AB1-6637-19728388469D}"/>
              </a:ext>
            </a:extLst>
          </p:cNvPr>
          <p:cNvCxnSpPr/>
          <p:nvPr/>
        </p:nvCxnSpPr>
        <p:spPr>
          <a:xfrm>
            <a:off x="1208088" y="4343400"/>
            <a:ext cx="987583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>
            <a:lvl1pPr algn="l">
              <a:lnSpc>
                <a:spcPct val="85000"/>
              </a:lnSpc>
              <a:defRPr sz="72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F76AA13-2DBE-6CFC-13B4-1EE37FBF0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630BFAD-5059-B383-D52C-F507B073D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Ingeniería de Software I</a:t>
            </a:r>
            <a:endParaRPr lang="es-E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8CC31DF-F153-333E-8C57-546319FAA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140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 sz="4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3F821-30C4-16F8-5EB1-57408A544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167D0-E137-CC0F-A2AB-DFFCDDBDB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Ingeniería de Software 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3CBB7-C90E-9983-5E37-B50D26510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29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945D5B5-6A40-CB99-D893-6F52A4717899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D29B637-7D51-00CB-B0D2-CB8F38D8B645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2E653C92-E464-BA21-FDE0-23CC5A280A82}"/>
              </a:ext>
            </a:extLst>
          </p:cNvPr>
          <p:cNvCxnSpPr/>
          <p:nvPr/>
        </p:nvCxnSpPr>
        <p:spPr>
          <a:xfrm>
            <a:off x="1208088" y="4343400"/>
            <a:ext cx="987583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5F843A2-B5B0-E206-A546-2E0CA2009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576A732-3C13-8E98-1345-21C66EE70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Ingeniería de Software I</a:t>
            </a:r>
            <a:endParaRPr lang="es-E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3B08D9B-409D-A12E-B64B-F04A0C345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7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5000330-E680-85E5-B192-438F3386D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66B6E-1BBB-0BF8-231A-90548DF81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Ingeniería de Software 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4ED7D-871F-4389-389E-7344715DF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612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0C45252-6EAD-A185-A28F-B175E560A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55B493A-8DB4-88C9-BB41-75E5FB073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Ingeniería de Software I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382B328-18B8-409D-5123-35B0CD5AC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061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55D83B-8AE7-A862-931F-AEC3189E4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F5483E8-329B-BC0C-38A2-57848415F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Ingeniería de Software I</a:t>
            </a:r>
            <a:endParaRPr lang="es-E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6212033-A352-1425-C659-B3390E9B2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873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498C483-F759-72E1-09CF-3BC211E72EC2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D53A90C-9F89-6527-D1E7-054485C46506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" name="Google Shape;67;p52">
            <a:extLst>
              <a:ext uri="{FF2B5EF4-FFF2-40B4-BE49-F238E27FC236}">
                <a16:creationId xmlns:a16="http://schemas.microsoft.com/office/drawing/2014/main" id="{066CD31D-B9AC-03F3-AC60-DDBC318DCC7E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125" y="177800"/>
            <a:ext cx="12065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6EABCE2E-173C-6D0A-85E4-A63D5FDBF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AA7EA1CC-DE8E-D92D-F689-18BF4D6CD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s-ES"/>
              <a:t>Ingeniería de Software I</a:t>
            </a:r>
            <a:endParaRPr lang="es-E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4A3694D2-4565-DDF9-9177-581E87375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474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277C706-D85E-E9D7-6925-A5D98FDC6E3A}"/>
              </a:ext>
            </a:extLst>
          </p:cNvPr>
          <p:cNvSpPr/>
          <p:nvPr/>
        </p:nvSpPr>
        <p:spPr>
          <a:xfrm>
            <a:off x="0" y="0"/>
            <a:ext cx="40513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3FC4264-C68D-2D40-A124-9AB5ECBB7AE6}"/>
              </a:ext>
            </a:extLst>
          </p:cNvPr>
          <p:cNvSpPr/>
          <p:nvPr/>
        </p:nvSpPr>
        <p:spPr>
          <a:xfrm>
            <a:off x="4040188" y="0"/>
            <a:ext cx="63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9F97BBDB-0224-2E30-4CF7-76FD538323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138" y="6459538"/>
            <a:ext cx="2619375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C5A6EC72-ED07-82CD-0650-2CD6E01E8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0600" y="6459538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Ingeniería de Software I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05A33382-A832-5719-7676-9FAF095B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16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9181962-5D19-F201-6584-F8B8B22B9FCC}"/>
              </a:ext>
            </a:extLst>
          </p:cNvPr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31C2FA1-EF6D-4BCF-0853-1D010C6F0861}"/>
              </a:ext>
            </a:extLst>
          </p:cNvPr>
          <p:cNvSpPr/>
          <p:nvPr/>
        </p:nvSpPr>
        <p:spPr>
          <a:xfrm>
            <a:off x="0" y="4914900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tIns="0" bIns="0"/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E63FFE79-08A0-7CB1-B41B-F856FAAFA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44FD722-58EC-E6C8-9683-0133960DE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Ingeniería de Software I</a:t>
            </a:r>
            <a:endParaRPr lang="es-E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D7B5FC70-7109-A6EC-AC9F-A4B86297D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288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561BF-E98C-7E65-B2E4-CAA307FF8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32BD2-C6B0-8B4F-965A-9E1C4E87C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Ingeniería de Software 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A415F-0764-31B4-FB05-2E8D433F6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081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E3D48B94-0DD0-AF67-F3C8-2920F7888104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847326F-7EF7-7E4C-CC0D-3748AFDCAA9A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8E99A5B7-8A30-1C62-13E2-C6C742E76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B69E191-830C-0B5F-8B5F-68EDBB723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Ingeniería de Software I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736ABD7-2E80-4589-B527-A8C8A5A2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4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>
  <p:cSld name="1_En blanc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78F0BDA-03E2-7ED6-91CB-D31198D9D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A240BAD-EF0B-C9A7-CB08-D76647FDB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Ingeniería de Software I</a:t>
            </a:r>
            <a:endParaRPr lang="es-E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6A3C551-DC8C-73DA-938E-92D418D48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23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>
  <p:cSld name="1_Imagen con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07F333A-628B-3DE5-1BAD-25DC22CBF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10AFFA5-2A02-859D-A115-8E5E91501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Ingeniería de Software I</a:t>
            </a:r>
            <a:endParaRPr lang="es-E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E784784-5792-CC24-5E50-C1EA2430F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497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 con fuente ">
  <p:cSld name="Normal con fuente 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4A946C9D-A16D-A6A0-07C9-F40CF6B4A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CDCA4836-F875-3D0A-4CA1-80D7DC5F8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Ingeniería de Software I</a:t>
            </a:r>
            <a:endParaRPr lang="es-ES" dirty="0"/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B0B74F74-9218-3BAA-8197-FC48EF89B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51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02B15C-D441-E1CA-6B23-59D45C376EFD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2D984F-0049-196E-13BC-69794028179A}"/>
              </a:ext>
            </a:extLst>
          </p:cNvPr>
          <p:cNvSpPr/>
          <p:nvPr/>
        </p:nvSpPr>
        <p:spPr>
          <a:xfrm>
            <a:off x="0" y="6334125"/>
            <a:ext cx="12192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85949C-CF90-A258-83D8-6DC441F31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1029" name="Text Placeholder 2">
            <a:extLst>
              <a:ext uri="{FF2B5EF4-FFF2-40B4-BE49-F238E27FC236}">
                <a16:creationId xmlns:a16="http://schemas.microsoft.com/office/drawing/2014/main" id="{6BE69BBD-80E1-A8A0-53C9-8B1723E1BE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modificar los estilos de texto del patrón</a:t>
            </a:r>
          </a:p>
          <a:p>
            <a:pPr lvl="1"/>
            <a:r>
              <a:rPr lang="es-ES" altLang="es-ES"/>
              <a:t>Segundo nivel</a:t>
            </a:r>
          </a:p>
          <a:p>
            <a:pPr lvl="2"/>
            <a:r>
              <a:rPr lang="es-ES" altLang="es-ES"/>
              <a:t>Tercer nivel</a:t>
            </a:r>
          </a:p>
          <a:p>
            <a:pPr lvl="3"/>
            <a:r>
              <a:rPr lang="es-ES" altLang="es-ES"/>
              <a:t>Cuarto nivel</a:t>
            </a:r>
          </a:p>
          <a:p>
            <a:pPr lvl="4"/>
            <a:r>
              <a:rPr lang="es-ES" altLang="es-ES"/>
              <a:t>Quinto nivel</a:t>
            </a:r>
            <a:endParaRPr lang="en-US" alt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2161F-F54A-FEC9-41DD-127DB4FDFA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289AD-0285-AA34-C20A-4CE5244D39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 cap="all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s-ES"/>
              <a:t>Ingeniería de Software I</a:t>
            </a:r>
            <a:endParaRPr lang="es-E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F7E4A-61B1-43A1-8066-41C1EFBF14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50" smtClean="0">
                <a:solidFill>
                  <a:srgbClr val="FFFFFF"/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32721C-02E9-5F6F-8CB6-4EDFD6CA64FF}"/>
              </a:ext>
            </a:extLst>
          </p:cNvPr>
          <p:cNvCxnSpPr/>
          <p:nvPr/>
        </p:nvCxnSpPr>
        <p:spPr>
          <a:xfrm>
            <a:off x="1193800" y="1738313"/>
            <a:ext cx="996632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Google Shape;67;p52">
            <a:extLst>
              <a:ext uri="{FF2B5EF4-FFF2-40B4-BE49-F238E27FC236}">
                <a16:creationId xmlns:a16="http://schemas.microsoft.com/office/drawing/2014/main" id="{6CF6586F-802C-3125-DBEC-BD4BAAB316A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125" y="177800"/>
            <a:ext cx="12065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0221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 kern="1200" spc="-50">
          <a:solidFill>
            <a:schemeClr val="tx1"/>
          </a:solidFill>
          <a:latin typeface="+mn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90488" indent="-90488" algn="l" rtl="0" eaLnBrk="1" fontAlgn="base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382588" indent="-182563" algn="l" rtl="0" eaLnBrk="1" fontAlgn="base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kern="1200">
          <a:solidFill>
            <a:srgbClr val="404040"/>
          </a:solidFill>
          <a:latin typeface="+mn-lt"/>
          <a:ea typeface="+mn-ea"/>
          <a:cs typeface="+mn-cs"/>
        </a:defRPr>
      </a:lvl2pPr>
      <a:lvl3pPr marL="566738" indent="-182563" algn="l" rtl="0" eaLnBrk="1" fontAlgn="base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749300" indent="-182563" algn="l" rtl="0" eaLnBrk="1" fontAlgn="base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31863" indent="-182563" algn="l" rtl="0" eaLnBrk="1" fontAlgn="base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129" name="Google Shape;129;p3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dirty="0"/>
              <a:t>2026 – CLASE 4</a:t>
            </a:r>
            <a:endParaRPr dirty="0"/>
          </a:p>
        </p:txBody>
      </p:sp>
      <p:sp>
        <p:nvSpPr>
          <p:cNvPr id="130" name="Google Shape;130;p3"/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8085"/>
              </a:buClr>
              <a:buSzPts val="1000"/>
              <a:buFont typeface="Calibri"/>
              <a:buNone/>
            </a:pPr>
            <a:fld id="{00000000-1234-1234-1234-123412341234}" type="slidenum">
              <a:rPr lang="es-ES">
                <a:solidFill>
                  <a:srgbClr val="758085"/>
                </a:solidFill>
              </a:rPr>
              <a:t>1</a:t>
            </a:fld>
            <a:endParaRPr>
              <a:solidFill>
                <a:srgbClr val="758085"/>
              </a:solidFill>
            </a:endParaRPr>
          </a:p>
        </p:txBody>
      </p:sp>
      <p:pic>
        <p:nvPicPr>
          <p:cNvPr id="131" name="Google Shape;13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413" y="4968816"/>
            <a:ext cx="1147495" cy="11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"/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33" name="Google Shape;133;p3"/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"/>
          <p:cNvSpPr/>
          <p:nvPr/>
        </p:nvSpPr>
        <p:spPr>
          <a:xfrm>
            <a:off x="9170372" y="2852665"/>
            <a:ext cx="2851962" cy="104781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89275" tIns="44625" rIns="89275" bIns="44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7"/>
              <a:buFont typeface="Calibri"/>
              <a:buNone/>
            </a:pPr>
            <a:endParaRPr sz="13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/>
          <p:nvPr/>
        </p:nvSpPr>
        <p:spPr>
          <a:xfrm>
            <a:off x="5955542" y="6509477"/>
            <a:ext cx="2107590" cy="30485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89275" tIns="44625" rIns="89275" bIns="44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7"/>
              <a:buFont typeface="Calibri"/>
              <a:buNone/>
            </a:pPr>
            <a:endParaRPr sz="13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/>
          <p:nvPr/>
        </p:nvSpPr>
        <p:spPr>
          <a:xfrm>
            <a:off x="1222279" y="1859038"/>
            <a:ext cx="9902083" cy="447818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15325" tIns="57650" rIns="115325" bIns="57650" anchor="t" anchorCtr="0">
            <a:noAutofit/>
          </a:bodyPr>
          <a:lstStyle/>
          <a:p>
            <a:pPr marL="558360" marR="0" lvl="0" indent="-558360" algn="l" rtl="0">
              <a:lnSpc>
                <a:spcPct val="85000"/>
              </a:lnSpc>
              <a:spcBef>
                <a:spcPts val="1642"/>
              </a:spcBef>
              <a:spcAft>
                <a:spcPts val="0"/>
              </a:spcAft>
              <a:buClr>
                <a:srgbClr val="C00000"/>
              </a:buClr>
              <a:buSzPts val="3516"/>
              <a:buFont typeface="Noto Sans Symbols"/>
              <a:buChar char="❖"/>
            </a:pPr>
            <a:r>
              <a:rPr lang="es-ES" sz="3516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Especificación de requerimientos</a:t>
            </a:r>
            <a:endParaRPr sz="351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451454" marR="0" lvl="3" indent="-558360" algn="l" rtl="0">
              <a:lnSpc>
                <a:spcPct val="85000"/>
              </a:lnSpc>
              <a:spcBef>
                <a:spcPts val="756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lang="es-ES" sz="3516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Casos de Uso (CU)</a:t>
            </a:r>
            <a:endParaRPr sz="3516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5000"/>
              </a:lnSpc>
              <a:spcBef>
                <a:spcPts val="1642"/>
              </a:spcBef>
              <a:spcAft>
                <a:spcPts val="0"/>
              </a:spcAft>
              <a:buClr>
                <a:schemeClr val="dk1"/>
              </a:buClr>
              <a:buSzPts val="3516"/>
              <a:buFont typeface="Calibri"/>
              <a:buNone/>
            </a:pPr>
            <a:endParaRPr sz="351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 txBox="1">
            <a:spLocks noGrp="1"/>
          </p:cNvSpPr>
          <p:nvPr>
            <p:ph type="title"/>
          </p:nvPr>
        </p:nvSpPr>
        <p:spPr>
          <a:xfrm>
            <a:off x="1222279" y="287339"/>
            <a:ext cx="9806257" cy="144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75" tIns="44625" rIns="89275" bIns="44625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Contenidos</a:t>
            </a:r>
            <a:endParaRPr/>
          </a:p>
        </p:txBody>
      </p:sp>
      <p:sp>
        <p:nvSpPr>
          <p:cNvPr id="144" name="Google Shape;144;p1"/>
          <p:cNvSpPr txBox="1">
            <a:spLocks noGrp="1"/>
          </p:cNvSpPr>
          <p:nvPr>
            <p:ph type="dt" idx="10"/>
          </p:nvPr>
        </p:nvSpPr>
        <p:spPr>
          <a:xfrm>
            <a:off x="1222279" y="6459540"/>
            <a:ext cx="24113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75" tIns="44625" rIns="89275" bIns="44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45" name="Google Shape;145;p1"/>
          <p:cNvSpPr txBox="1">
            <a:spLocks noGrp="1"/>
          </p:cNvSpPr>
          <p:nvPr>
            <p:ph type="ftr" idx="11"/>
          </p:nvPr>
        </p:nvSpPr>
        <p:spPr>
          <a:xfrm>
            <a:off x="3746586" y="6459540"/>
            <a:ext cx="4701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75" tIns="44625" rIns="89275" bIns="44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146" name="Google Shape;146;p1"/>
          <p:cNvSpPr txBox="1">
            <a:spLocks noGrp="1"/>
          </p:cNvSpPr>
          <p:nvPr>
            <p:ph type="sldNum" idx="12"/>
          </p:nvPr>
        </p:nvSpPr>
        <p:spPr>
          <a:xfrm>
            <a:off x="9805850" y="6459540"/>
            <a:ext cx="1278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75" tIns="44625" rIns="89275" bIns="446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2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2"/>
          <p:cNvSpPr txBox="1">
            <a:spLocks noGrp="1"/>
          </p:cNvSpPr>
          <p:nvPr>
            <p:ph type="title"/>
          </p:nvPr>
        </p:nvSpPr>
        <p:spPr>
          <a:xfrm>
            <a:off x="457199" y="594359"/>
            <a:ext cx="3432876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alibri"/>
              <a:buNone/>
            </a:pPr>
            <a:r>
              <a:rPr lang="es-ES"/>
              <a:t>Técnicas de Especificación de Requerimientos</a:t>
            </a:r>
            <a:endParaRPr/>
          </a:p>
        </p:txBody>
      </p:sp>
      <p:sp>
        <p:nvSpPr>
          <p:cNvPr id="369" name="Google Shape;369;p62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ts val="3600"/>
              <a:buNone/>
            </a:pPr>
            <a:r>
              <a:rPr lang="es-ES" sz="2800" dirty="0">
                <a:latin typeface="Calibri"/>
                <a:ea typeface="Calibri"/>
                <a:cs typeface="Calibri"/>
                <a:sym typeface="Calibri"/>
              </a:rPr>
              <a:t>Casos de Uso</a:t>
            </a:r>
            <a:endParaRPr sz="1200" dirty="0"/>
          </a:p>
        </p:txBody>
      </p:sp>
      <p:sp>
        <p:nvSpPr>
          <p:cNvPr id="370" name="Google Shape;370;p62"/>
          <p:cNvSpPr txBox="1">
            <a:spLocks noGrp="1"/>
          </p:cNvSpPr>
          <p:nvPr>
            <p:ph type="dt" idx="10"/>
          </p:nvPr>
        </p:nvSpPr>
        <p:spPr>
          <a:xfrm>
            <a:off x="465138" y="6459538"/>
            <a:ext cx="26193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71" name="Google Shape;371;p62"/>
          <p:cNvSpPr txBox="1">
            <a:spLocks noGrp="1"/>
          </p:cNvSpPr>
          <p:nvPr>
            <p:ph type="ftr" idx="11"/>
          </p:nvPr>
        </p:nvSpPr>
        <p:spPr>
          <a:xfrm>
            <a:off x="4800600" y="6459538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72" name="Google Shape;372;p62"/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050"/>
              <a:buFont typeface="Calibri"/>
              <a:buNone/>
            </a:pPr>
            <a:fld id="{00000000-1234-1234-1234-123412341234}" type="slidenum">
              <a:rPr lang="es-ES">
                <a:solidFill>
                  <a:srgbClr val="C00000"/>
                </a:solidFill>
              </a:rPr>
              <a:t>3</a:t>
            </a:fld>
            <a:endParaRPr>
              <a:solidFill>
                <a:srgbClr val="C00000"/>
              </a:solidFill>
            </a:endParaRPr>
          </a:p>
        </p:txBody>
      </p:sp>
      <p:sp>
        <p:nvSpPr>
          <p:cNvPr id="373" name="Google Shape;373;p62"/>
          <p:cNvSpPr txBox="1">
            <a:spLocks noGrp="1"/>
          </p:cNvSpPr>
          <p:nvPr>
            <p:ph type="body" idx="1"/>
          </p:nvPr>
        </p:nvSpPr>
        <p:spPr>
          <a:xfrm>
            <a:off x="4800600" y="731838"/>
            <a:ext cx="6637149" cy="5573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47466" lvl="0" indent="-447466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r>
              <a:rPr lang="es-ES" sz="2600" dirty="0">
                <a:solidFill>
                  <a:schemeClr val="dk1"/>
                </a:solidFill>
              </a:rPr>
              <a:t>La técnica de Casos de Uso (CU) tiene sus orígenes en el modelado orientado a objetos (Jacobson 1992), pero su eficiencia en modelado de requerimientos hizo que se independice de la técnica de diseño utilizada, siendo aplicable a cualquier metodología de desarrollo.</a:t>
            </a:r>
          </a:p>
          <a:p>
            <a:pPr marL="447466" lvl="0" indent="-447466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endParaRPr lang="es-ES" sz="2600" dirty="0">
              <a:solidFill>
                <a:schemeClr val="dk1"/>
              </a:solidFill>
            </a:endParaRPr>
          </a:p>
          <a:p>
            <a:pPr marL="447466" indent="-447466" algn="just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r>
              <a:rPr lang="es-ES" sz="2600" dirty="0">
                <a:solidFill>
                  <a:schemeClr val="dk1"/>
                </a:solidFill>
              </a:rPr>
              <a:t>Es el proceso de modelado de las “funcionalidades” del sistema en término de los eventos que interactúan entre los usuarios y el sistema.</a:t>
            </a:r>
          </a:p>
          <a:p>
            <a:pPr marL="447466" lvl="0" indent="-447466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endParaRPr lang="es-ES" sz="2600" dirty="0">
              <a:solidFill>
                <a:schemeClr val="dk1"/>
              </a:solidFill>
            </a:endParaRPr>
          </a:p>
          <a:p>
            <a:pPr marL="447466" lvl="0" indent="-447466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r>
              <a:rPr lang="es-ES" sz="2600" dirty="0">
                <a:solidFill>
                  <a:schemeClr val="dk1"/>
                </a:solidFill>
              </a:rPr>
              <a:t>El uso de CU facilita y alienta la participación de los usuarios.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/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de Uso - Beneficios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/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/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/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4</a:t>
            </a:fld>
            <a:endParaRPr/>
          </a:p>
        </p:txBody>
      </p:sp>
      <p:sp>
        <p:nvSpPr>
          <p:cNvPr id="383" name="Google Shape;383;p63"/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 para capturar requerimientos funcionales.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Descompone el alcance del sistema en piezas más manejables.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Medio de comunicación con los usuarios.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 lenguaje común y fácil de entender por las partes.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estimar el alcance del proyecto y el esfuerzo a realizar.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una línea base para la definición de los planes de prueba.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una línea base para toda la documentación del sistema.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Proporciona una herramienta para el seguimiento de los requisitos.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ADE136E7-61A4-8A91-6113-D882F7558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7EA75756-9B8B-5FB5-0139-ED32CEF7A2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de Uso - Componentes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8C881248-F744-CFB7-009E-D9ADED3CDAE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E945E639-D4BC-7C1C-8ACE-74564FD7CC1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4127D122-22D2-06DA-F2F3-6C93FC9E452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5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BA37522C-31E7-75E6-6876-F33308A016E1}"/>
              </a:ext>
            </a:extLst>
          </p:cNvPr>
          <p:cNvSpPr/>
          <p:nvPr/>
        </p:nvSpPr>
        <p:spPr>
          <a:xfrm>
            <a:off x="1151585" y="1886309"/>
            <a:ext cx="7806436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Casos de Uso</a:t>
            </a:r>
          </a:p>
          <a:p>
            <a:pPr marL="712788" indent="-263525" algn="just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/>
              <a:t>Ilustra las interacciones entre el sistema y los actores.</a:t>
            </a:r>
          </a:p>
          <a:p>
            <a:pPr marL="447466" indent="-447466" algn="just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/>
          </a:p>
          <a:p>
            <a:pPr algn="just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</a:pPr>
            <a:endParaRPr lang="es-ES" sz="2800" dirty="0"/>
          </a:p>
          <a:p>
            <a:pPr marL="447466" indent="-447466" algn="just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/>
              <a:t>Escenarios (narración del CU)</a:t>
            </a:r>
          </a:p>
          <a:p>
            <a:pPr marL="712788" indent="-263525" algn="just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2" panose="020B0502040504020204" pitchFamily="34" charset="0"/>
              <a:buChar char="»"/>
              <a:tabLst>
                <a:tab pos="712788" algn="l"/>
              </a:tabLst>
            </a:pPr>
            <a:r>
              <a:rPr lang="es-ES" sz="2400" dirty="0"/>
              <a:t>Descripción de la interacción entre el actor y el sistema para realizar la funcionalidad.</a:t>
            </a:r>
          </a:p>
          <a:p>
            <a:pPr marL="447466" indent="-447466" algn="just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/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224;p5">
            <a:extLst>
              <a:ext uri="{FF2B5EF4-FFF2-40B4-BE49-F238E27FC236}">
                <a16:creationId xmlns:a16="http://schemas.microsoft.com/office/drawing/2014/main" id="{2D73F3E7-6318-FDF7-2994-F33A0E27A1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3983" y="1886309"/>
            <a:ext cx="2200329" cy="2065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25;p5">
            <a:extLst>
              <a:ext uri="{FF2B5EF4-FFF2-40B4-BE49-F238E27FC236}">
                <a16:creationId xmlns:a16="http://schemas.microsoft.com/office/drawing/2014/main" id="{781C748D-F015-25DC-D6E9-FA946813DF4F}"/>
              </a:ext>
            </a:extLst>
          </p:cNvPr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9135444" y="4116514"/>
            <a:ext cx="1551445" cy="206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979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4C2AB0B8-6CFC-A37C-DBD7-A6A442E44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E32040F5-705A-3FF7-C30D-A6D1E8B7F4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de Uso - Diagrama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1F1B0EC6-7925-CBA3-2195-6AED0A18AD4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831FC41E-87E8-5F96-39B8-1C3EACA52DF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E087F227-47C4-8420-5DB6-FF12FC0AC5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6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1CB9CDAC-22FF-7C10-BC06-F558474BA0E8}"/>
              </a:ext>
            </a:extLst>
          </p:cNvPr>
          <p:cNvSpPr/>
          <p:nvPr/>
        </p:nvSpPr>
        <p:spPr>
          <a:xfrm>
            <a:off x="1151585" y="1886309"/>
            <a:ext cx="10060928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</a:t>
            </a:r>
            <a:endParaRPr lang="es-ES" sz="2400" dirty="0"/>
          </a:p>
          <a:p>
            <a:pPr marL="447466" indent="-447466" algn="just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/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238;p6">
            <a:extLst>
              <a:ext uri="{FF2B5EF4-FFF2-40B4-BE49-F238E27FC236}">
                <a16:creationId xmlns:a16="http://schemas.microsoft.com/office/drawing/2014/main" id="{E23D57F2-BEBF-713F-55D8-96C6E1A6D82A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4397491" y="2010293"/>
            <a:ext cx="4070180" cy="42620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3377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B5DCAD87-D49E-168C-C42D-B14C53848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C122E2FF-AF21-E856-11C5-0F8F96E3D7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de Uso - Diagrama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375AF04A-96BB-E155-E957-78AA5888128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B0962B24-6803-2B29-359C-0451B16FC33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F07F4261-EC14-7887-96E6-039253A31D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7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0CD661CF-B597-8559-5BBE-B37AEA830266}"/>
              </a:ext>
            </a:extLst>
          </p:cNvPr>
          <p:cNvSpPr/>
          <p:nvPr/>
        </p:nvSpPr>
        <p:spPr>
          <a:xfrm>
            <a:off x="1151585" y="1886309"/>
            <a:ext cx="10060928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 de Uso</a:t>
            </a:r>
          </a:p>
          <a:p>
            <a:pPr marL="806450" marR="0" lvl="0" indent="-357188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/>
              <a:t>Representa un objetivo (funcionalidad) individual del sistema y describe la secuencia de actividades y de interacciones para alcanzarlo.</a:t>
            </a:r>
          </a:p>
          <a:p>
            <a:pPr marL="806450" marR="0" lvl="0" indent="-357188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/>
              <a:t>Para que el CU sea considerado un requerimiento debe estar acompañado de su respectivo escenario.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400" dirty="0"/>
          </a:p>
          <a:p>
            <a:pPr marL="447466" indent="-447466" algn="just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/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51;p7">
            <a:extLst>
              <a:ext uri="{FF2B5EF4-FFF2-40B4-BE49-F238E27FC236}">
                <a16:creationId xmlns:a16="http://schemas.microsoft.com/office/drawing/2014/main" id="{F8712C61-B2E5-623C-126F-9C595D226A34}"/>
              </a:ext>
            </a:extLst>
          </p:cNvPr>
          <p:cNvSpPr/>
          <p:nvPr/>
        </p:nvSpPr>
        <p:spPr>
          <a:xfrm>
            <a:off x="4778788" y="4355023"/>
            <a:ext cx="2806522" cy="1534332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 dirty="0" err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Símbolo</a:t>
            </a:r>
            <a:r>
              <a:rPr lang="en-US" sz="1800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Caso de Uso</a:t>
            </a:r>
            <a:endParaRPr sz="1400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0184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1066E9A9-FC06-E21B-3D0D-5D568AC37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AAD4A816-8590-C9AC-BDC6-D5DAEC37F5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de Uso - Diagrama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B6D621A0-0CFE-D593-77BF-FEE50AC48D2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A4512A12-AE06-FE13-B712-9A00D955D9F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62C873E5-208E-0087-ADBF-F51B4D5697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8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3E6FE978-7C96-2594-3628-6D181DE92C13}"/>
              </a:ext>
            </a:extLst>
          </p:cNvPr>
          <p:cNvSpPr/>
          <p:nvPr/>
        </p:nvSpPr>
        <p:spPr>
          <a:xfrm>
            <a:off x="1151585" y="1886309"/>
            <a:ext cx="10060928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Actores</a:t>
            </a:r>
          </a:p>
          <a:p>
            <a:pPr marL="806450" marR="0" lvl="0" indent="-357188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/>
              <a:t>Un actor inicia una actividad (CU) en el sistema. </a:t>
            </a:r>
          </a:p>
          <a:p>
            <a:pPr marL="806450" marR="0" lvl="0" indent="-357188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/>
              <a:t>Representa un papel desempeñado por un usuario que interactúa (rol).</a:t>
            </a:r>
          </a:p>
          <a:p>
            <a:pPr marL="806450" marR="0" lvl="0" indent="-357188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/>
              <a:t>Puede ser una persona, sistema externo o dispositivo externo que dispare un evento (sensor, reloj).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400" dirty="0"/>
          </a:p>
          <a:p>
            <a:pPr marL="447466" indent="-447466" algn="just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/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264;p8">
            <a:extLst>
              <a:ext uri="{FF2B5EF4-FFF2-40B4-BE49-F238E27FC236}">
                <a16:creationId xmlns:a16="http://schemas.microsoft.com/office/drawing/2014/main" id="{4D0467EB-434B-B5AA-6267-85D42B79E912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9481" t="9693" r="4469" b="9827"/>
          <a:stretch>
            <a:fillRect/>
          </a:stretch>
        </p:blipFill>
        <p:spPr>
          <a:xfrm>
            <a:off x="5236779" y="4116514"/>
            <a:ext cx="1718442" cy="18918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4058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9C1C4AD8-5977-275F-C344-DD1D4FBA4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94A8E26D-1BFF-5B36-5C47-72810A5F3D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de Uso - Diagrama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96E5F8AD-5F9E-43E5-5AA1-1C2AF3A1430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A1C8ADD3-F1E1-3277-39FB-ED83ED03928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140B4BAD-A30C-615F-7310-1F75C73DF2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9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D50A4B69-B9F4-C56C-1E80-41ECBA3AFF0D}"/>
              </a:ext>
            </a:extLst>
          </p:cNvPr>
          <p:cNvSpPr/>
          <p:nvPr/>
        </p:nvSpPr>
        <p:spPr>
          <a:xfrm>
            <a:off x="1151585" y="1886309"/>
            <a:ext cx="10060928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</a:p>
          <a:p>
            <a:pPr marL="806450" marR="0" lvl="0" indent="-357188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/>
              <a:t>Asociaciones</a:t>
            </a:r>
          </a:p>
          <a:p>
            <a:pPr marL="806450" marR="0" lvl="0" indent="-357188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/>
              <a:t>Extensiones (</a:t>
            </a:r>
            <a:r>
              <a:rPr lang="es-ES" sz="2400" dirty="0" err="1"/>
              <a:t>Extends</a:t>
            </a:r>
            <a:r>
              <a:rPr lang="es-ES" sz="2400" dirty="0"/>
              <a:t>)</a:t>
            </a:r>
          </a:p>
          <a:p>
            <a:pPr marL="806450" marR="0" lvl="0" indent="-357188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/>
              <a:t>Uso o Inclusión (Uses)</a:t>
            </a:r>
          </a:p>
          <a:p>
            <a:pPr marL="806450" marR="0" lvl="0" indent="-357188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/>
              <a:t>Herencia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400" dirty="0"/>
          </a:p>
          <a:p>
            <a:pPr marL="447466" indent="-447466" algn="just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/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0253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B26DD679-2647-C58A-E7D5-15C7D5FC4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EC2A28CF-A90B-D55D-C35B-A13C8F995A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de Uso - Diagrama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B9A63F69-A954-1888-E214-D6560C874F9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660336E5-BA95-0BCE-FD3C-D71610717C2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789B9678-2F5C-3D08-6B01-30F4DA7912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10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180FFE1A-2D52-3BCC-2FBF-CD7551F32247}"/>
              </a:ext>
            </a:extLst>
          </p:cNvPr>
          <p:cNvSpPr/>
          <p:nvPr/>
        </p:nvSpPr>
        <p:spPr>
          <a:xfrm>
            <a:off x="1151585" y="1886309"/>
            <a:ext cx="10060928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</a:p>
          <a:p>
            <a:pPr marL="806450" marR="0" lvl="0" indent="-357188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/>
              <a:t>Asociaciones</a:t>
            </a:r>
          </a:p>
          <a:p>
            <a:pPr marL="806450" marR="0" lvl="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</a:pPr>
            <a:r>
              <a:rPr lang="es-ES" sz="2000" dirty="0"/>
              <a:t>Relación entre un actor y un CU en el que interactúan entre sí. </a:t>
            </a:r>
          </a:p>
          <a:p>
            <a:pPr marL="806450" marR="0" lvl="0" indent="-357188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endParaRPr lang="es-ES" sz="2400" dirty="0"/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400" dirty="0"/>
          </a:p>
          <a:p>
            <a:pPr marL="447466" indent="-447466" algn="just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/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289;p10">
            <a:extLst>
              <a:ext uri="{FF2B5EF4-FFF2-40B4-BE49-F238E27FC236}">
                <a16:creationId xmlns:a16="http://schemas.microsoft.com/office/drawing/2014/main" id="{855D4098-DFF2-CB0B-F6F4-A8A55D78BB95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3219157" y="3429000"/>
            <a:ext cx="5476875" cy="26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54A6C66-2AEE-0314-9E98-34044AB55121}"/>
              </a:ext>
            </a:extLst>
          </p:cNvPr>
          <p:cNvSpPr txBox="1"/>
          <p:nvPr/>
        </p:nvSpPr>
        <p:spPr>
          <a:xfrm>
            <a:off x="8509000" y="4639133"/>
            <a:ext cx="31474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600" b="0" i="0" u="none" strike="noStrike" cap="none" dirty="0">
                <a:solidFill>
                  <a:schemeClr val="dk1"/>
                </a:solidFill>
                <a:latin typeface="+mn-lt"/>
                <a:ea typeface="Twentieth Century"/>
                <a:cs typeface="Twentieth Century"/>
                <a:sym typeface="Twentieth Century"/>
              </a:rPr>
              <a:t>(1) El Actor inicia el CU</a:t>
            </a:r>
            <a:endParaRPr lang="es-ES" sz="16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600" b="0" i="0" u="none" strike="noStrike" cap="none" dirty="0">
                <a:solidFill>
                  <a:schemeClr val="dk1"/>
                </a:solidFill>
                <a:latin typeface="+mn-lt"/>
                <a:ea typeface="Twentieth Century"/>
                <a:cs typeface="Twentieth Century"/>
                <a:sym typeface="Twentieth Century"/>
              </a:rPr>
              <a:t>(2) El CU interacciona con el actor </a:t>
            </a:r>
            <a:endParaRPr lang="es-ES" sz="16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6519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69CAE0F9-70AE-62E3-C31E-314064800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BD1FAD4D-1C3A-BDCF-FE93-04D2E2FCC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de Uso - Diagrama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A5D54620-E1F3-61CD-172A-59D7C25A412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8365E9AA-55FB-987D-7DD2-25927545E24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89C0D5B8-DA10-D5EC-84DB-1AA509F76DC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11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5083AC16-1D02-115A-BAD7-E654554440A0}"/>
              </a:ext>
            </a:extLst>
          </p:cNvPr>
          <p:cNvSpPr/>
          <p:nvPr/>
        </p:nvSpPr>
        <p:spPr>
          <a:xfrm>
            <a:off x="1151585" y="1886309"/>
            <a:ext cx="10060928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</a:p>
          <a:p>
            <a:pPr marL="806450" marR="0" lvl="0" indent="-357188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/>
              <a:t>Extensiones (</a:t>
            </a:r>
            <a:r>
              <a:rPr lang="es-ES" sz="2400" i="1" dirty="0" err="1"/>
              <a:t>Extends</a:t>
            </a:r>
            <a:r>
              <a:rPr lang="es-ES" sz="2400" dirty="0"/>
              <a:t>)</a:t>
            </a:r>
          </a:p>
          <a:p>
            <a:pPr marL="806450" marR="0" lvl="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</a:pPr>
            <a:r>
              <a:rPr lang="es-ES" sz="2000" dirty="0"/>
              <a:t>Un CU extiende la funcionalidad de otro CU.</a:t>
            </a:r>
          </a:p>
          <a:p>
            <a:pPr marL="806450" marR="0" lvl="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</a:pPr>
            <a:r>
              <a:rPr lang="es-ES" sz="2000" dirty="0"/>
              <a:t>Un CU puede tener muchos CU extensiones.</a:t>
            </a:r>
          </a:p>
          <a:p>
            <a:pPr marL="806450" marR="0" lvl="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</a:pPr>
            <a:r>
              <a:rPr lang="es-ES" sz="2000" dirty="0"/>
              <a:t>Los CU extensiones sólo son iniciados por un CU.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400" dirty="0"/>
          </a:p>
          <a:p>
            <a:pPr marL="447466" indent="-447466" algn="just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/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302;p11">
            <a:extLst>
              <a:ext uri="{FF2B5EF4-FFF2-40B4-BE49-F238E27FC236}">
                <a16:creationId xmlns:a16="http://schemas.microsoft.com/office/drawing/2014/main" id="{3A95AF5A-B7E8-DB6F-7EAC-B89D2BF0058E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9554" b="6369"/>
          <a:stretch>
            <a:fillRect/>
          </a:stretch>
        </p:blipFill>
        <p:spPr>
          <a:xfrm>
            <a:off x="4139103" y="3952070"/>
            <a:ext cx="4085891" cy="22317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7345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85BF10A4-D495-E717-D3C2-EF90096DB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1B73CB4A-4F4D-7D27-9A54-365836E3FB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de Uso - Diagrama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53D4AFC2-5A32-E416-C80F-069F66FCB01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7E4D239C-AA94-4122-6E8D-A3ACE540C82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6E8DCD9A-69BC-D225-843E-A1364EFD5A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12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EED441C9-5861-AC75-073A-33D1C04A0F88}"/>
              </a:ext>
            </a:extLst>
          </p:cNvPr>
          <p:cNvSpPr/>
          <p:nvPr/>
        </p:nvSpPr>
        <p:spPr>
          <a:xfrm>
            <a:off x="1151585" y="1886309"/>
            <a:ext cx="10060928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</a:p>
          <a:p>
            <a:pPr marL="806450" marR="0" lvl="0" indent="-357188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/>
              <a:t>Uso o inclusión (</a:t>
            </a:r>
            <a:r>
              <a:rPr lang="es-ES" sz="2400" i="1" dirty="0"/>
              <a:t>Uses</a:t>
            </a:r>
            <a:r>
              <a:rPr lang="es-ES" sz="2400" dirty="0"/>
              <a:t>)</a:t>
            </a:r>
          </a:p>
          <a:p>
            <a:pPr marL="806450" marR="0" lvl="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</a:pPr>
            <a:r>
              <a:rPr lang="es-ES" sz="2000" dirty="0"/>
              <a:t>Reduce la redundancia entre dos o más CU al combinar los pasos comunes de los CU.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400" dirty="0"/>
          </a:p>
          <a:p>
            <a:pPr marL="447466" indent="-447466" algn="just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/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315;p12">
            <a:extLst>
              <a:ext uri="{FF2B5EF4-FFF2-40B4-BE49-F238E27FC236}">
                <a16:creationId xmlns:a16="http://schemas.microsoft.com/office/drawing/2014/main" id="{7B244C7A-3759-CB75-F37A-1CF3AA1E0905}"/>
              </a:ext>
            </a:extLst>
          </p:cNvPr>
          <p:cNvPicPr preferRelativeResize="0"/>
          <p:nvPr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1951" r="1899" b="3917"/>
          <a:stretch>
            <a:fillRect/>
          </a:stretch>
        </p:blipFill>
        <p:spPr>
          <a:xfrm>
            <a:off x="4393699" y="3192651"/>
            <a:ext cx="3339955" cy="299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975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2ECFE564-2916-1759-924F-675B72809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EE7A677F-6DFD-C9AF-67E4-BE725A87BA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de Uso - Diagrama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2707A74B-6FB4-47F1-709A-682575EC593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C45785CE-CABD-D705-1D37-E9013A61E24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5A54E5CA-AB11-0D26-FCCA-01B9609138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13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52214890-7A77-CA73-2DDC-484CC1D727BC}"/>
              </a:ext>
            </a:extLst>
          </p:cNvPr>
          <p:cNvSpPr/>
          <p:nvPr/>
        </p:nvSpPr>
        <p:spPr>
          <a:xfrm>
            <a:off x="1151585" y="1886309"/>
            <a:ext cx="10060928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</a:p>
          <a:p>
            <a:pPr marL="806450" marR="0" lvl="0" indent="-357188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/>
              <a:t>Herencia</a:t>
            </a:r>
          </a:p>
          <a:p>
            <a:pPr marL="806450" marR="0" lvl="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</a:pPr>
            <a:r>
              <a:rPr lang="es-ES" sz="2000" dirty="0"/>
              <a:t>Relación entre actores donde un actor hereda las funcionalidades de uno o varios actores.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400" dirty="0"/>
          </a:p>
          <a:p>
            <a:pPr marL="447466" indent="-447466" algn="just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/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328;p14">
            <a:extLst>
              <a:ext uri="{FF2B5EF4-FFF2-40B4-BE49-F238E27FC236}">
                <a16:creationId xmlns:a16="http://schemas.microsoft.com/office/drawing/2014/main" id="{F790C264-58DD-A143-1E8F-9BA6C1ECFB00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b="2789"/>
          <a:stretch>
            <a:fillRect/>
          </a:stretch>
        </p:blipFill>
        <p:spPr>
          <a:xfrm>
            <a:off x="3626226" y="3301138"/>
            <a:ext cx="4939547" cy="29256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1076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AABDD74F-C33D-917C-EF54-9C01625C8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31A0DC01-722D-BF14-FDCF-E06C1935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de Uso - Escenarios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0EBDA045-5C83-75C9-BC83-AC3C8D5B768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5E269400-735A-A5CB-A03B-2F02252F272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CF927513-AA41-E88D-C46E-7180B10CB3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E99A1B84-2DBF-1588-4AEF-2A1956250710}"/>
              </a:ext>
            </a:extLst>
          </p:cNvPr>
          <p:cNvSpPr/>
          <p:nvPr/>
        </p:nvSpPr>
        <p:spPr>
          <a:xfrm>
            <a:off x="1151585" y="1886309"/>
            <a:ext cx="10060928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el escenario se describen:</a:t>
            </a:r>
          </a:p>
          <a:p>
            <a:pPr marL="806450" marR="0" lvl="0" indent="-357188" algn="just" rtl="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/>
              <a:t>Le interacción del escenario</a:t>
            </a:r>
          </a:p>
          <a:p>
            <a:pPr marL="806450" marR="0" lvl="0" indent="-357188" algn="just" rtl="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/>
              <a:t>Eventos alternativos</a:t>
            </a:r>
          </a:p>
          <a:p>
            <a:pPr marL="447466" indent="-447466" algn="just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/>
          </a:p>
          <a:p>
            <a:pPr marL="447466" marR="0" lvl="0" indent="-447466" algn="just" rtl="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7196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21117EA6-08C6-9761-714F-65EBA6769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00E15BD8-997C-EBA5-0D49-2303329DEF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de Uso - Escenarios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7BCFA873-4DB3-613E-DA51-5F96502D124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B9CD6088-659F-B837-13C6-325949B489A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68D465F4-5023-B953-EEF3-8C96AA425B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15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59623049-AE07-0221-C394-721989A633E1}"/>
              </a:ext>
            </a:extLst>
          </p:cNvPr>
          <p:cNvSpPr/>
          <p:nvPr/>
        </p:nvSpPr>
        <p:spPr>
          <a:xfrm>
            <a:off x="1151585" y="1886309"/>
            <a:ext cx="10060928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indent="-447466" algn="just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/>
          </a:p>
          <a:p>
            <a:pPr marL="447466" marR="0" lvl="0" indent="-447466" algn="just" rtl="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Google Shape;349;p16">
            <a:extLst>
              <a:ext uri="{FF2B5EF4-FFF2-40B4-BE49-F238E27FC236}">
                <a16:creationId xmlns:a16="http://schemas.microsoft.com/office/drawing/2014/main" id="{9244EAC2-C439-4F48-5079-859C9E4DFA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2317886"/>
              </p:ext>
            </p:extLst>
          </p:nvPr>
        </p:nvGraphicFramePr>
        <p:xfrm>
          <a:off x="2032012" y="2559614"/>
          <a:ext cx="8127975" cy="3113800"/>
        </p:xfrm>
        <a:graphic>
          <a:graphicData uri="http://schemas.openxmlformats.org/drawingml/2006/table">
            <a:tbl>
              <a:tblPr firstRow="1" bandRow="1">
                <a:noFill/>
                <a:tableStyleId>{80967553-65DA-4D28-9A68-6F0D093F462A}</a:tableStyleId>
              </a:tblPr>
              <a:tblGrid>
                <a:gridCol w="2214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7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7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94" u="none" strike="noStrike" cap="none"/>
                        <a:t>Nombre del caso de uso</a:t>
                      </a:r>
                      <a:endParaRPr sz="1394" u="none" strike="noStrike" cap="none"/>
                    </a:p>
                  </a:txBody>
                  <a:tcPr marL="91450" marR="91450" marT="45725" marB="45725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94" u="none" strike="noStrike" cap="none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94" u="none" strike="noStrike" cap="none"/>
                        <a:t>Descripción</a:t>
                      </a:r>
                      <a:endParaRPr sz="1394" u="none" strike="noStrike" cap="none"/>
                    </a:p>
                  </a:txBody>
                  <a:tcPr marL="91450" marR="91450" marT="45725" marB="45725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94" u="none" strike="noStrike" cap="none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94" u="none" strike="noStrike" cap="none"/>
                        <a:t>Actores</a:t>
                      </a:r>
                      <a:endParaRPr sz="1394" u="none" strike="noStrike" cap="none"/>
                    </a:p>
                  </a:txBody>
                  <a:tcPr marL="91450" marR="91450" marT="45725" marB="45725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94" u="none" strike="noStrike" cap="none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94" u="none" strike="noStrike" cap="none"/>
                        <a:t>Precondiciones</a:t>
                      </a:r>
                      <a:endParaRPr sz="1394" u="none" strike="noStrike" cap="none"/>
                    </a:p>
                  </a:txBody>
                  <a:tcPr marL="91450" marR="91450" marT="45725" marB="45725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94" u="none" strike="noStrike" cap="none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94" u="none" strike="noStrike" cap="none"/>
                        <a:t>Curso Normal</a:t>
                      </a:r>
                      <a:endParaRPr sz="1394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94" u="none" strike="noStrike" cap="none" dirty="0" err="1"/>
                        <a:t>Acción</a:t>
                      </a:r>
                      <a:r>
                        <a:rPr lang="en-US" sz="1394" u="none" strike="noStrike" cap="none" dirty="0"/>
                        <a:t> del Actor</a:t>
                      </a:r>
                      <a:endParaRPr sz="1394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94" u="none" strike="noStrike" cap="none" dirty="0"/>
                        <a:t>Acciones del Sistema</a:t>
                      </a:r>
                      <a:endParaRPr sz="1394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94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94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94" u="none" strike="noStrike" cap="none"/>
                        <a:t>Curso Alterno</a:t>
                      </a:r>
                      <a:endParaRPr sz="1394" u="none" strike="noStrike" cap="none"/>
                    </a:p>
                  </a:txBody>
                  <a:tcPr marL="91450" marR="91450" marT="45725" marB="45725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94" u="none" strike="noStrike" cap="none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94" u="none" strike="noStrike" cap="none"/>
                        <a:t>Postcondición</a:t>
                      </a:r>
                      <a:endParaRPr sz="1394" u="none" strike="noStrike" cap="none"/>
                    </a:p>
                  </a:txBody>
                  <a:tcPr marL="91450" marR="91450" marT="45725" marB="45725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94" u="none" strike="noStrike" cap="none" dirty="0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Google Shape;350;p16">
            <a:extLst>
              <a:ext uri="{FF2B5EF4-FFF2-40B4-BE49-F238E27FC236}">
                <a16:creationId xmlns:a16="http://schemas.microsoft.com/office/drawing/2014/main" id="{4D76044A-CF65-8CCB-4AA9-C3BB6A873AE1}"/>
              </a:ext>
            </a:extLst>
          </p:cNvPr>
          <p:cNvSpPr/>
          <p:nvPr/>
        </p:nvSpPr>
        <p:spPr>
          <a:xfrm>
            <a:off x="4251210" y="2524285"/>
            <a:ext cx="5921067" cy="565936"/>
          </a:xfrm>
          <a:prstGeom prst="flowChartAlternateProcess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Nombre del CU,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debe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comenzar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con un verbo y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representar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la meta del CU</a:t>
            </a:r>
            <a:r>
              <a:rPr lang="en-US" sz="1400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.</a:t>
            </a:r>
            <a:endParaRPr sz="1400" b="0" i="0" u="none" strike="noStrike" cap="none" dirty="0">
              <a:solidFill>
                <a:sysClr val="windowText" lastClr="000000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351;p16">
            <a:extLst>
              <a:ext uri="{FF2B5EF4-FFF2-40B4-BE49-F238E27FC236}">
                <a16:creationId xmlns:a16="http://schemas.microsoft.com/office/drawing/2014/main" id="{4CCAE4B1-64CD-03AC-6856-8E84CFE53E19}"/>
              </a:ext>
            </a:extLst>
          </p:cNvPr>
          <p:cNvSpPr/>
          <p:nvPr/>
        </p:nvSpPr>
        <p:spPr>
          <a:xfrm>
            <a:off x="4238920" y="3318130"/>
            <a:ext cx="5933357" cy="524180"/>
          </a:xfrm>
          <a:prstGeom prst="flowChartAlternateProcess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Actor principal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que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se beneficia del CU.</a:t>
            </a:r>
            <a:endParaRPr sz="1400" b="0" i="0" u="none" strike="noStrike" cap="none" dirty="0">
              <a:solidFill>
                <a:sysClr val="windowText" lastClr="000000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352;p16">
            <a:extLst>
              <a:ext uri="{FF2B5EF4-FFF2-40B4-BE49-F238E27FC236}">
                <a16:creationId xmlns:a16="http://schemas.microsoft.com/office/drawing/2014/main" id="{153604AD-23FA-2959-8D93-AD0E54F2A7EE}"/>
              </a:ext>
            </a:extLst>
          </p:cNvPr>
          <p:cNvSpPr/>
          <p:nvPr/>
        </p:nvSpPr>
        <p:spPr>
          <a:xfrm>
            <a:off x="4251210" y="2938691"/>
            <a:ext cx="5921067" cy="524180"/>
          </a:xfrm>
          <a:prstGeom prst="flowChartAlternateProcess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Una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descripción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corta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y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precisa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del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propósito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del CU.</a:t>
            </a:r>
            <a:endParaRPr sz="1400" b="0" i="0" u="none" strike="noStrike" cap="none" dirty="0">
              <a:solidFill>
                <a:sysClr val="windowText" lastClr="000000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53;p16">
            <a:extLst>
              <a:ext uri="{FF2B5EF4-FFF2-40B4-BE49-F238E27FC236}">
                <a16:creationId xmlns:a16="http://schemas.microsoft.com/office/drawing/2014/main" id="{262A6C64-BB30-B0F9-2D71-018271008D29}"/>
              </a:ext>
            </a:extLst>
          </p:cNvPr>
          <p:cNvSpPr/>
          <p:nvPr/>
        </p:nvSpPr>
        <p:spPr>
          <a:xfrm>
            <a:off x="4238919" y="4438878"/>
            <a:ext cx="5933357" cy="611535"/>
          </a:xfrm>
          <a:prstGeom prst="flowChartAlternateProcess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Secuencia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normal (sin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errores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ni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condiciones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)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realizada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por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los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actores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y el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sistema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. Debe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representar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la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interacción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entre el actor y el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sistema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.</a:t>
            </a:r>
            <a:endParaRPr sz="1400" dirty="0">
              <a:solidFill>
                <a:sysClr val="windowText" lastClr="000000"/>
              </a:solidFill>
            </a:endParaRPr>
          </a:p>
        </p:txBody>
      </p:sp>
      <p:sp>
        <p:nvSpPr>
          <p:cNvPr id="8" name="Google Shape;354;p16">
            <a:extLst>
              <a:ext uri="{FF2B5EF4-FFF2-40B4-BE49-F238E27FC236}">
                <a16:creationId xmlns:a16="http://schemas.microsoft.com/office/drawing/2014/main" id="{4751F413-E264-8E8E-C15B-74FA810CBCD0}"/>
              </a:ext>
            </a:extLst>
          </p:cNvPr>
          <p:cNvSpPr/>
          <p:nvPr/>
        </p:nvSpPr>
        <p:spPr>
          <a:xfrm>
            <a:off x="4238919" y="3722960"/>
            <a:ext cx="5933357" cy="611535"/>
          </a:xfrm>
          <a:prstGeom prst="flowChartAlternateProcess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Una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restricción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del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estado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del 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sistema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antes de la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ejecución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del CU (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por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ejemplo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otro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CU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que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debe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ejecutarse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previamente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).</a:t>
            </a:r>
            <a:endParaRPr sz="1400" b="0" i="0" u="none" strike="noStrike" cap="none" dirty="0">
              <a:solidFill>
                <a:sysClr val="windowText" lastClr="000000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55;p16">
            <a:extLst>
              <a:ext uri="{FF2B5EF4-FFF2-40B4-BE49-F238E27FC236}">
                <a16:creationId xmlns:a16="http://schemas.microsoft.com/office/drawing/2014/main" id="{4CC43D9B-6CBF-6357-9DA2-531D0C535EDB}"/>
              </a:ext>
            </a:extLst>
          </p:cNvPr>
          <p:cNvSpPr/>
          <p:nvPr/>
        </p:nvSpPr>
        <p:spPr>
          <a:xfrm>
            <a:off x="4238919" y="4836462"/>
            <a:ext cx="5933357" cy="611535"/>
          </a:xfrm>
          <a:prstGeom prst="flowChartAlternateProcess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Describen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el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comportamiento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si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ocurre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una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excepción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o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variación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del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curso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típico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.</a:t>
            </a:r>
            <a:endParaRPr sz="1400" b="0" i="0" u="none" strike="noStrike" cap="none" dirty="0">
              <a:solidFill>
                <a:sysClr val="windowText" lastClr="000000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356;p16">
            <a:extLst>
              <a:ext uri="{FF2B5EF4-FFF2-40B4-BE49-F238E27FC236}">
                <a16:creationId xmlns:a16="http://schemas.microsoft.com/office/drawing/2014/main" id="{F4F1E759-C7EF-56D3-B307-9BAC741830CE}"/>
              </a:ext>
            </a:extLst>
          </p:cNvPr>
          <p:cNvSpPr/>
          <p:nvPr/>
        </p:nvSpPr>
        <p:spPr>
          <a:xfrm>
            <a:off x="4251210" y="5279279"/>
            <a:ext cx="5933357" cy="524180"/>
          </a:xfrm>
          <a:prstGeom prst="flowChartAlternateProcess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Restricción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del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estado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del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sistema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después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de la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finalización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exitosa</a:t>
            </a:r>
            <a:r>
              <a:rPr lang="en-US" sz="1400" b="0" i="0" u="none" strike="noStrike" cap="none" dirty="0">
                <a:solidFill>
                  <a:sysClr val="windowText" lastClr="000000"/>
                </a:solidFill>
                <a:ea typeface="Calibri"/>
                <a:cs typeface="Calibri"/>
                <a:sym typeface="Calibri"/>
              </a:rPr>
              <a:t> del CU.</a:t>
            </a:r>
            <a:endParaRPr sz="14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371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11B821C4-2778-B057-C6A5-4CCD04292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1F4EC620-92B7-366B-EAE6-46F31BFCA8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de Uso – Proceso de modelado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BDB26671-34FE-E476-FA98-116E293FFAE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17394F0B-C799-A6C8-F899-9C1CD6D30E1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9A8C0D34-8BB0-AD54-92A8-B3921B729B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16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3E437F5E-40C7-80D9-0093-70EF046A8FF5}"/>
              </a:ext>
            </a:extLst>
          </p:cNvPr>
          <p:cNvSpPr/>
          <p:nvPr/>
        </p:nvSpPr>
        <p:spPr>
          <a:xfrm>
            <a:off x="1151585" y="1886309"/>
            <a:ext cx="10060928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Pasos:</a:t>
            </a:r>
          </a:p>
          <a:p>
            <a:pPr marL="806450" marR="0" lvl="0" indent="-357188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/>
              <a:t>Identificar los actores</a:t>
            </a:r>
          </a:p>
          <a:p>
            <a:pPr marL="806450" marR="0" lvl="0" indent="-357188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/>
              <a:t>Identificar los CU para los requerimientos </a:t>
            </a:r>
          </a:p>
          <a:p>
            <a:pPr marL="806450" marR="0" lvl="0" indent="-357188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/>
              <a:t>Construir el diagrama</a:t>
            </a:r>
          </a:p>
          <a:p>
            <a:pPr marL="806450" marR="0" lvl="0" indent="-357188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/>
              <a:t>Realizar los escenarios</a:t>
            </a:r>
            <a:endParaRPr lang="es-ES" sz="2800" dirty="0"/>
          </a:p>
          <a:p>
            <a:pPr marL="447466" marR="0" lvl="0" indent="-447466" algn="just" rtl="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7960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FB053B79-FBA8-26D9-5F64-96E765756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3AAAC012-7B90-F742-160A-6602B6BABE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de Uso – Proceso de modelado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C4EE35B0-8E66-688B-3E0B-2F525B47D18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90B91E9E-FCE9-C6FD-A92F-AB24C94AB46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73C85AEC-22E7-DABD-7A63-E34BBE58CF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17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247E1F3C-D197-D95E-E7C2-0EBD2BA1BAD2}"/>
              </a:ext>
            </a:extLst>
          </p:cNvPr>
          <p:cNvSpPr/>
          <p:nvPr/>
        </p:nvSpPr>
        <p:spPr>
          <a:xfrm>
            <a:off x="1151585" y="1773490"/>
            <a:ext cx="10060928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 los actores</a:t>
            </a:r>
            <a:r>
              <a:rPr lang="es-ES" sz="2400" dirty="0"/>
              <a:t> </a:t>
            </a:r>
          </a:p>
          <a:p>
            <a:pPr marL="806450" marR="0" lvl="0" indent="-357188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/>
              <a:t>¿Dónde buscar actores potenciales?</a:t>
            </a:r>
          </a:p>
          <a:p>
            <a:pPr marL="1149350" marR="0" lvl="0" indent="-342900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2000" dirty="0"/>
              <a:t>Documentación o manuales existentes.</a:t>
            </a:r>
          </a:p>
          <a:p>
            <a:pPr marL="1149350" marR="0" lvl="0" indent="-342900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2000" dirty="0"/>
              <a:t>Minutas de reunión.</a:t>
            </a:r>
          </a:p>
          <a:p>
            <a:pPr marL="1149350" marR="0" lvl="0" indent="-342900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2000" dirty="0"/>
              <a:t>Documentos de requerimientos.</a:t>
            </a:r>
          </a:p>
          <a:p>
            <a:pPr marL="806450" marR="0" lvl="0" indent="-357188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/>
              <a:t>Responder a:</a:t>
            </a:r>
          </a:p>
          <a:p>
            <a:pPr marL="1149350" indent="-342900" algn="just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2000" dirty="0"/>
              <a:t>¿Quién o qué proporciona las entradas al sistema?</a:t>
            </a:r>
          </a:p>
          <a:p>
            <a:pPr marL="1149350" indent="-342900" algn="just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2000" dirty="0"/>
              <a:t>¿Quién o qué recibe las salidas del sistema?</a:t>
            </a:r>
          </a:p>
          <a:p>
            <a:pPr marL="1149350" indent="-342900" algn="just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2000" dirty="0"/>
              <a:t>¿Se requieren interfaces con otros sistemas?</a:t>
            </a:r>
          </a:p>
          <a:p>
            <a:pPr marL="1149350" indent="-342900" algn="just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2000" dirty="0"/>
              <a:t>¿Quién mantendrá la información en el sistema?</a:t>
            </a:r>
          </a:p>
          <a:p>
            <a:pPr marL="806450" algn="ctr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</a:pPr>
            <a:r>
              <a:rPr lang="es-ES" sz="2400" dirty="0">
                <a:solidFill>
                  <a:srgbClr val="C00000"/>
                </a:solidFill>
              </a:rPr>
              <a:t>Deberán nombrarse con un sustantivo o frase sustantiva</a:t>
            </a:r>
          </a:p>
          <a:p>
            <a:pPr marL="806450" algn="just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</a:pPr>
            <a:endParaRPr lang="es-ES" sz="2000" dirty="0"/>
          </a:p>
          <a:p>
            <a:pPr marL="447466" marR="0" lvl="0" indent="-447466" algn="just" rtl="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66851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69B271B5-B441-B76C-6230-C8891B29F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869EF534-8E97-863D-870B-8AE1EC621C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de Uso – Proceso de modelado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25880455-D9EA-8180-7BC0-1533CA886C3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5A380794-2E3F-EAF2-879A-CC209B14906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8AE3C7A1-C693-D32F-C2C5-2531C8D7F5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18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B8990DF2-A7DC-EB1E-0171-1A69E6E66A3B}"/>
              </a:ext>
            </a:extLst>
          </p:cNvPr>
          <p:cNvSpPr/>
          <p:nvPr/>
        </p:nvSpPr>
        <p:spPr>
          <a:xfrm>
            <a:off x="1151585" y="1773490"/>
            <a:ext cx="10060928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 los actores</a:t>
            </a:r>
            <a:r>
              <a:rPr lang="es-ES" sz="2400" dirty="0"/>
              <a:t> 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/>
              <a:t>Identificar los CU para los requerimientos</a:t>
            </a:r>
          </a:p>
          <a:p>
            <a:pPr marL="806450" marR="0" lvl="0" indent="-357188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/>
              <a:t>Responder a:</a:t>
            </a:r>
          </a:p>
          <a:p>
            <a:pPr marL="1149350" indent="-342900" algn="just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2000" dirty="0"/>
              <a:t>¿Cuáles son las principales tareas del actor?</a:t>
            </a:r>
          </a:p>
          <a:p>
            <a:pPr marL="1149350" indent="-342900" algn="just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2000" dirty="0"/>
              <a:t>¿Qué información necesita el actor del sistema?</a:t>
            </a:r>
          </a:p>
          <a:p>
            <a:pPr marL="1149350" indent="-342900" algn="just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2000" dirty="0"/>
              <a:t>¿Qué información proporciona el actor al sistema?</a:t>
            </a:r>
          </a:p>
          <a:p>
            <a:pPr marL="1149350" indent="-342900" algn="just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2000" dirty="0"/>
              <a:t>¿Necesita el sistema informar al actor de eventos o cambios ocurridos?</a:t>
            </a:r>
          </a:p>
          <a:p>
            <a:pPr marL="1149350" indent="-342900" algn="just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2000" dirty="0"/>
              <a:t>¿Necesita el actor informar al sistema de eventos o cambios ocurridos?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Construir el diagrama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Realizar los escenarios</a:t>
            </a:r>
          </a:p>
          <a:p>
            <a:pPr marL="447466" marR="0" lvl="0" indent="-447466" algn="just" rtl="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08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240439DD-C290-D595-965C-30CD7C79D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C3248734-8E45-CEFA-AFCB-DDC6BBC91D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de Uso – Características importantes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8120A952-C2D4-6CD6-FCFF-7D8F77867C9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4459B484-676F-79AC-667F-2BB437A31C3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415F4349-9C4E-FE37-4957-494F9DB659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19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F7FFC34A-3FFB-6983-9D0D-585330E3064E}"/>
              </a:ext>
            </a:extLst>
          </p:cNvPr>
          <p:cNvSpPr/>
          <p:nvPr/>
        </p:nvSpPr>
        <p:spPr>
          <a:xfrm>
            <a:off x="1151585" y="1773490"/>
            <a:ext cx="10060928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CU debe representar una funcionalidad concreta. 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descripción de los pasos en los escenarios debe contener más de un paso, para representar la interacción entre los componentes.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uso de condicionales en el curso normal es limitado a la invocación de excepciones, ya que este flujo representa la ejecución del caso sin alteraciones.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</a:t>
            </a:r>
            <a:r>
              <a:rPr lang="es-ES" sz="2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pre-condiciones</a:t>
            </a:r>
            <a:r>
              <a:rPr lang="es-E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 deben representarse en los cursos alternativos, ya que al ser una </a:t>
            </a:r>
            <a:r>
              <a:rPr lang="es-ES" sz="2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pre-condición</a:t>
            </a:r>
            <a:r>
              <a:rPr lang="es-E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 va a ocurrir.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“uses” deben ser accedidos por lo menos desde dos CU.</a:t>
            </a:r>
          </a:p>
        </p:txBody>
      </p:sp>
    </p:spTree>
    <p:extLst>
      <p:ext uri="{BB962C8B-B14F-4D97-AF65-F5344CB8AC3E}">
        <p14:creationId xmlns:p14="http://schemas.microsoft.com/office/powerpoint/2010/main" val="13691481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534C2F8E-9C26-CDB8-1D05-986E1538C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6544865A-5728-E801-71A6-5C1D1AAEAE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87C46A13-41C2-A5A5-F48B-94596BF1850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7DEA875B-638D-872B-53A3-1155FAEB83B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DB2A564D-0016-1727-CB79-A88DBF8E31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20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FE19AFD7-F9A6-2E5E-7480-AE30D1BB1179}"/>
              </a:ext>
            </a:extLst>
          </p:cNvPr>
          <p:cNvSpPr/>
          <p:nvPr/>
        </p:nvSpPr>
        <p:spPr>
          <a:xfrm>
            <a:off x="1151585" y="1866478"/>
            <a:ext cx="10060928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sitio web brinda información acerca de los artículos periodísticos más destacados de la semana. La información puede ser accedida por usuarios registrados o anónimos. A los usuarios registrados se les permite leer y/o descargar los artículos. Si el artículo tiene categoría “exclusiva” la descarga del artículo tendrá un costo. El pago es mediante tarjeta de crédito.</a:t>
            </a:r>
          </a:p>
          <a:p>
            <a:pPr marL="449263" marR="0" lvl="0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los usuarios anónimos sólo se les permite leer los artículos.</a:t>
            </a:r>
          </a:p>
          <a:p>
            <a:pPr marL="449263" marR="0" lvl="0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usuario anónimo puede registrarse y pasar a ser un usuario registrado, para lo cual debe completar los datos personales, ingresar el número de tarjeta de crédito a la que se cargará el monto mensual del abono. </a:t>
            </a:r>
          </a:p>
          <a:p>
            <a:pPr marL="449263" marR="0" lvl="0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usuarios registrados pueden modificar sus datos personales.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50396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B2BBEDA2-F82F-3F0F-271B-30B64ED93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BDFD78E4-785E-85C6-E021-B35E263FA6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 - Actores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161DB8BD-14F9-762E-6E2F-DD0B6A8026D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E05758F8-2A19-1C2C-5147-15C44CBA620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D991CAC8-1123-6CA8-07EF-7FEA7585D0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21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C3581C9F-2D13-0B48-9F76-1AC4FB8EDDA2}"/>
              </a:ext>
            </a:extLst>
          </p:cNvPr>
          <p:cNvSpPr/>
          <p:nvPr/>
        </p:nvSpPr>
        <p:spPr>
          <a:xfrm>
            <a:off x="1151585" y="1866478"/>
            <a:ext cx="10060928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sitio web brinda información acerca de los artículos periodísticos más destacados de la semana. La información puede ser accedida por usuarios registrados o anónimos. A los usuarios registrados se les permite leer y/o descargar los artículos. Si el artículo tiene categoría “exclusiva” la descarga del artículo tendrá un costo. El pago es mediante tarjeta de crédito.</a:t>
            </a:r>
          </a:p>
          <a:p>
            <a:pPr marL="449263" marR="0" lvl="0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los usuarios anónimos sólo se les permite leer los artículos.</a:t>
            </a:r>
          </a:p>
          <a:p>
            <a:pPr marL="449263" marR="0" lvl="0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usuario anónimo puede registrarse y pasar a ser un usuario registrado, para lo cual debe completar los datos personales, ingresar el número de tarjeta de crédito a la que se cargará el monto mensual del abono. </a:t>
            </a:r>
          </a:p>
          <a:p>
            <a:pPr marL="449263" marR="0" lvl="0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usuarios registrados pueden modificar sus datos personales.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400;p24">
            <a:extLst>
              <a:ext uri="{FF2B5EF4-FFF2-40B4-BE49-F238E27FC236}">
                <a16:creationId xmlns:a16="http://schemas.microsoft.com/office/drawing/2014/main" id="{EF168B89-A7FB-1791-5561-3C64FECD1A40}"/>
              </a:ext>
            </a:extLst>
          </p:cNvPr>
          <p:cNvSpPr/>
          <p:nvPr/>
        </p:nvSpPr>
        <p:spPr>
          <a:xfrm>
            <a:off x="1562990" y="2698537"/>
            <a:ext cx="1541270" cy="288032"/>
          </a:xfrm>
          <a:prstGeom prst="roundRect">
            <a:avLst>
              <a:gd name="adj" fmla="val 16667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401;p24">
            <a:extLst>
              <a:ext uri="{FF2B5EF4-FFF2-40B4-BE49-F238E27FC236}">
                <a16:creationId xmlns:a16="http://schemas.microsoft.com/office/drawing/2014/main" id="{8A75998C-7603-8940-7C38-926F1D28C03B}"/>
              </a:ext>
            </a:extLst>
          </p:cNvPr>
          <p:cNvSpPr/>
          <p:nvPr/>
        </p:nvSpPr>
        <p:spPr>
          <a:xfrm>
            <a:off x="3380043" y="2698537"/>
            <a:ext cx="1382434" cy="296416"/>
          </a:xfrm>
          <a:prstGeom prst="roundRect">
            <a:avLst>
              <a:gd name="adj" fmla="val 16667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402;p24">
            <a:extLst>
              <a:ext uri="{FF2B5EF4-FFF2-40B4-BE49-F238E27FC236}">
                <a16:creationId xmlns:a16="http://schemas.microsoft.com/office/drawing/2014/main" id="{49A2A94E-F445-3D3A-5F1F-FCDEACE3B84E}"/>
              </a:ext>
            </a:extLst>
          </p:cNvPr>
          <p:cNvSpPr/>
          <p:nvPr/>
        </p:nvSpPr>
        <p:spPr>
          <a:xfrm>
            <a:off x="7730982" y="3429000"/>
            <a:ext cx="2232248" cy="288032"/>
          </a:xfrm>
          <a:prstGeom prst="roundRect">
            <a:avLst>
              <a:gd name="adj" fmla="val 16667"/>
            </a:avLst>
          </a:prstGeom>
          <a:solidFill>
            <a:schemeClr val="accent1">
              <a:alpha val="5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9457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D6D0F8E5-00AD-BF71-6C32-A5337B2E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2EFD6E29-23DC-F755-4F73-F878389F26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 – Casos de Uso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55985483-BE8F-E820-B33E-F37EB681C68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6962DB47-D8DE-F685-1ABA-A941F357EF5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E076F49F-20D6-2BE3-7C37-DB6C9A14FF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22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6C57152E-ACAA-9A02-CCC3-C02D9A689DF8}"/>
              </a:ext>
            </a:extLst>
          </p:cNvPr>
          <p:cNvSpPr/>
          <p:nvPr/>
        </p:nvSpPr>
        <p:spPr>
          <a:xfrm>
            <a:off x="1151585" y="1866478"/>
            <a:ext cx="10060928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sitio web brinda información acerca de los artículos periodísticos más destacados de la semana. La información puede ser accedida por usuarios registrados o anónimos. A los usuarios registrados se les permite leer y/o descargar los artículos. Si el artículo tiene categoría “exclusiva” la descarga del artículo tendrá un costo. El pago es mediante tarjeta de crédito.</a:t>
            </a:r>
          </a:p>
          <a:p>
            <a:pPr marL="449263" marR="0" lvl="0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los usuarios anónimos sólo se les permite leer los artículos.</a:t>
            </a:r>
          </a:p>
          <a:p>
            <a:pPr marL="449263" marR="0" lvl="0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usuario anónimo puede registrarse y pasar a ser un usuario registrado, para lo cual debe completar los datos personales, ingresar el número de tarjeta de crédito a la que se cargará el monto mensual del abono. </a:t>
            </a:r>
          </a:p>
          <a:p>
            <a:pPr marL="449263" marR="0" lvl="0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usuarios registrados pueden modificar sus datos personales.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400;p24">
            <a:extLst>
              <a:ext uri="{FF2B5EF4-FFF2-40B4-BE49-F238E27FC236}">
                <a16:creationId xmlns:a16="http://schemas.microsoft.com/office/drawing/2014/main" id="{BADC687F-D698-0F8F-6179-58C53DB7A019}"/>
              </a:ext>
            </a:extLst>
          </p:cNvPr>
          <p:cNvSpPr/>
          <p:nvPr/>
        </p:nvSpPr>
        <p:spPr>
          <a:xfrm>
            <a:off x="10087057" y="2698537"/>
            <a:ext cx="544780" cy="296416"/>
          </a:xfrm>
          <a:prstGeom prst="roundRect">
            <a:avLst>
              <a:gd name="adj" fmla="val 16667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401;p24">
            <a:extLst>
              <a:ext uri="{FF2B5EF4-FFF2-40B4-BE49-F238E27FC236}">
                <a16:creationId xmlns:a16="http://schemas.microsoft.com/office/drawing/2014/main" id="{F3377FD2-49A3-2E20-2CCF-B13EEFD5E106}"/>
              </a:ext>
            </a:extLst>
          </p:cNvPr>
          <p:cNvSpPr/>
          <p:nvPr/>
        </p:nvSpPr>
        <p:spPr>
          <a:xfrm>
            <a:off x="1642408" y="3056924"/>
            <a:ext cx="2852100" cy="275211"/>
          </a:xfrm>
          <a:prstGeom prst="roundRect">
            <a:avLst>
              <a:gd name="adj" fmla="val 16667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402;p24">
            <a:extLst>
              <a:ext uri="{FF2B5EF4-FFF2-40B4-BE49-F238E27FC236}">
                <a16:creationId xmlns:a16="http://schemas.microsoft.com/office/drawing/2014/main" id="{672E5494-CA0E-8A48-3AD4-87B44228A4AA}"/>
              </a:ext>
            </a:extLst>
          </p:cNvPr>
          <p:cNvSpPr/>
          <p:nvPr/>
        </p:nvSpPr>
        <p:spPr>
          <a:xfrm>
            <a:off x="3068458" y="3425123"/>
            <a:ext cx="2107976" cy="275211"/>
          </a:xfrm>
          <a:prstGeom prst="roundRect">
            <a:avLst>
              <a:gd name="adj" fmla="val 16667"/>
            </a:avLst>
          </a:prstGeom>
          <a:solidFill>
            <a:schemeClr val="accent1">
              <a:alpha val="5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402;p24">
            <a:extLst>
              <a:ext uri="{FF2B5EF4-FFF2-40B4-BE49-F238E27FC236}">
                <a16:creationId xmlns:a16="http://schemas.microsoft.com/office/drawing/2014/main" id="{A89C6DCA-8809-D237-0BDF-CFE619E2BD5A}"/>
              </a:ext>
            </a:extLst>
          </p:cNvPr>
          <p:cNvSpPr/>
          <p:nvPr/>
        </p:nvSpPr>
        <p:spPr>
          <a:xfrm>
            <a:off x="5176434" y="4352439"/>
            <a:ext cx="1410346" cy="275211"/>
          </a:xfrm>
          <a:prstGeom prst="roundRect">
            <a:avLst>
              <a:gd name="adj" fmla="val 16667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02;p24">
            <a:extLst>
              <a:ext uri="{FF2B5EF4-FFF2-40B4-BE49-F238E27FC236}">
                <a16:creationId xmlns:a16="http://schemas.microsoft.com/office/drawing/2014/main" id="{A2EF797C-E42B-7572-973A-9F3CEE7031F7}"/>
              </a:ext>
            </a:extLst>
          </p:cNvPr>
          <p:cNvSpPr/>
          <p:nvPr/>
        </p:nvSpPr>
        <p:spPr>
          <a:xfrm>
            <a:off x="5716084" y="5502290"/>
            <a:ext cx="3815373" cy="275211"/>
          </a:xfrm>
          <a:prstGeom prst="roundRect">
            <a:avLst>
              <a:gd name="adj" fmla="val 16667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1337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EEB6CE28-57D6-5FDB-A64A-60A6A3D8C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0DC3547E-70A8-AB90-5F97-23F0AB7A6C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 - Pasos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F7E697BF-7865-13CD-95B8-616A1D1B0E7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36871CF0-60AB-971F-3426-7B80ECB3364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451A2EB5-D34D-482B-5E5D-DEED042329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23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724A0D71-6DA8-0615-7D10-0301EB4EE524}"/>
              </a:ext>
            </a:extLst>
          </p:cNvPr>
          <p:cNvSpPr/>
          <p:nvPr/>
        </p:nvSpPr>
        <p:spPr>
          <a:xfrm>
            <a:off x="1151585" y="1773490"/>
            <a:ext cx="10060928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 los actores</a:t>
            </a:r>
            <a:r>
              <a:rPr lang="es-ES" sz="2600" dirty="0"/>
              <a:t> </a:t>
            </a:r>
          </a:p>
          <a:p>
            <a:pPr marL="806450" indent="-357188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n-US" sz="2200" dirty="0" err="1"/>
              <a:t>Usuario</a:t>
            </a:r>
            <a:r>
              <a:rPr lang="en-US" sz="2200" dirty="0"/>
              <a:t> </a:t>
            </a:r>
            <a:r>
              <a:rPr lang="en-US" sz="2200" dirty="0" err="1"/>
              <a:t>Anónimo</a:t>
            </a:r>
            <a:endParaRPr lang="en-US" sz="2200" dirty="0"/>
          </a:p>
          <a:p>
            <a:pPr marL="806450" indent="-357188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n-US" sz="2200" dirty="0" err="1"/>
              <a:t>Usuario</a:t>
            </a:r>
            <a:r>
              <a:rPr lang="en-US" sz="2200" dirty="0"/>
              <a:t> </a:t>
            </a:r>
            <a:r>
              <a:rPr lang="en-US" sz="2200" dirty="0" err="1"/>
              <a:t>Registrado</a:t>
            </a:r>
            <a:endParaRPr lang="en-US" sz="2200" dirty="0"/>
          </a:p>
          <a:p>
            <a:pPr marL="806450" indent="-357188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n-US" sz="2200" dirty="0" err="1"/>
              <a:t>Servidor</a:t>
            </a:r>
            <a:r>
              <a:rPr lang="en-US" sz="2200" dirty="0"/>
              <a:t> </a:t>
            </a:r>
            <a:r>
              <a:rPr lang="en-US" sz="2200" dirty="0" err="1"/>
              <a:t>Externo</a:t>
            </a:r>
            <a:r>
              <a:rPr lang="en-US" sz="2200" dirty="0"/>
              <a:t> (Banco)</a:t>
            </a:r>
            <a:endParaRPr lang="es-ES" sz="2200" dirty="0"/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600" dirty="0"/>
              <a:t>Identificar los CU para los requerimientos</a:t>
            </a:r>
          </a:p>
          <a:p>
            <a:pPr marL="806450" marR="0" lvl="0" indent="-357188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200" dirty="0"/>
              <a:t>Leer Artículo</a:t>
            </a:r>
          </a:p>
          <a:p>
            <a:pPr marL="806450" marR="0" lvl="0" indent="-357188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200" dirty="0"/>
              <a:t>Descargar Artículo</a:t>
            </a:r>
          </a:p>
          <a:p>
            <a:pPr marL="806450" marR="0" lvl="0" indent="-357188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200" dirty="0"/>
              <a:t>Registrar usuario</a:t>
            </a:r>
          </a:p>
          <a:p>
            <a:pPr marL="806450" marR="0" lvl="0" indent="-357188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200" dirty="0"/>
              <a:t>Modificar Datos Personales</a:t>
            </a:r>
          </a:p>
          <a:p>
            <a:pPr marL="806450" marR="0" lvl="0" indent="-357188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200" dirty="0"/>
              <a:t>Iniciar Sesión</a:t>
            </a:r>
          </a:p>
          <a:p>
            <a:pPr marL="806450" marR="0" lvl="0" indent="-357188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200" dirty="0"/>
              <a:t>Cerrar Sesión</a:t>
            </a:r>
          </a:p>
          <a:p>
            <a:pPr marL="806450" marR="0" lvl="0" indent="-357188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200" dirty="0"/>
              <a:t>Verificar Tarjeta</a:t>
            </a:r>
            <a:endParaRPr lang="es-ES" sz="2200" dirty="0">
              <a:sym typeface="Calibri"/>
            </a:endParaRPr>
          </a:p>
        </p:txBody>
      </p:sp>
      <p:sp>
        <p:nvSpPr>
          <p:cNvPr id="2" name="Google Shape;402;p24">
            <a:extLst>
              <a:ext uri="{FF2B5EF4-FFF2-40B4-BE49-F238E27FC236}">
                <a16:creationId xmlns:a16="http://schemas.microsoft.com/office/drawing/2014/main" id="{D54F3452-025A-90F8-5F92-8D8E0755C17B}"/>
              </a:ext>
            </a:extLst>
          </p:cNvPr>
          <p:cNvSpPr/>
          <p:nvPr/>
        </p:nvSpPr>
        <p:spPr>
          <a:xfrm>
            <a:off x="1999074" y="2944675"/>
            <a:ext cx="2960383" cy="340966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402;p24">
            <a:extLst>
              <a:ext uri="{FF2B5EF4-FFF2-40B4-BE49-F238E27FC236}">
                <a16:creationId xmlns:a16="http://schemas.microsoft.com/office/drawing/2014/main" id="{3CB67CF0-ED01-BEDF-EBE2-187E33949D6D}"/>
              </a:ext>
            </a:extLst>
          </p:cNvPr>
          <p:cNvSpPr/>
          <p:nvPr/>
        </p:nvSpPr>
        <p:spPr>
          <a:xfrm>
            <a:off x="1999074" y="5892934"/>
            <a:ext cx="1891002" cy="340966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08711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5082B0E6-7938-96C9-53CE-C3C75AB4A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431;p27">
            <a:extLst>
              <a:ext uri="{FF2B5EF4-FFF2-40B4-BE49-F238E27FC236}">
                <a16:creationId xmlns:a16="http://schemas.microsoft.com/office/drawing/2014/main" id="{0571E86F-F032-42B5-C695-1AEF093BC2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0288" y="2048115"/>
            <a:ext cx="5061106" cy="4258342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EF165C2D-45A2-6251-CE80-737AE21053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 - Pasos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96AF30E0-DD66-8ED0-F1DA-3BDE9FF579C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D99876BE-6031-C5C3-538C-C917BE69A2A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A69A8A09-BB18-A2D7-2700-F7A1923B38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24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C8A4F4D1-553A-E82E-3915-B01DA9313713}"/>
              </a:ext>
            </a:extLst>
          </p:cNvPr>
          <p:cNvSpPr/>
          <p:nvPr/>
        </p:nvSpPr>
        <p:spPr>
          <a:xfrm>
            <a:off x="1151585" y="1773490"/>
            <a:ext cx="10060928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Construir el diagrama</a:t>
            </a:r>
            <a:r>
              <a:rPr lang="es-ES" sz="2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444327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3C3C28FB-7CCB-EFFD-D6FB-67D21BBDB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6202542B-7AF9-4E06-49FB-163C6008E0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 - Pasos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5A0255DB-2597-E818-26B0-E911044DBC0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59EB6FE8-F959-C20E-42C6-B39561E9942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58F41E0B-7E35-6D54-2E12-2D25D87879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25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8F08CDEC-72D8-95ED-39F6-D651D0B10A9C}"/>
              </a:ext>
            </a:extLst>
          </p:cNvPr>
          <p:cNvSpPr/>
          <p:nvPr/>
        </p:nvSpPr>
        <p:spPr>
          <a:xfrm>
            <a:off x="1151585" y="1665004"/>
            <a:ext cx="10060928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Realizar los escenarios</a:t>
            </a:r>
            <a:endParaRPr lang="es-ES" sz="2600" dirty="0"/>
          </a:p>
        </p:txBody>
      </p:sp>
      <p:graphicFrame>
        <p:nvGraphicFramePr>
          <p:cNvPr id="3" name="Google Shape;442;p30">
            <a:extLst>
              <a:ext uri="{FF2B5EF4-FFF2-40B4-BE49-F238E27FC236}">
                <a16:creationId xmlns:a16="http://schemas.microsoft.com/office/drawing/2014/main" id="{D721953F-A9DA-B7CF-2BFA-55BFD20F25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2329043"/>
              </p:ext>
            </p:extLst>
          </p:nvPr>
        </p:nvGraphicFramePr>
        <p:xfrm>
          <a:off x="1849166" y="2097945"/>
          <a:ext cx="8538199" cy="4201341"/>
        </p:xfrm>
        <a:graphic>
          <a:graphicData uri="http://schemas.openxmlformats.org/drawingml/2006/table">
            <a:tbl>
              <a:tblPr>
                <a:noFill/>
                <a:tableStyleId>{80967553-65DA-4D28-9A68-6F0D093F462A}</a:tableStyleId>
              </a:tblPr>
              <a:tblGrid>
                <a:gridCol w="1419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3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0088">
                <a:tc>
                  <a:txBody>
                    <a:bodyPr/>
                    <a:lstStyle/>
                    <a:p>
                      <a:pPr marL="93663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Nombre del CU:</a:t>
                      </a:r>
                      <a:r>
                        <a:rPr lang="en-US" sz="1400" u="none" strike="noStrike" cap="none" dirty="0">
                          <a:latin typeface="+mn-lt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dirty="0">
                        <a:latin typeface="+mn-lt"/>
                      </a:endParaRPr>
                    </a:p>
                  </a:txBody>
                  <a:tcPr marL="38025" marR="3802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Iniciar sesión</a:t>
                      </a:r>
                      <a:endParaRPr sz="1400" u="none" strike="noStrike" cap="none">
                        <a:latin typeface="+mn-lt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00575" marR="10057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739">
                <a:tc>
                  <a:txBody>
                    <a:bodyPr/>
                    <a:lstStyle/>
                    <a:p>
                      <a:pPr marL="93663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Descripción</a:t>
                      </a:r>
                      <a:r>
                        <a:rPr lang="en-US" sz="1400" b="1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: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  <a:latin typeface="+mn-lt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38025" marR="3802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+mn-lt"/>
                          <a:ea typeface="Verdana"/>
                          <a:cs typeface="Verdana"/>
                          <a:sym typeface="Verdana"/>
                        </a:rPr>
                        <a:t>Este caso de uso describe el evento en el que un usuario registrado inicia sesión con su nombre de usuario y contraseña.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+mn-lt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00575" marR="10057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017">
                <a:tc>
                  <a:txBody>
                    <a:bodyPr/>
                    <a:lstStyle/>
                    <a:p>
                      <a:pPr marL="93663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400" b="1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Actores</a:t>
                      </a:r>
                      <a:r>
                        <a:rPr lang="en-US" sz="1400" b="1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: </a:t>
                      </a:r>
                      <a:endParaRPr sz="1400" u="none" strike="noStrike" cap="none" dirty="0">
                        <a:latin typeface="+mn-lt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38025" marR="3802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+mn-lt"/>
                          <a:ea typeface="Verdana"/>
                          <a:cs typeface="Verdana"/>
                          <a:sym typeface="Verdana"/>
                        </a:rPr>
                        <a:t>Usuario Registrado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+mn-lt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00575" marR="10057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017">
                <a:tc>
                  <a:txBody>
                    <a:bodyPr/>
                    <a:lstStyle/>
                    <a:p>
                      <a:pPr marL="93663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400" b="1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Precondiciones</a:t>
                      </a:r>
                      <a:r>
                        <a:rPr lang="en-US" sz="1400" b="1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:</a:t>
                      </a:r>
                      <a:r>
                        <a:rPr lang="en-US" sz="1400" u="none" strike="noStrike" cap="none" dirty="0">
                          <a:latin typeface="+mn-lt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strike="noStrike" cap="none" dirty="0">
                        <a:latin typeface="+mn-lt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38025" marR="3802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+mn-lt"/>
                          <a:ea typeface="Verdana"/>
                          <a:cs typeface="Verdana"/>
                          <a:sym typeface="Verdana"/>
                        </a:rPr>
                        <a:t>---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+mn-lt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00575" marR="10057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88">
                <a:tc rowSpan="2">
                  <a:txBody>
                    <a:bodyPr/>
                    <a:lstStyle/>
                    <a:p>
                      <a:pPr marL="0" marR="0" lvl="0" indent="0" algn="l" defTabSz="116205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  <a:tabLst/>
                      </a:pPr>
                      <a:r>
                        <a:rPr lang="en-US" sz="1400" b="1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ea typeface="Verdana"/>
                          <a:cs typeface="Verdana"/>
                          <a:sym typeface="Verdana"/>
                        </a:rPr>
                        <a:t>Curso</a:t>
                      </a: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Normal: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00575" marR="10057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Actor</a:t>
                      </a:r>
                      <a:endParaRPr sz="1400" dirty="0">
                        <a:latin typeface="+mn-lt"/>
                      </a:endParaRPr>
                    </a:p>
                  </a:txBody>
                  <a:tcPr marL="38025" marR="3802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Sistema</a:t>
                      </a:r>
                      <a:endParaRPr sz="1400" dirty="0">
                        <a:latin typeface="+mn-lt"/>
                      </a:endParaRPr>
                    </a:p>
                  </a:txBody>
                  <a:tcPr marL="38025" marR="3802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2866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20713" marR="0" lvl="0" indent="-5270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Paso 1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: el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usuario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selecciona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la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opción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de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iniciar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sesión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.</a:t>
                      </a:r>
                      <a:endParaRPr sz="1400" u="none" strike="noStrike" cap="none" dirty="0">
                        <a:latin typeface="+mn-lt"/>
                      </a:endParaRPr>
                    </a:p>
                    <a:p>
                      <a:pPr marL="620713" marR="0" lvl="0" indent="-52705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Paso 3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: el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usuario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ingresa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el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nombre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de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usuario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y la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contraseña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.</a:t>
                      </a:r>
                      <a:endParaRPr sz="1400" u="none" strike="noStrike" cap="none" dirty="0">
                        <a:latin typeface="+mn-lt"/>
                      </a:endParaRPr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400" u="none" strike="noStrike" cap="none" dirty="0">
                        <a:latin typeface="+mn-lt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38025" marR="3802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20713" marR="0" lvl="0" indent="-5270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Paso 2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: el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sistema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presenta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la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pantalla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donde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se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solicita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al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usuario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y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contraseña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.</a:t>
                      </a:r>
                      <a:endParaRPr sz="1400" u="none" strike="noStrike" cap="none" dirty="0">
                        <a:latin typeface="+mn-lt"/>
                      </a:endParaRPr>
                    </a:p>
                    <a:p>
                      <a:pPr marL="620713" marR="0" lvl="0" indent="-52705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Paso 4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: el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sistema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verifica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el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nombre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de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usuario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y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contraseña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.</a:t>
                      </a:r>
                      <a:endParaRPr sz="1400" u="none" strike="noStrike" cap="none" dirty="0">
                        <a:latin typeface="+mn-lt"/>
                      </a:endParaRPr>
                    </a:p>
                    <a:p>
                      <a:pPr marL="620713" marR="0" lvl="0" indent="-52705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Paso 5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: el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sistema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inicia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la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sesión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y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presenta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la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pantalla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principal.</a:t>
                      </a:r>
                      <a:endParaRPr sz="1400" dirty="0">
                        <a:latin typeface="+mn-lt"/>
                      </a:endParaRPr>
                    </a:p>
                  </a:txBody>
                  <a:tcPr marL="38025" marR="3802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81">
                <a:tc>
                  <a:txBody>
                    <a:bodyPr/>
                    <a:lstStyle/>
                    <a:p>
                      <a:pPr marL="93663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b="1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Verdana"/>
                          <a:cs typeface="Verdana"/>
                          <a:sym typeface="Verdana"/>
                        </a:rPr>
                        <a:t>Curso</a:t>
                      </a: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lang="en-US" sz="1400" b="1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Verdana"/>
                          <a:cs typeface="Verdana"/>
                          <a:sym typeface="Verdana"/>
                        </a:rPr>
                        <a:t>Alterno</a:t>
                      </a: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Verdana"/>
                          <a:cs typeface="Verdana"/>
                          <a:sym typeface="Verdana"/>
                        </a:rPr>
                        <a:t>:</a:t>
                      </a:r>
                      <a:endParaRPr sz="1400" dirty="0">
                        <a:latin typeface="+mn-lt"/>
                      </a:endParaRPr>
                    </a:p>
                  </a:txBody>
                  <a:tcPr marL="38025" marR="3802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Paso alt. 4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: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usuario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o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contraseña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inválidos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. Se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notifica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la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discrepancia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. Vuelve al paso 2.</a:t>
                      </a:r>
                      <a:endParaRPr sz="1400" dirty="0">
                        <a:latin typeface="+mn-lt"/>
                      </a:endParaRPr>
                    </a:p>
                  </a:txBody>
                  <a:tcPr marL="100575" marR="10057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3024">
                <a:tc>
                  <a:txBody>
                    <a:bodyPr/>
                    <a:lstStyle/>
                    <a:p>
                      <a:pPr marL="93663" marR="0" lvl="0" indent="14288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b="1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Verdana"/>
                          <a:cs typeface="Verdana"/>
                          <a:sym typeface="Verdana"/>
                        </a:rPr>
                        <a:t>Postcondición</a:t>
                      </a: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Verdana"/>
                          <a:cs typeface="Verdana"/>
                          <a:sym typeface="Verdana"/>
                        </a:rPr>
                        <a:t>:</a:t>
                      </a:r>
                      <a:endParaRPr sz="1400" dirty="0">
                        <a:latin typeface="+mn-lt"/>
                      </a:endParaRPr>
                    </a:p>
                  </a:txBody>
                  <a:tcPr marL="38025" marR="3802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La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sesión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ha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sido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iniciada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exitosamente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y las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opciones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para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usuarios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registrados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aparecen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lang="en-US" sz="1400" u="none" strike="noStrike" cap="none" dirty="0" err="1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habilitadas</a:t>
                      </a:r>
                      <a:r>
                        <a:rPr lang="en-US" sz="1400" u="none" strike="noStrike" cap="none" dirty="0">
                          <a:latin typeface="+mn-lt"/>
                          <a:ea typeface="Verdana"/>
                          <a:cs typeface="Verdana"/>
                          <a:sym typeface="Verdana"/>
                        </a:rPr>
                        <a:t>.</a:t>
                      </a:r>
                      <a:endParaRPr sz="1400" dirty="0">
                        <a:latin typeface="+mn-lt"/>
                      </a:endParaRPr>
                    </a:p>
                  </a:txBody>
                  <a:tcPr marL="100575" marR="10057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6721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99"/>
          <p:cNvSpPr txBox="1">
            <a:spLocks noGrp="1"/>
          </p:cNvSpPr>
          <p:nvPr>
            <p:ph type="title"/>
          </p:nvPr>
        </p:nvSpPr>
        <p:spPr>
          <a:xfrm>
            <a:off x="1086866" y="1177870"/>
            <a:ext cx="10428375" cy="59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Bibliografía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99"/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587" name="Google Shape;587;p99"/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588" name="Google Shape;588;p99"/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26</a:t>
            </a:fld>
            <a:endParaRPr/>
          </a:p>
        </p:txBody>
      </p:sp>
      <p:sp>
        <p:nvSpPr>
          <p:cNvPr id="589" name="Google Shape;589;p99"/>
          <p:cNvSpPr/>
          <p:nvPr/>
        </p:nvSpPr>
        <p:spPr>
          <a:xfrm>
            <a:off x="1151584" y="1886309"/>
            <a:ext cx="9945202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263525" marR="0" lvl="0" indent="-263525" algn="just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Sommerville Ian,  Capítulo 4, Ingeniería de software, Addison Wesley 2011</a:t>
            </a:r>
            <a:endParaRPr dirty="0"/>
          </a:p>
          <a:p>
            <a:pPr marL="263525" marR="0" lvl="0" indent="-263525" algn="just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Whitten y Bentley, Análisis de Sistemas Diseño y Métodos, Capítulo 6, Mc Graw Hill 2008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Naranja rojo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6 Clase 1_Comunicacion_SRS.pptx" id="{F39401A9-85DB-4349-A76B-94D95506DA4C}" vid="{1FC3EF6D-30C9-4320-8FF3-A71339F5A8A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2026 Ingenieria de software 2</Template>
  <TotalTime>116</TotalTime>
  <Words>1725</Words>
  <Application>Microsoft Office PowerPoint</Application>
  <PresentationFormat>Panorámica</PresentationFormat>
  <Paragraphs>291</Paragraphs>
  <Slides>26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3" baseType="lpstr">
      <vt:lpstr>Arial</vt:lpstr>
      <vt:lpstr>Calibri</vt:lpstr>
      <vt:lpstr>Noto Sans Symbols</vt:lpstr>
      <vt:lpstr>Noto Sans Symbols2</vt:lpstr>
      <vt:lpstr>Times New Roman</vt:lpstr>
      <vt:lpstr>Verdana</vt:lpstr>
      <vt:lpstr>Retrospección</vt:lpstr>
      <vt:lpstr>Ingeniería de Software I</vt:lpstr>
      <vt:lpstr>Contenidos</vt:lpstr>
      <vt:lpstr>Técnicas de Especificación de Requerimientos</vt:lpstr>
      <vt:lpstr>Casos de Uso - Beneficios</vt:lpstr>
      <vt:lpstr>Casos de Uso - Componentes</vt:lpstr>
      <vt:lpstr>Casos de Uso - Diagrama</vt:lpstr>
      <vt:lpstr>Casos de Uso - Diagrama</vt:lpstr>
      <vt:lpstr>Casos de Uso - Diagrama</vt:lpstr>
      <vt:lpstr>Casos de Uso - Diagrama</vt:lpstr>
      <vt:lpstr>Casos de Uso - Diagrama</vt:lpstr>
      <vt:lpstr>Casos de Uso - Diagrama</vt:lpstr>
      <vt:lpstr>Casos de Uso - Diagrama</vt:lpstr>
      <vt:lpstr>Casos de Uso - Diagrama</vt:lpstr>
      <vt:lpstr>Casos de Uso - Escenarios</vt:lpstr>
      <vt:lpstr>Casos de Uso - Escenarios</vt:lpstr>
      <vt:lpstr>Casos de Uso – Proceso de modelado</vt:lpstr>
      <vt:lpstr>Casos de Uso – Proceso de modelado</vt:lpstr>
      <vt:lpstr>Casos de Uso – Proceso de modelado</vt:lpstr>
      <vt:lpstr>Casos de Uso – Características importantes</vt:lpstr>
      <vt:lpstr>Ejemplo</vt:lpstr>
      <vt:lpstr>Ejemplo - Actores</vt:lpstr>
      <vt:lpstr>Ejemplo – Casos de Uso</vt:lpstr>
      <vt:lpstr>Ejemplo - Pasos</vt:lpstr>
      <vt:lpstr>Ejemplo - Pasos</vt:lpstr>
      <vt:lpstr>Ejemplo - Pasos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Ariel</dc:creator>
  <cp:lastModifiedBy>Rocio Muñoz</cp:lastModifiedBy>
  <cp:revision>31</cp:revision>
  <dcterms:created xsi:type="dcterms:W3CDTF">2011-08-01T13:16:26Z</dcterms:created>
  <dcterms:modified xsi:type="dcterms:W3CDTF">2026-09-03T14:42:05Z</dcterms:modified>
</cp:coreProperties>
</file>