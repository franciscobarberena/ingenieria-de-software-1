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35"/>
  </p:notesMasterIdLst>
  <p:sldIdLst>
    <p:sldId id="299" r:id="rId2"/>
    <p:sldId id="300" r:id="rId3"/>
    <p:sldId id="301" r:id="rId4"/>
    <p:sldId id="302" r:id="rId5"/>
    <p:sldId id="303"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8" r:id="rId19"/>
    <p:sldId id="317" r:id="rId20"/>
    <p:sldId id="319" r:id="rId21"/>
    <p:sldId id="320" r:id="rId22"/>
    <p:sldId id="322" r:id="rId23"/>
    <p:sldId id="321" r:id="rId24"/>
    <p:sldId id="323" r:id="rId25"/>
    <p:sldId id="324" r:id="rId26"/>
    <p:sldId id="325" r:id="rId27"/>
    <p:sldId id="326" r:id="rId28"/>
    <p:sldId id="327" r:id="rId29"/>
    <p:sldId id="328" r:id="rId30"/>
    <p:sldId id="329" r:id="rId31"/>
    <p:sldId id="330" r:id="rId32"/>
    <p:sldId id="331" r:id="rId33"/>
    <p:sldId id="332" r:id="rId34"/>
  </p:sldIdLst>
  <p:sldSz cx="12192000" cy="6858000"/>
  <p:notesSz cx="6797675" cy="9874250"/>
  <p:embeddedFontLst>
    <p:embeddedFont>
      <p:font typeface="Noto Sans Symbols" panose="020B0604020202020204" charset="0"/>
      <p:regular r:id="rId36"/>
      <p:bold r:id="rId37"/>
    </p:embeddedFont>
    <p:embeddedFont>
      <p:font typeface="Noto Sans Symbols2" panose="020B0502040504020204" pitchFamily="34"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v6+8Jmt8hbjxkKo7XRhck/RCdd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54"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371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rgbClr val="000000"/>
                </a:solidFill>
                <a:latin typeface="Arial"/>
                <a:ea typeface="Arial"/>
                <a:cs typeface="Arial"/>
                <a:sym typeface="Arial"/>
              </a:rPr>
              <a:t>‹Nº›</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a:spLocks noGrp="1" noRot="1" noChangeAspect="1"/>
          </p:cNvSpPr>
          <p:nvPr>
            <p:ph type="sldImg" idx="2"/>
          </p:nvPr>
        </p:nvSpPr>
        <p:spPr>
          <a:xfrm>
            <a:off x="107950" y="741363"/>
            <a:ext cx="65817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24" name="Google Shape;124;p3: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s-ES"/>
              <a:t>1</a:t>
            </a:fld>
            <a:endParaRPr/>
          </a:p>
        </p:txBody>
      </p:sp>
      <p:sp>
        <p:nvSpPr>
          <p:cNvPr id="125" name="Google Shape;125;p3: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a:solidFill>
                <a:srgbClr val="000000"/>
              </a:solidFill>
            </a:endParaRPr>
          </a:p>
        </p:txBody>
      </p:sp>
      <p:sp>
        <p:nvSpPr>
          <p:cNvPr id="126" name="Google Shape;126;p3: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s-ES">
                <a:solidFill>
                  <a:srgbClr val="000000"/>
                </a:solidFill>
              </a:rPr>
              <a:t>Ingeniera de Software I </a:t>
            </a:r>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ES"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1: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8" name="Google Shape;138;p1: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6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p6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E71B4693-B547-BD51-D02E-A1BFA7729FA9}"/>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18E7B2A8-CDEE-0579-B68C-6DB0EC0249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DD00806A-7DCD-F8BA-7F15-B9A6167F3F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A6009F70-A8DD-65BC-9DDE-1282879CB2C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a:t>
            </a:fld>
            <a:endParaRPr/>
          </a:p>
        </p:txBody>
      </p:sp>
    </p:spTree>
    <p:extLst>
      <p:ext uri="{BB962C8B-B14F-4D97-AF65-F5344CB8AC3E}">
        <p14:creationId xmlns:p14="http://schemas.microsoft.com/office/powerpoint/2010/main" val="1618802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84B3AD94-E742-B82B-6C89-BD3EA86CC880}"/>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C1AE795A-E755-92C7-FEE9-73AB6BF644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14EC0085-10B9-F793-0DF8-476FF26A74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A635F0B1-132C-8EA8-BEEB-25216D78A13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a:t>
            </a:fld>
            <a:endParaRPr/>
          </a:p>
        </p:txBody>
      </p:sp>
    </p:spTree>
    <p:extLst>
      <p:ext uri="{BB962C8B-B14F-4D97-AF65-F5344CB8AC3E}">
        <p14:creationId xmlns:p14="http://schemas.microsoft.com/office/powerpoint/2010/main" val="782174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D1C20F34-0D3B-0047-ED78-C31014A5A6DF}"/>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5372CE98-7C3A-B3E4-A02D-4FAE4D195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ED79B06A-7971-DD4F-9D36-F1F6DC0EEB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AD8BFDBB-FD8C-9873-8039-0014E8CD2A5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a:t>
            </a:fld>
            <a:endParaRPr/>
          </a:p>
        </p:txBody>
      </p:sp>
    </p:spTree>
    <p:extLst>
      <p:ext uri="{BB962C8B-B14F-4D97-AF65-F5344CB8AC3E}">
        <p14:creationId xmlns:p14="http://schemas.microsoft.com/office/powerpoint/2010/main" val="3713389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861ADE48-EE06-B21D-8325-EA55723DC685}"/>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2A4D3390-8D60-DB34-4F9F-874F164640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47D387C0-EAE8-5333-7A03-2ADAD501AE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014A1BA0-F6F6-A1AC-6749-860FB96DB89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a:t>
            </a:fld>
            <a:endParaRPr/>
          </a:p>
        </p:txBody>
      </p:sp>
    </p:spTree>
    <p:extLst>
      <p:ext uri="{BB962C8B-B14F-4D97-AF65-F5344CB8AC3E}">
        <p14:creationId xmlns:p14="http://schemas.microsoft.com/office/powerpoint/2010/main" val="2759825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B1FE4C92-72BD-A96F-5CA7-BB9D59AD29FE}"/>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2682B8DC-90C5-F182-7556-1A6B25B39A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3B4B86D4-5880-9A1C-5139-462A697A98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1E6CF4FF-76D8-D5CF-1D2F-70D33FFEEEA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9</a:t>
            </a:fld>
            <a:endParaRPr/>
          </a:p>
        </p:txBody>
      </p:sp>
    </p:spTree>
    <p:extLst>
      <p:ext uri="{BB962C8B-B14F-4D97-AF65-F5344CB8AC3E}">
        <p14:creationId xmlns:p14="http://schemas.microsoft.com/office/powerpoint/2010/main" val="1223130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1B0FB9F4-FEB1-B7C3-5C03-87A28098C687}"/>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5C5DF5B5-4AFF-BA20-1775-F06F5FFE35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F90E1345-2028-9C9D-83C3-32136DC003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D0692045-36FE-D20C-A3AB-4F3B7A18EBC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10</a:t>
            </a:fld>
            <a:endParaRPr/>
          </a:p>
        </p:txBody>
      </p:sp>
    </p:spTree>
    <p:extLst>
      <p:ext uri="{BB962C8B-B14F-4D97-AF65-F5344CB8AC3E}">
        <p14:creationId xmlns:p14="http://schemas.microsoft.com/office/powerpoint/2010/main" val="970471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93315CAE-E096-D64A-F0E7-0A8C30FBB91C}"/>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E7F05B22-9EFB-DD93-B858-16D915B1B3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E8F54A55-61C1-CC69-CF97-4967DD41F4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B02860D1-113E-080A-B4F0-3D10DBA339A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11</a:t>
            </a:fld>
            <a:endParaRPr/>
          </a:p>
        </p:txBody>
      </p:sp>
    </p:spTree>
    <p:extLst>
      <p:ext uri="{BB962C8B-B14F-4D97-AF65-F5344CB8AC3E}">
        <p14:creationId xmlns:p14="http://schemas.microsoft.com/office/powerpoint/2010/main" val="2283061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E3DC67FF-B1DA-A36A-D186-326E730F8548}"/>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25E3AC52-0B37-03B6-0CD3-4C226408C0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C1D82D08-26A6-E497-0B36-C074788A56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061882E8-530A-CA01-B7A2-E5620B39E74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12</a:t>
            </a:fld>
            <a:endParaRPr/>
          </a:p>
        </p:txBody>
      </p:sp>
    </p:spTree>
    <p:extLst>
      <p:ext uri="{BB962C8B-B14F-4D97-AF65-F5344CB8AC3E}">
        <p14:creationId xmlns:p14="http://schemas.microsoft.com/office/powerpoint/2010/main" val="4186947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31B4C3B0-C97A-1B08-5215-BB2FC0EFFEA6}"/>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7846AD5C-F23E-21FA-F12F-FE0EB58E3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DA023040-82F9-0C9C-C202-4FCD8E0F6E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5C5ADC60-2895-C758-B912-5D68FBF3FB2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13</a:t>
            </a:fld>
            <a:endParaRPr/>
          </a:p>
        </p:txBody>
      </p:sp>
    </p:spTree>
    <p:extLst>
      <p:ext uri="{BB962C8B-B14F-4D97-AF65-F5344CB8AC3E}">
        <p14:creationId xmlns:p14="http://schemas.microsoft.com/office/powerpoint/2010/main" val="4133196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1FAC5665-7B6D-5508-2939-52DB66AD003A}"/>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5C443050-39D5-9CE7-2734-959530B6BD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EB68C3F2-C905-6357-E5BB-C67EBE3F3F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8D190AED-E953-EE09-068B-A7EB95EA427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14</a:t>
            </a:fld>
            <a:endParaRPr/>
          </a:p>
        </p:txBody>
      </p:sp>
    </p:spTree>
    <p:extLst>
      <p:ext uri="{BB962C8B-B14F-4D97-AF65-F5344CB8AC3E}">
        <p14:creationId xmlns:p14="http://schemas.microsoft.com/office/powerpoint/2010/main" val="3325692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71E32386-8B25-973C-3A27-1DB69618EAE5}"/>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AD3E2E0B-E417-A798-B2D8-C5BA31F2EE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A7438166-90A4-A944-E365-3054ACDAD2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A4F2A2EF-A2D6-E8CF-3934-77B293F7202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15</a:t>
            </a:fld>
            <a:endParaRPr/>
          </a:p>
        </p:txBody>
      </p:sp>
    </p:spTree>
    <p:extLst>
      <p:ext uri="{BB962C8B-B14F-4D97-AF65-F5344CB8AC3E}">
        <p14:creationId xmlns:p14="http://schemas.microsoft.com/office/powerpoint/2010/main" val="1020883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7DED884B-424C-9FD6-6AC7-837697004185}"/>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ECB140FD-712E-EE52-3974-C73C4570F5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A8F238F0-2FA4-5858-C18F-3EEFF0368B7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8ABEDA5B-7E9E-089F-A5C6-0C19742945E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16</a:t>
            </a:fld>
            <a:endParaRPr/>
          </a:p>
        </p:txBody>
      </p:sp>
    </p:spTree>
    <p:extLst>
      <p:ext uri="{BB962C8B-B14F-4D97-AF65-F5344CB8AC3E}">
        <p14:creationId xmlns:p14="http://schemas.microsoft.com/office/powerpoint/2010/main" val="844455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E1D51DAC-9DEE-F7BA-0B60-50647A67B0BB}"/>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BF181927-BE20-0BCE-E6E1-8CB05F9AFF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400CC5CA-F118-9EE2-EC3D-090B8DCEE5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2FCABF0A-6867-35E7-E57A-58DC0661E3F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17</a:t>
            </a:fld>
            <a:endParaRPr/>
          </a:p>
        </p:txBody>
      </p:sp>
    </p:spTree>
    <p:extLst>
      <p:ext uri="{BB962C8B-B14F-4D97-AF65-F5344CB8AC3E}">
        <p14:creationId xmlns:p14="http://schemas.microsoft.com/office/powerpoint/2010/main" val="2655215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CABE797A-D2E6-C1FD-A5E0-476E6F0E615B}"/>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83D510A2-D0B9-CF06-19C4-BA16DC1179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B8622D50-CB0E-C85D-0C6E-FA3841EA7A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DFEB27C4-B06A-6F36-A56C-5CFAB8314B8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18</a:t>
            </a:fld>
            <a:endParaRPr/>
          </a:p>
        </p:txBody>
      </p:sp>
    </p:spTree>
    <p:extLst>
      <p:ext uri="{BB962C8B-B14F-4D97-AF65-F5344CB8AC3E}">
        <p14:creationId xmlns:p14="http://schemas.microsoft.com/office/powerpoint/2010/main" val="532929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B80D3EA4-7679-1D70-9800-C8B7C31A2D73}"/>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A8881A78-2130-F34F-4602-F4C1D055E1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72D8C7F3-F690-430D-162D-53B8F8B96F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9904EAD9-8C86-A25D-1EA7-21019F59F65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19</a:t>
            </a:fld>
            <a:endParaRPr/>
          </a:p>
        </p:txBody>
      </p:sp>
    </p:spTree>
    <p:extLst>
      <p:ext uri="{BB962C8B-B14F-4D97-AF65-F5344CB8AC3E}">
        <p14:creationId xmlns:p14="http://schemas.microsoft.com/office/powerpoint/2010/main" val="3366780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9C47F76C-7591-7871-D55D-F6401ADDFFEE}"/>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A1975C77-88FF-CEA9-5F43-0BE88A065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A017B9C5-9250-A4AC-BCDE-D14D6E01AE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81DAD1A2-EE94-96F7-71F3-CC539CE1E5B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20</a:t>
            </a:fld>
            <a:endParaRPr/>
          </a:p>
        </p:txBody>
      </p:sp>
    </p:spTree>
    <p:extLst>
      <p:ext uri="{BB962C8B-B14F-4D97-AF65-F5344CB8AC3E}">
        <p14:creationId xmlns:p14="http://schemas.microsoft.com/office/powerpoint/2010/main" val="37536354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3B2A6BC7-A7B4-D1E6-8BB9-32D2CFA58526}"/>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EF29F881-1222-C493-628E-3AB31951B3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748FE7D9-1DFE-CC05-E7D2-85B19214A9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1F24CB94-A5D2-B0B6-B7D0-5FA65DF86DB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21</a:t>
            </a:fld>
            <a:endParaRPr/>
          </a:p>
        </p:txBody>
      </p:sp>
    </p:spTree>
    <p:extLst>
      <p:ext uri="{BB962C8B-B14F-4D97-AF65-F5344CB8AC3E}">
        <p14:creationId xmlns:p14="http://schemas.microsoft.com/office/powerpoint/2010/main" val="2532079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DCC89B65-DCC8-95F8-46F5-68799956FBF8}"/>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E9A8E81B-FDD0-F5B3-0AB7-561B2189D1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AB5BF2AA-7503-3295-B93B-6BBC8A69CC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ABD61BD4-00F1-833B-F888-0F5B7E7D085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22</a:t>
            </a:fld>
            <a:endParaRPr/>
          </a:p>
        </p:txBody>
      </p:sp>
    </p:spTree>
    <p:extLst>
      <p:ext uri="{BB962C8B-B14F-4D97-AF65-F5344CB8AC3E}">
        <p14:creationId xmlns:p14="http://schemas.microsoft.com/office/powerpoint/2010/main" val="2042532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C5FE7893-D6F7-03D2-29BD-62A336B8FF44}"/>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3B1998B1-98E9-65A7-2179-1FA9172169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D1DCD3DC-5F9C-A6E9-3817-13CAE804DF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BE7D0980-525D-D55D-0B9B-3ED7A0FE127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23</a:t>
            </a:fld>
            <a:endParaRPr/>
          </a:p>
        </p:txBody>
      </p:sp>
    </p:spTree>
    <p:extLst>
      <p:ext uri="{BB962C8B-B14F-4D97-AF65-F5344CB8AC3E}">
        <p14:creationId xmlns:p14="http://schemas.microsoft.com/office/powerpoint/2010/main" val="22387695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7267C299-2831-546F-574C-DADE9F387382}"/>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6C773CF3-1BB7-D5CA-4F06-B6E276B177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40C68828-8FF6-C32E-5AA4-C2EFEF3CE53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2210DAAE-4AE2-626D-3580-406015F50B9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24</a:t>
            </a:fld>
            <a:endParaRPr/>
          </a:p>
        </p:txBody>
      </p:sp>
    </p:spTree>
    <p:extLst>
      <p:ext uri="{BB962C8B-B14F-4D97-AF65-F5344CB8AC3E}">
        <p14:creationId xmlns:p14="http://schemas.microsoft.com/office/powerpoint/2010/main" val="11580565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78E7FE61-8C84-3A8B-0BE1-90619CCBF698}"/>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046D6B0B-375F-C235-B339-CEE54E23D7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13D2E029-40C1-641F-AA96-26293E2643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70743AE4-43E2-4DD1-1296-527A78742E3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25</a:t>
            </a:fld>
            <a:endParaRPr/>
          </a:p>
        </p:txBody>
      </p:sp>
    </p:spTree>
    <p:extLst>
      <p:ext uri="{BB962C8B-B14F-4D97-AF65-F5344CB8AC3E}">
        <p14:creationId xmlns:p14="http://schemas.microsoft.com/office/powerpoint/2010/main" val="3400135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2C520169-E4F8-6E07-1D10-94361C70DC6C}"/>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CB19A6BD-1067-30C6-CBAE-F95403CBE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C6FED27D-B7AB-765F-963A-4C466BFE1E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648E5513-E077-6506-A6AA-0CA98AAAF98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26</a:t>
            </a:fld>
            <a:endParaRPr/>
          </a:p>
        </p:txBody>
      </p:sp>
    </p:spTree>
    <p:extLst>
      <p:ext uri="{BB962C8B-B14F-4D97-AF65-F5344CB8AC3E}">
        <p14:creationId xmlns:p14="http://schemas.microsoft.com/office/powerpoint/2010/main" val="39984874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1C2E5DAB-81A4-F9BF-B6AD-0932412ED4DF}"/>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BE46F98D-655A-99F9-DD36-3FA8149E8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949A40DD-C730-1C1B-9B5F-9A23B7440D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C0043645-A628-B43C-C903-42200C32DCA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27</a:t>
            </a:fld>
            <a:endParaRPr/>
          </a:p>
        </p:txBody>
      </p:sp>
    </p:spTree>
    <p:extLst>
      <p:ext uri="{BB962C8B-B14F-4D97-AF65-F5344CB8AC3E}">
        <p14:creationId xmlns:p14="http://schemas.microsoft.com/office/powerpoint/2010/main" val="1635923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1C966A3C-42FE-ADC5-78B5-09B09B8CF184}"/>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25F2FEB3-6840-BF1A-E259-BD33226A5A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34263A91-79B1-6006-82B5-9EBA5AE28A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90E0AF24-26D8-B46A-2675-5814E1A1775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28</a:t>
            </a:fld>
            <a:endParaRPr/>
          </a:p>
        </p:txBody>
      </p:sp>
    </p:spTree>
    <p:extLst>
      <p:ext uri="{BB962C8B-B14F-4D97-AF65-F5344CB8AC3E}">
        <p14:creationId xmlns:p14="http://schemas.microsoft.com/office/powerpoint/2010/main" val="34065797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26E7D080-A67F-6C2B-3519-33E79328ED14}"/>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F37D241E-2288-04B2-9F21-0FFD068E4A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2A09233F-F9D7-88F0-17E3-2F84A0E238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E82A84FA-CAE5-1C68-AB94-FF7736CD784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29</a:t>
            </a:fld>
            <a:endParaRPr/>
          </a:p>
        </p:txBody>
      </p:sp>
    </p:spTree>
    <p:extLst>
      <p:ext uri="{BB962C8B-B14F-4D97-AF65-F5344CB8AC3E}">
        <p14:creationId xmlns:p14="http://schemas.microsoft.com/office/powerpoint/2010/main" val="7362943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76F1737F-4428-16FA-33D2-516DF9ECB044}"/>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CE4051C2-D368-566E-955C-D2BB0CC88C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000A3340-FC88-295A-6C8D-F8D273F38B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54AFC448-9EDC-3474-C9CC-DCA65245BF2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30</a:t>
            </a:fld>
            <a:endParaRPr/>
          </a:p>
        </p:txBody>
      </p:sp>
    </p:spTree>
    <p:extLst>
      <p:ext uri="{BB962C8B-B14F-4D97-AF65-F5344CB8AC3E}">
        <p14:creationId xmlns:p14="http://schemas.microsoft.com/office/powerpoint/2010/main" val="533076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1D475012-7992-9012-D121-A59FF3DFEA24}"/>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F471AFB0-B532-3C8F-59E3-F095C66EEE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8B16A26F-D7A7-FC69-B3E5-6C86D66243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6AFA0B04-27DB-63F5-65A0-E232EAAE94C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31</a:t>
            </a:fld>
            <a:endParaRPr/>
          </a:p>
        </p:txBody>
      </p:sp>
    </p:spTree>
    <p:extLst>
      <p:ext uri="{BB962C8B-B14F-4D97-AF65-F5344CB8AC3E}">
        <p14:creationId xmlns:p14="http://schemas.microsoft.com/office/powerpoint/2010/main" val="1217954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15767605-C602-DA49-B237-E215F9E7973E}"/>
            </a:ext>
          </a:extLst>
        </p:cNvPr>
        <p:cNvGrpSpPr/>
        <p:nvPr/>
      </p:nvGrpSpPr>
      <p:grpSpPr>
        <a:xfrm>
          <a:off x="0" y="0"/>
          <a:ext cx="0" cy="0"/>
          <a:chOff x="0" y="0"/>
          <a:chExt cx="0" cy="0"/>
        </a:xfrm>
      </p:grpSpPr>
      <p:sp>
        <p:nvSpPr>
          <p:cNvPr id="375" name="Google Shape;375;p63:notes">
            <a:extLst>
              <a:ext uri="{FF2B5EF4-FFF2-40B4-BE49-F238E27FC236}">
                <a16:creationId xmlns:a16="http://schemas.microsoft.com/office/drawing/2014/main" id="{3D44F7E5-4EBA-2FB4-4E3E-80E4AC4B8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3:notes">
            <a:extLst>
              <a:ext uri="{FF2B5EF4-FFF2-40B4-BE49-F238E27FC236}">
                <a16:creationId xmlns:a16="http://schemas.microsoft.com/office/drawing/2014/main" id="{AB448673-D6C4-7DD2-4FD0-BD5FB05547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3:notes">
            <a:extLst>
              <a:ext uri="{FF2B5EF4-FFF2-40B4-BE49-F238E27FC236}">
                <a16:creationId xmlns:a16="http://schemas.microsoft.com/office/drawing/2014/main" id="{51CD4C12-B71F-5287-1B9C-D9BD6FFD1F3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32</a:t>
            </a:fld>
            <a:endParaRPr/>
          </a:p>
        </p:txBody>
      </p:sp>
    </p:spTree>
    <p:extLst>
      <p:ext uri="{BB962C8B-B14F-4D97-AF65-F5344CB8AC3E}">
        <p14:creationId xmlns:p14="http://schemas.microsoft.com/office/powerpoint/2010/main" val="39501427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3" name="Google Shape;583;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43E6BC9-8A4B-BD2D-A97B-03388AE41EA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5" name="Rectangle 7">
            <a:extLst>
              <a:ext uri="{FF2B5EF4-FFF2-40B4-BE49-F238E27FC236}">
                <a16:creationId xmlns:a16="http://schemas.microsoft.com/office/drawing/2014/main" id="{CF678791-B724-BCA3-27E2-1573250C65F7}"/>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cxnSp>
        <p:nvCxnSpPr>
          <p:cNvPr id="6" name="Straight Connector 8">
            <a:extLst>
              <a:ext uri="{FF2B5EF4-FFF2-40B4-BE49-F238E27FC236}">
                <a16:creationId xmlns:a16="http://schemas.microsoft.com/office/drawing/2014/main" id="{5E4376D2-E739-A143-7567-7E7C895C1073}"/>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919872CF-55A0-9DEA-1F48-99EF21A099B9}"/>
              </a:ext>
            </a:extLst>
          </p:cNvPr>
          <p:cNvSpPr>
            <a:spLocks noGrp="1"/>
          </p:cNvSpPr>
          <p:nvPr>
            <p:ph type="dt" sz="half" idx="10"/>
          </p:nvPr>
        </p:nvSpPr>
        <p:spPr/>
        <p:txBody>
          <a:bodyPr/>
          <a:lstStyle>
            <a:lvl1pPr>
              <a:defRPr/>
            </a:lvl1pPr>
          </a:lstStyle>
          <a:p>
            <a:r>
              <a:rPr lang="es-AR"/>
              <a:t>2026</a:t>
            </a:r>
            <a:endParaRPr lang="es-ES"/>
          </a:p>
        </p:txBody>
      </p:sp>
      <p:sp>
        <p:nvSpPr>
          <p:cNvPr id="8" name="Footer Placeholder 4">
            <a:extLst>
              <a:ext uri="{FF2B5EF4-FFF2-40B4-BE49-F238E27FC236}">
                <a16:creationId xmlns:a16="http://schemas.microsoft.com/office/drawing/2014/main" id="{60BF3F83-733F-7998-8465-9CAF03D890F0}"/>
              </a:ext>
            </a:extLst>
          </p:cNvPr>
          <p:cNvSpPr>
            <a:spLocks noGrp="1"/>
          </p:cNvSpPr>
          <p:nvPr>
            <p:ph type="ftr" sz="quarter" idx="11"/>
          </p:nvPr>
        </p:nvSpPr>
        <p:spPr/>
        <p:txBody>
          <a:bodyPr/>
          <a:lstStyle>
            <a:lvl1pPr>
              <a:defRPr/>
            </a:lvl1pPr>
          </a:lstStyle>
          <a:p>
            <a:r>
              <a:rPr lang="es-ES"/>
              <a:t>INGENIERÍA DE SOFTWARE I</a:t>
            </a:r>
          </a:p>
        </p:txBody>
      </p:sp>
      <p:sp>
        <p:nvSpPr>
          <p:cNvPr id="9" name="Slide Number Placeholder 5">
            <a:extLst>
              <a:ext uri="{FF2B5EF4-FFF2-40B4-BE49-F238E27FC236}">
                <a16:creationId xmlns:a16="http://schemas.microsoft.com/office/drawing/2014/main" id="{33749773-EDCF-15AC-8873-BA88B893D1D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918748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E84ECB8E-6984-4DA0-CCDE-D937FA0CFE4D}"/>
              </a:ext>
            </a:extLst>
          </p:cNvPr>
          <p:cNvSpPr>
            <a:spLocks noGrp="1"/>
          </p:cNvSpPr>
          <p:nvPr>
            <p:ph type="dt" sz="half" idx="10"/>
          </p:nvPr>
        </p:nvSpPr>
        <p:spPr/>
        <p:txBody>
          <a:bodyPr/>
          <a:lstStyle>
            <a:lvl1pPr>
              <a:defRPr/>
            </a:lvl1pPr>
          </a:lstStyle>
          <a:p>
            <a:r>
              <a:rPr lang="es-AR"/>
              <a:t>2026</a:t>
            </a:r>
            <a:endParaRPr lang="es-ES"/>
          </a:p>
        </p:txBody>
      </p:sp>
      <p:sp>
        <p:nvSpPr>
          <p:cNvPr id="5" name="Footer Placeholder 4">
            <a:extLst>
              <a:ext uri="{FF2B5EF4-FFF2-40B4-BE49-F238E27FC236}">
                <a16:creationId xmlns:a16="http://schemas.microsoft.com/office/drawing/2014/main" id="{937457F4-2F29-4C31-2415-BFB11E3F0C34}"/>
              </a:ext>
            </a:extLst>
          </p:cNvPr>
          <p:cNvSpPr>
            <a:spLocks noGrp="1"/>
          </p:cNvSpPr>
          <p:nvPr>
            <p:ph type="ftr" sz="quarter" idx="11"/>
          </p:nvPr>
        </p:nvSpPr>
        <p:spPr/>
        <p:txBody>
          <a:bodyPr/>
          <a:lstStyle>
            <a:lvl1pPr>
              <a:defRPr/>
            </a:lvl1pPr>
          </a:lstStyle>
          <a:p>
            <a:r>
              <a:rPr lang="es-ES"/>
              <a:t>INGENIERÍA DE SOFTWARE I</a:t>
            </a:r>
          </a:p>
        </p:txBody>
      </p:sp>
      <p:sp>
        <p:nvSpPr>
          <p:cNvPr id="6" name="Slide Number Placeholder 5">
            <a:extLst>
              <a:ext uri="{FF2B5EF4-FFF2-40B4-BE49-F238E27FC236}">
                <a16:creationId xmlns:a16="http://schemas.microsoft.com/office/drawing/2014/main" id="{96AECEC8-651A-FCF9-B2E1-B405EBC2CC96}"/>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40657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11201EA0-53D0-7652-4D4E-95C016955A05}"/>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9D45C714-55C6-FB84-2F9B-BFCE7404FEAA}"/>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6B424C43-339F-FEC6-DA41-E1340B223021}"/>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565F793D-C4CA-CA71-3A8A-37CABDA235ED}"/>
              </a:ext>
            </a:extLst>
          </p:cNvPr>
          <p:cNvSpPr>
            <a:spLocks noGrp="1"/>
          </p:cNvSpPr>
          <p:nvPr>
            <p:ph type="dt" sz="half" idx="10"/>
          </p:nvPr>
        </p:nvSpPr>
        <p:spPr/>
        <p:txBody>
          <a:bodyPr/>
          <a:lstStyle>
            <a:lvl1pPr>
              <a:defRPr/>
            </a:lvl1pPr>
          </a:lstStyle>
          <a:p>
            <a:r>
              <a:rPr lang="es-AR"/>
              <a:t>2026</a:t>
            </a:r>
          </a:p>
        </p:txBody>
      </p:sp>
      <p:sp>
        <p:nvSpPr>
          <p:cNvPr id="8" name="Footer Placeholder 4">
            <a:extLst>
              <a:ext uri="{FF2B5EF4-FFF2-40B4-BE49-F238E27FC236}">
                <a16:creationId xmlns:a16="http://schemas.microsoft.com/office/drawing/2014/main" id="{DBCA7C2D-C4DC-416D-A3B6-E7A59B1027A5}"/>
              </a:ext>
            </a:extLst>
          </p:cNvPr>
          <p:cNvSpPr>
            <a:spLocks noGrp="1"/>
          </p:cNvSpPr>
          <p:nvPr>
            <p:ph type="ftr" sz="quarter" idx="11"/>
          </p:nvPr>
        </p:nvSpPr>
        <p:spPr/>
        <p:txBody>
          <a:bodyPr/>
          <a:lstStyle>
            <a:lvl1pPr>
              <a:defRPr/>
            </a:lvl1pPr>
          </a:lstStyle>
          <a:p>
            <a:r>
              <a:rPr lang="es-AR"/>
              <a:t>INGENIERÍA DE SOFTWARE I</a:t>
            </a:r>
          </a:p>
        </p:txBody>
      </p:sp>
      <p:sp>
        <p:nvSpPr>
          <p:cNvPr id="9" name="Slide Number Placeholder 5">
            <a:extLst>
              <a:ext uri="{FF2B5EF4-FFF2-40B4-BE49-F238E27FC236}">
                <a16:creationId xmlns:a16="http://schemas.microsoft.com/office/drawing/2014/main" id="{8BBE78C8-FAFB-6BF8-391B-10D296225F4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316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B2B40943-1B9C-D884-CDBA-16AC1C8CB98E}"/>
              </a:ext>
            </a:extLst>
          </p:cNvPr>
          <p:cNvSpPr>
            <a:spLocks noGrp="1"/>
          </p:cNvSpPr>
          <p:nvPr>
            <p:ph type="dt" sz="half" idx="10"/>
          </p:nvPr>
        </p:nvSpPr>
        <p:spPr/>
        <p:txBody>
          <a:bodyPr/>
          <a:lstStyle>
            <a:lvl1pPr>
              <a:defRPr/>
            </a:lvl1pPr>
          </a:lstStyle>
          <a:p>
            <a:r>
              <a:rPr lang="es-AR"/>
              <a:t>2026</a:t>
            </a:r>
          </a:p>
        </p:txBody>
      </p:sp>
      <p:sp>
        <p:nvSpPr>
          <p:cNvPr id="5" name="Footer Placeholder 4">
            <a:extLst>
              <a:ext uri="{FF2B5EF4-FFF2-40B4-BE49-F238E27FC236}">
                <a16:creationId xmlns:a16="http://schemas.microsoft.com/office/drawing/2014/main" id="{3997FE42-A4CB-C241-D463-8DBF129E72D4}"/>
              </a:ext>
            </a:extLst>
          </p:cNvPr>
          <p:cNvSpPr>
            <a:spLocks noGrp="1"/>
          </p:cNvSpPr>
          <p:nvPr>
            <p:ph type="ftr" sz="quarter" idx="11"/>
          </p:nvPr>
        </p:nvSpPr>
        <p:spPr/>
        <p:txBody>
          <a:bodyPr/>
          <a:lstStyle>
            <a:lvl1pPr>
              <a:defRPr/>
            </a:lvl1pPr>
          </a:lstStyle>
          <a:p>
            <a:r>
              <a:rPr lang="es-AR"/>
              <a:t>INGENIERÍA DE SOFTWARE I</a:t>
            </a:r>
          </a:p>
        </p:txBody>
      </p:sp>
      <p:sp>
        <p:nvSpPr>
          <p:cNvPr id="6" name="Slide Number Placeholder 5">
            <a:extLst>
              <a:ext uri="{FF2B5EF4-FFF2-40B4-BE49-F238E27FC236}">
                <a16:creationId xmlns:a16="http://schemas.microsoft.com/office/drawing/2014/main" id="{3B16A125-51D5-AB66-7530-03C78059B7F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270437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BD87869F-EDC5-A732-2427-D6C4489EDC8E}"/>
              </a:ext>
            </a:extLst>
          </p:cNvPr>
          <p:cNvSpPr>
            <a:spLocks noGrp="1"/>
          </p:cNvSpPr>
          <p:nvPr>
            <p:ph type="dt" sz="half" idx="10"/>
          </p:nvPr>
        </p:nvSpPr>
        <p:spPr/>
        <p:txBody>
          <a:bodyPr/>
          <a:lstStyle>
            <a:lvl1pPr>
              <a:defRPr/>
            </a:lvl1pPr>
          </a:lstStyle>
          <a:p>
            <a:r>
              <a:rPr lang="es-AR"/>
              <a:t>2026</a:t>
            </a:r>
          </a:p>
        </p:txBody>
      </p:sp>
      <p:sp>
        <p:nvSpPr>
          <p:cNvPr id="7" name="Footer Placeholder 4">
            <a:extLst>
              <a:ext uri="{FF2B5EF4-FFF2-40B4-BE49-F238E27FC236}">
                <a16:creationId xmlns:a16="http://schemas.microsoft.com/office/drawing/2014/main" id="{3D35A538-2180-F873-24AE-5D01A8A59BCA}"/>
              </a:ext>
            </a:extLst>
          </p:cNvPr>
          <p:cNvSpPr>
            <a:spLocks noGrp="1"/>
          </p:cNvSpPr>
          <p:nvPr>
            <p:ph type="ftr" sz="quarter" idx="11"/>
          </p:nvPr>
        </p:nvSpPr>
        <p:spPr/>
        <p:txBody>
          <a:bodyPr/>
          <a:lstStyle>
            <a:lvl1pPr>
              <a:defRPr/>
            </a:lvl1pPr>
          </a:lstStyle>
          <a:p>
            <a:r>
              <a:rPr lang="es-AR"/>
              <a:t>INGENIERÍA DE SOFTWARE I</a:t>
            </a:r>
          </a:p>
        </p:txBody>
      </p:sp>
      <p:sp>
        <p:nvSpPr>
          <p:cNvPr id="8" name="Slide Number Placeholder 5">
            <a:extLst>
              <a:ext uri="{FF2B5EF4-FFF2-40B4-BE49-F238E27FC236}">
                <a16:creationId xmlns:a16="http://schemas.microsoft.com/office/drawing/2014/main" id="{62D96B72-324F-7BE1-1E26-4D65C80519F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076399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711F1421-0CC8-F1A5-7259-5FB989CAD4DD}"/>
              </a:ext>
            </a:extLst>
          </p:cNvPr>
          <p:cNvSpPr>
            <a:spLocks noGrp="1"/>
          </p:cNvSpPr>
          <p:nvPr>
            <p:ph type="dt" sz="half" idx="10"/>
          </p:nvPr>
        </p:nvSpPr>
        <p:spPr/>
        <p:txBody>
          <a:bodyPr/>
          <a:lstStyle>
            <a:lvl1pPr>
              <a:defRPr/>
            </a:lvl1pPr>
          </a:lstStyle>
          <a:p>
            <a:r>
              <a:rPr lang="es-AR"/>
              <a:t>2026</a:t>
            </a:r>
          </a:p>
        </p:txBody>
      </p:sp>
      <p:sp>
        <p:nvSpPr>
          <p:cNvPr id="4" name="Footer Placeholder 4">
            <a:extLst>
              <a:ext uri="{FF2B5EF4-FFF2-40B4-BE49-F238E27FC236}">
                <a16:creationId xmlns:a16="http://schemas.microsoft.com/office/drawing/2014/main" id="{498B81BF-13B0-EA03-CD9B-4BA8BF917450}"/>
              </a:ext>
            </a:extLst>
          </p:cNvPr>
          <p:cNvSpPr>
            <a:spLocks noGrp="1"/>
          </p:cNvSpPr>
          <p:nvPr>
            <p:ph type="ftr" sz="quarter" idx="11"/>
          </p:nvPr>
        </p:nvSpPr>
        <p:spPr/>
        <p:txBody>
          <a:bodyPr/>
          <a:lstStyle>
            <a:lvl1pPr>
              <a:defRPr/>
            </a:lvl1pPr>
          </a:lstStyle>
          <a:p>
            <a:r>
              <a:rPr lang="es-AR"/>
              <a:t>INGENIERÍA DE SOFTWARE I</a:t>
            </a:r>
          </a:p>
        </p:txBody>
      </p:sp>
      <p:sp>
        <p:nvSpPr>
          <p:cNvPr id="5" name="Slide Number Placeholder 5">
            <a:extLst>
              <a:ext uri="{FF2B5EF4-FFF2-40B4-BE49-F238E27FC236}">
                <a16:creationId xmlns:a16="http://schemas.microsoft.com/office/drawing/2014/main" id="{CC7AFA0F-1030-F66F-82F9-E684ED8BDEC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640698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6496674-BB05-017D-11E0-8966F048B70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545132C5-EA5E-91C9-06B1-C8FE60EB0056}"/>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59257FC8-08D6-5512-2DF0-06002931FE4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624F40B6-1A7A-531D-1A8F-73692B3B80DB}"/>
              </a:ext>
            </a:extLst>
          </p:cNvPr>
          <p:cNvSpPr>
            <a:spLocks noGrp="1"/>
          </p:cNvSpPr>
          <p:nvPr>
            <p:ph type="dt" sz="half" idx="10"/>
          </p:nvPr>
        </p:nvSpPr>
        <p:spPr/>
        <p:txBody>
          <a:bodyPr/>
          <a:lstStyle>
            <a:lvl1pPr>
              <a:defRPr/>
            </a:lvl1pPr>
          </a:lstStyle>
          <a:p>
            <a:r>
              <a:rPr lang="es-AR"/>
              <a:t>2026</a:t>
            </a:r>
            <a:endParaRPr lang="es-ES"/>
          </a:p>
        </p:txBody>
      </p:sp>
      <p:sp>
        <p:nvSpPr>
          <p:cNvPr id="6" name="Footer Placeholder 7">
            <a:extLst>
              <a:ext uri="{FF2B5EF4-FFF2-40B4-BE49-F238E27FC236}">
                <a16:creationId xmlns:a16="http://schemas.microsoft.com/office/drawing/2014/main" id="{127FD8BA-9E81-1FA5-93C6-91982F23AE33}"/>
              </a:ext>
            </a:extLst>
          </p:cNvPr>
          <p:cNvSpPr>
            <a:spLocks noGrp="1"/>
          </p:cNvSpPr>
          <p:nvPr>
            <p:ph type="ftr" sz="quarter" idx="11"/>
          </p:nvPr>
        </p:nvSpPr>
        <p:spPr/>
        <p:txBody>
          <a:bodyPr/>
          <a:lstStyle>
            <a:lvl1pPr>
              <a:defRPr>
                <a:solidFill>
                  <a:srgbClr val="FFFFFF"/>
                </a:solidFill>
              </a:defRPr>
            </a:lvl1pPr>
          </a:lstStyle>
          <a:p>
            <a:r>
              <a:rPr lang="es-ES"/>
              <a:t>INGENIERÍA DE SOFTWARE I</a:t>
            </a:r>
          </a:p>
        </p:txBody>
      </p:sp>
      <p:sp>
        <p:nvSpPr>
          <p:cNvPr id="7" name="Slide Number Placeholder 8">
            <a:extLst>
              <a:ext uri="{FF2B5EF4-FFF2-40B4-BE49-F238E27FC236}">
                <a16:creationId xmlns:a16="http://schemas.microsoft.com/office/drawing/2014/main" id="{96980B1A-467B-C990-8E42-FDD3B612B30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9636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4DBA1FB-2DA3-161C-611C-46AD52F8EC39}"/>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10DBF4A0-F832-4607-0601-C6529010CCB7}"/>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A93845C7-38E9-19B1-4955-4FFEC826C464}"/>
              </a:ext>
            </a:extLst>
          </p:cNvPr>
          <p:cNvSpPr>
            <a:spLocks noGrp="1"/>
          </p:cNvSpPr>
          <p:nvPr>
            <p:ph type="dt" sz="half" idx="10"/>
          </p:nvPr>
        </p:nvSpPr>
        <p:spPr>
          <a:xfrm>
            <a:off x="465138" y="6459538"/>
            <a:ext cx="2619375" cy="365125"/>
          </a:xfrm>
        </p:spPr>
        <p:txBody>
          <a:bodyPr/>
          <a:lstStyle>
            <a:lvl1pPr algn="l">
              <a:defRPr/>
            </a:lvl1pPr>
          </a:lstStyle>
          <a:p>
            <a:r>
              <a:rPr lang="es-AR"/>
              <a:t>2026</a:t>
            </a:r>
          </a:p>
        </p:txBody>
      </p:sp>
      <p:sp>
        <p:nvSpPr>
          <p:cNvPr id="8" name="Footer Placeholder 5">
            <a:extLst>
              <a:ext uri="{FF2B5EF4-FFF2-40B4-BE49-F238E27FC236}">
                <a16:creationId xmlns:a16="http://schemas.microsoft.com/office/drawing/2014/main" id="{06F55F3F-774F-E112-4897-DA757319DD02}"/>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r>
              <a:rPr lang="es-AR"/>
              <a:t>INGENIERÍA DE SOFTWARE I</a:t>
            </a:r>
          </a:p>
        </p:txBody>
      </p:sp>
      <p:sp>
        <p:nvSpPr>
          <p:cNvPr id="9" name="Slide Number Placeholder 6">
            <a:extLst>
              <a:ext uri="{FF2B5EF4-FFF2-40B4-BE49-F238E27FC236}">
                <a16:creationId xmlns:a16="http://schemas.microsoft.com/office/drawing/2014/main" id="{68336173-168A-1D62-F85B-5F9F07C71C61}"/>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493919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B3590E-941F-6C46-99CA-6B8CD47B4F9E}"/>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EB5B376E-A078-4B8B-9A3B-B708E73C5022}"/>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5810FA40-BAA6-540E-BA60-E395E8CD2761}"/>
              </a:ext>
            </a:extLst>
          </p:cNvPr>
          <p:cNvSpPr>
            <a:spLocks noGrp="1"/>
          </p:cNvSpPr>
          <p:nvPr>
            <p:ph type="dt" sz="half" idx="10"/>
          </p:nvPr>
        </p:nvSpPr>
        <p:spPr/>
        <p:txBody>
          <a:bodyPr/>
          <a:lstStyle>
            <a:lvl1pPr>
              <a:defRPr/>
            </a:lvl1pPr>
          </a:lstStyle>
          <a:p>
            <a:r>
              <a:rPr lang="es-AR"/>
              <a:t>2026</a:t>
            </a:r>
            <a:endParaRPr lang="es-ES"/>
          </a:p>
        </p:txBody>
      </p:sp>
      <p:sp>
        <p:nvSpPr>
          <p:cNvPr id="8" name="Footer Placeholder 5">
            <a:extLst>
              <a:ext uri="{FF2B5EF4-FFF2-40B4-BE49-F238E27FC236}">
                <a16:creationId xmlns:a16="http://schemas.microsoft.com/office/drawing/2014/main" id="{EE990C6F-C468-0E3C-906A-6CC9F814904F}"/>
              </a:ext>
            </a:extLst>
          </p:cNvPr>
          <p:cNvSpPr>
            <a:spLocks noGrp="1"/>
          </p:cNvSpPr>
          <p:nvPr>
            <p:ph type="ftr" sz="quarter" idx="11"/>
          </p:nvPr>
        </p:nvSpPr>
        <p:spPr/>
        <p:txBody>
          <a:bodyPr/>
          <a:lstStyle>
            <a:lvl1pPr>
              <a:defRPr/>
            </a:lvl1pPr>
          </a:lstStyle>
          <a:p>
            <a:r>
              <a:rPr lang="es-ES"/>
              <a:t>INGENIERÍA DE SOFTWARE I</a:t>
            </a:r>
          </a:p>
        </p:txBody>
      </p:sp>
      <p:sp>
        <p:nvSpPr>
          <p:cNvPr id="9" name="Slide Number Placeholder 6">
            <a:extLst>
              <a:ext uri="{FF2B5EF4-FFF2-40B4-BE49-F238E27FC236}">
                <a16:creationId xmlns:a16="http://schemas.microsoft.com/office/drawing/2014/main" id="{D8D84FF6-2B50-4F03-A16A-1223F063C59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63305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CA927B67-55D2-D85A-4888-84E2B43AF1FE}"/>
              </a:ext>
            </a:extLst>
          </p:cNvPr>
          <p:cNvSpPr>
            <a:spLocks noGrp="1"/>
          </p:cNvSpPr>
          <p:nvPr>
            <p:ph type="dt" sz="half" idx="10"/>
          </p:nvPr>
        </p:nvSpPr>
        <p:spPr/>
        <p:txBody>
          <a:bodyPr/>
          <a:lstStyle>
            <a:lvl1pPr>
              <a:defRPr/>
            </a:lvl1pPr>
          </a:lstStyle>
          <a:p>
            <a:r>
              <a:rPr lang="es-AR"/>
              <a:t>2026</a:t>
            </a:r>
          </a:p>
        </p:txBody>
      </p:sp>
      <p:sp>
        <p:nvSpPr>
          <p:cNvPr id="5" name="Footer Placeholder 4">
            <a:extLst>
              <a:ext uri="{FF2B5EF4-FFF2-40B4-BE49-F238E27FC236}">
                <a16:creationId xmlns:a16="http://schemas.microsoft.com/office/drawing/2014/main" id="{EF0CD5D6-24B5-8006-8387-CE9DBA0DC84D}"/>
              </a:ext>
            </a:extLst>
          </p:cNvPr>
          <p:cNvSpPr>
            <a:spLocks noGrp="1"/>
          </p:cNvSpPr>
          <p:nvPr>
            <p:ph type="ftr" sz="quarter" idx="11"/>
          </p:nvPr>
        </p:nvSpPr>
        <p:spPr/>
        <p:txBody>
          <a:bodyPr/>
          <a:lstStyle>
            <a:lvl1pPr>
              <a:defRPr/>
            </a:lvl1pPr>
          </a:lstStyle>
          <a:p>
            <a:r>
              <a:rPr lang="es-AR"/>
              <a:t>INGENIERÍA DE SOFTWARE I</a:t>
            </a:r>
          </a:p>
        </p:txBody>
      </p:sp>
      <p:sp>
        <p:nvSpPr>
          <p:cNvPr id="6" name="Slide Number Placeholder 5">
            <a:extLst>
              <a:ext uri="{FF2B5EF4-FFF2-40B4-BE49-F238E27FC236}">
                <a16:creationId xmlns:a16="http://schemas.microsoft.com/office/drawing/2014/main" id="{B03D8E67-12E2-4C7F-CFAF-D7A64BDDE0C6}"/>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3405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F96FD164-7E2D-1175-C78E-31E006FF48AB}"/>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24C54E99-E0F9-4658-A70F-5F31CC0BDE9A}"/>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3D346644-2702-65ED-807A-63AF82B0456D}"/>
              </a:ext>
            </a:extLst>
          </p:cNvPr>
          <p:cNvSpPr>
            <a:spLocks noGrp="1"/>
          </p:cNvSpPr>
          <p:nvPr>
            <p:ph type="dt" sz="half" idx="10"/>
          </p:nvPr>
        </p:nvSpPr>
        <p:spPr/>
        <p:txBody>
          <a:bodyPr/>
          <a:lstStyle>
            <a:lvl1pPr>
              <a:defRPr/>
            </a:lvl1pPr>
          </a:lstStyle>
          <a:p>
            <a:r>
              <a:rPr lang="es-AR"/>
              <a:t>2026</a:t>
            </a:r>
          </a:p>
        </p:txBody>
      </p:sp>
      <p:sp>
        <p:nvSpPr>
          <p:cNvPr id="7" name="Footer Placeholder 4">
            <a:extLst>
              <a:ext uri="{FF2B5EF4-FFF2-40B4-BE49-F238E27FC236}">
                <a16:creationId xmlns:a16="http://schemas.microsoft.com/office/drawing/2014/main" id="{C9ABDFB8-65BB-45F5-EA46-B95105E23DBE}"/>
              </a:ext>
            </a:extLst>
          </p:cNvPr>
          <p:cNvSpPr>
            <a:spLocks noGrp="1"/>
          </p:cNvSpPr>
          <p:nvPr>
            <p:ph type="ftr" sz="quarter" idx="11"/>
          </p:nvPr>
        </p:nvSpPr>
        <p:spPr/>
        <p:txBody>
          <a:bodyPr/>
          <a:lstStyle>
            <a:lvl1pPr>
              <a:defRPr/>
            </a:lvl1pPr>
          </a:lstStyle>
          <a:p>
            <a:r>
              <a:rPr lang="es-AR"/>
              <a:t>INGENIERÍA DE SOFTWARE I</a:t>
            </a:r>
          </a:p>
        </p:txBody>
      </p:sp>
      <p:sp>
        <p:nvSpPr>
          <p:cNvPr id="8" name="Slide Number Placeholder 5">
            <a:extLst>
              <a:ext uri="{FF2B5EF4-FFF2-40B4-BE49-F238E27FC236}">
                <a16:creationId xmlns:a16="http://schemas.microsoft.com/office/drawing/2014/main" id="{53A9F0A9-80BD-F363-9268-6353B70D271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1527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6B5D058D-174B-7E86-7EB5-CC25C43771EA}"/>
              </a:ext>
            </a:extLst>
          </p:cNvPr>
          <p:cNvSpPr>
            <a:spLocks noGrp="1"/>
          </p:cNvSpPr>
          <p:nvPr>
            <p:ph type="dt" sz="half" idx="10"/>
          </p:nvPr>
        </p:nvSpPr>
        <p:spPr/>
        <p:txBody>
          <a:bodyPr/>
          <a:lstStyle>
            <a:lvl1pPr>
              <a:defRPr/>
            </a:lvl1pPr>
          </a:lstStyle>
          <a:p>
            <a:pPr>
              <a:defRPr/>
            </a:pPr>
            <a:r>
              <a:rPr lang="es-AR"/>
              <a:t>2026</a:t>
            </a:r>
            <a:endParaRPr lang="es-ES" dirty="0"/>
          </a:p>
        </p:txBody>
      </p:sp>
      <p:sp>
        <p:nvSpPr>
          <p:cNvPr id="3" name="Footer Placeholder 4">
            <a:extLst>
              <a:ext uri="{FF2B5EF4-FFF2-40B4-BE49-F238E27FC236}">
                <a16:creationId xmlns:a16="http://schemas.microsoft.com/office/drawing/2014/main" id="{7AEB60D3-19A8-0CEE-092F-DA685311507C}"/>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4" name="Slide Number Placeholder 5">
            <a:extLst>
              <a:ext uri="{FF2B5EF4-FFF2-40B4-BE49-F238E27FC236}">
                <a16:creationId xmlns:a16="http://schemas.microsoft.com/office/drawing/2014/main" id="{FC390253-683C-1C0C-FDBF-CF46B03CEC4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97790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AF7BA581-B936-75B7-8199-5A6D27398045}"/>
              </a:ext>
            </a:extLst>
          </p:cNvPr>
          <p:cNvSpPr>
            <a:spLocks noGrp="1"/>
          </p:cNvSpPr>
          <p:nvPr>
            <p:ph type="dt" sz="half" idx="10"/>
          </p:nvPr>
        </p:nvSpPr>
        <p:spPr/>
        <p:txBody>
          <a:bodyPr/>
          <a:lstStyle>
            <a:lvl1pPr>
              <a:defRPr/>
            </a:lvl1pPr>
          </a:lstStyle>
          <a:p>
            <a:r>
              <a:rPr lang="es-AR"/>
              <a:t>2026</a:t>
            </a:r>
            <a:endParaRPr lang="es-ES"/>
          </a:p>
        </p:txBody>
      </p:sp>
      <p:sp>
        <p:nvSpPr>
          <p:cNvPr id="3" name="Footer Placeholder 4">
            <a:extLst>
              <a:ext uri="{FF2B5EF4-FFF2-40B4-BE49-F238E27FC236}">
                <a16:creationId xmlns:a16="http://schemas.microsoft.com/office/drawing/2014/main" id="{5C7B9D3E-E2EC-7C83-2F91-C4F5F3031A16}"/>
              </a:ext>
            </a:extLst>
          </p:cNvPr>
          <p:cNvSpPr>
            <a:spLocks noGrp="1"/>
          </p:cNvSpPr>
          <p:nvPr>
            <p:ph type="ftr" sz="quarter" idx="11"/>
          </p:nvPr>
        </p:nvSpPr>
        <p:spPr/>
        <p:txBody>
          <a:bodyPr/>
          <a:lstStyle>
            <a:lvl1pPr>
              <a:defRPr/>
            </a:lvl1pPr>
          </a:lstStyle>
          <a:p>
            <a:r>
              <a:rPr lang="es-ES"/>
              <a:t>INGENIERÍA DE SOFTWARE I</a:t>
            </a:r>
          </a:p>
        </p:txBody>
      </p:sp>
      <p:sp>
        <p:nvSpPr>
          <p:cNvPr id="4" name="Slide Number Placeholder 5">
            <a:extLst>
              <a:ext uri="{FF2B5EF4-FFF2-40B4-BE49-F238E27FC236}">
                <a16:creationId xmlns:a16="http://schemas.microsoft.com/office/drawing/2014/main" id="{954620CA-F0E4-93E4-CF84-E712740BD29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717295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4738E740-7E5F-4227-B0C9-620E61EC190D}"/>
              </a:ext>
            </a:extLst>
          </p:cNvPr>
          <p:cNvSpPr>
            <a:spLocks noGrp="1"/>
          </p:cNvSpPr>
          <p:nvPr>
            <p:ph type="dt" sz="half" idx="10"/>
          </p:nvPr>
        </p:nvSpPr>
        <p:spPr/>
        <p:txBody>
          <a:bodyPr/>
          <a:lstStyle>
            <a:lvl1pPr>
              <a:defRPr/>
            </a:lvl1pPr>
          </a:lstStyle>
          <a:p>
            <a:r>
              <a:rPr lang="es-AR"/>
              <a:t>2026</a:t>
            </a:r>
            <a:endParaRPr lang="es-ES"/>
          </a:p>
        </p:txBody>
      </p:sp>
      <p:sp>
        <p:nvSpPr>
          <p:cNvPr id="3" name="Footer Placeholder 5">
            <a:extLst>
              <a:ext uri="{FF2B5EF4-FFF2-40B4-BE49-F238E27FC236}">
                <a16:creationId xmlns:a16="http://schemas.microsoft.com/office/drawing/2014/main" id="{7B9DFD6E-5553-8A0A-0CD9-C0072507FC09}"/>
              </a:ext>
            </a:extLst>
          </p:cNvPr>
          <p:cNvSpPr>
            <a:spLocks noGrp="1"/>
          </p:cNvSpPr>
          <p:nvPr>
            <p:ph type="ftr" sz="quarter" idx="11"/>
          </p:nvPr>
        </p:nvSpPr>
        <p:spPr/>
        <p:txBody>
          <a:bodyPr/>
          <a:lstStyle>
            <a:lvl1pPr>
              <a:defRPr/>
            </a:lvl1pPr>
          </a:lstStyle>
          <a:p>
            <a:r>
              <a:rPr lang="es-ES"/>
              <a:t>INGENIERÍA DE SOFTWARE I</a:t>
            </a:r>
          </a:p>
        </p:txBody>
      </p:sp>
      <p:sp>
        <p:nvSpPr>
          <p:cNvPr id="4" name="Slide Number Placeholder 6">
            <a:extLst>
              <a:ext uri="{FF2B5EF4-FFF2-40B4-BE49-F238E27FC236}">
                <a16:creationId xmlns:a16="http://schemas.microsoft.com/office/drawing/2014/main" id="{75094922-97C7-2E63-717F-CAA134FDC4E6}"/>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55693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n con título">
  <p:cSld name="2_Imagen con título">
    <p:spTree>
      <p:nvGrpSpPr>
        <p:cNvPr id="1" name="Shape 18"/>
        <p:cNvGrpSpPr/>
        <p:nvPr/>
      </p:nvGrpSpPr>
      <p:grpSpPr>
        <a:xfrm>
          <a:off x="0" y="0"/>
          <a:ext cx="0" cy="0"/>
          <a:chOff x="0" y="0"/>
          <a:chExt cx="0" cy="0"/>
        </a:xfrm>
      </p:grpSpPr>
      <p:sp>
        <p:nvSpPr>
          <p:cNvPr id="19" name="Google Shape;19;p70"/>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4A6617"/>
              </a:buClr>
              <a:buSzPts val="4400"/>
              <a:buFont typeface="Calibri"/>
              <a:buNone/>
              <a:defRPr sz="3300" b="1">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0" name="Google Shape;20;p70"/>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75"/>
              </a:spcBef>
              <a:spcAft>
                <a:spcPts val="0"/>
              </a:spcAft>
              <a:buSzPts val="2400"/>
              <a:buNone/>
              <a:defRPr sz="1800">
                <a:solidFill>
                  <a:srgbClr val="4A6617"/>
                </a:solidFill>
              </a:defRPr>
            </a:lvl1pPr>
            <a:lvl2pPr marL="914400" lvl="1" indent="-228600" algn="l">
              <a:lnSpc>
                <a:spcPct val="85000"/>
              </a:lnSpc>
              <a:spcBef>
                <a:spcPts val="450"/>
              </a:spcBef>
              <a:spcAft>
                <a:spcPts val="0"/>
              </a:spcAft>
              <a:buClr>
                <a:srgbClr val="262626"/>
              </a:buClr>
              <a:buSzPts val="1200"/>
              <a:buNone/>
              <a:defRPr sz="900"/>
            </a:lvl2pPr>
            <a:lvl3pPr marL="1371600" lvl="2" indent="-228600" algn="l">
              <a:lnSpc>
                <a:spcPct val="85000"/>
              </a:lnSpc>
              <a:spcBef>
                <a:spcPts val="450"/>
              </a:spcBef>
              <a:spcAft>
                <a:spcPts val="0"/>
              </a:spcAft>
              <a:buClr>
                <a:srgbClr val="262626"/>
              </a:buClr>
              <a:buSzPts val="1000"/>
              <a:buNone/>
              <a:defRPr sz="750"/>
            </a:lvl3pPr>
            <a:lvl4pPr marL="1828800" lvl="3" indent="-228600" algn="l">
              <a:lnSpc>
                <a:spcPct val="85000"/>
              </a:lnSpc>
              <a:spcBef>
                <a:spcPts val="450"/>
              </a:spcBef>
              <a:spcAft>
                <a:spcPts val="0"/>
              </a:spcAft>
              <a:buClr>
                <a:srgbClr val="262626"/>
              </a:buClr>
              <a:buSzPts val="900"/>
              <a:buNone/>
              <a:defRPr sz="675"/>
            </a:lvl4pPr>
            <a:lvl5pPr marL="2286000" lvl="4" indent="-228600" algn="l">
              <a:lnSpc>
                <a:spcPct val="85000"/>
              </a:lnSpc>
              <a:spcBef>
                <a:spcPts val="450"/>
              </a:spcBef>
              <a:spcAft>
                <a:spcPts val="0"/>
              </a:spcAft>
              <a:buClr>
                <a:srgbClr val="262626"/>
              </a:buClr>
              <a:buSzPts val="900"/>
              <a:buNone/>
              <a:defRPr sz="675"/>
            </a:lvl5pPr>
            <a:lvl6pPr marL="2743200" lvl="5" indent="-228600" algn="l">
              <a:lnSpc>
                <a:spcPct val="85000"/>
              </a:lnSpc>
              <a:spcBef>
                <a:spcPts val="450"/>
              </a:spcBef>
              <a:spcAft>
                <a:spcPts val="0"/>
              </a:spcAft>
              <a:buClr>
                <a:srgbClr val="262626"/>
              </a:buClr>
              <a:buSzPts val="900"/>
              <a:buNone/>
              <a:defRPr sz="675"/>
            </a:lvl6pPr>
            <a:lvl7pPr marL="3200400" lvl="6" indent="-228600" algn="l">
              <a:lnSpc>
                <a:spcPct val="85000"/>
              </a:lnSpc>
              <a:spcBef>
                <a:spcPts val="450"/>
              </a:spcBef>
              <a:spcAft>
                <a:spcPts val="0"/>
              </a:spcAft>
              <a:buClr>
                <a:srgbClr val="262626"/>
              </a:buClr>
              <a:buSzPts val="900"/>
              <a:buNone/>
              <a:defRPr sz="675"/>
            </a:lvl7pPr>
            <a:lvl8pPr marL="3657600" lvl="7" indent="-228600" algn="l">
              <a:lnSpc>
                <a:spcPct val="85000"/>
              </a:lnSpc>
              <a:spcBef>
                <a:spcPts val="450"/>
              </a:spcBef>
              <a:spcAft>
                <a:spcPts val="0"/>
              </a:spcAft>
              <a:buClr>
                <a:srgbClr val="262626"/>
              </a:buClr>
              <a:buSzPts val="900"/>
              <a:buNone/>
              <a:defRPr sz="675"/>
            </a:lvl8pPr>
            <a:lvl9pPr marL="4114800" lvl="8" indent="-228600" algn="l">
              <a:lnSpc>
                <a:spcPct val="85000"/>
              </a:lnSpc>
              <a:spcBef>
                <a:spcPts val="450"/>
              </a:spcBef>
              <a:spcAft>
                <a:spcPts val="0"/>
              </a:spcAft>
              <a:buClr>
                <a:srgbClr val="262626"/>
              </a:buClr>
              <a:buSzPts val="900"/>
              <a:buNone/>
              <a:defRPr sz="675"/>
            </a:lvl9pPr>
          </a:lstStyle>
          <a:p>
            <a:pPr lvl="0"/>
            <a:r>
              <a:rPr lang="es-ES"/>
              <a:t>Haga clic para modificar los estilos de texto del patrón</a:t>
            </a:r>
          </a:p>
        </p:txBody>
      </p:sp>
      <p:sp>
        <p:nvSpPr>
          <p:cNvPr id="21" name="Google Shape;21;p70"/>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2026</a:t>
            </a:r>
            <a:endParaRPr/>
          </a:p>
        </p:txBody>
      </p:sp>
      <p:sp>
        <p:nvSpPr>
          <p:cNvPr id="22" name="Google Shape;22;p70"/>
          <p:cNvSpPr txBox="1">
            <a:spLocks noGrp="1"/>
          </p:cNvSpPr>
          <p:nvPr>
            <p:ph type="ftr" idx="11"/>
          </p:nvPr>
        </p:nvSpPr>
        <p:spPr>
          <a:xfrm>
            <a:off x="685800" y="6481098"/>
            <a:ext cx="2241848" cy="30220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INGENIERÍA DE SOFTWARE I</a:t>
            </a:r>
            <a:endParaRPr/>
          </a:p>
        </p:txBody>
      </p:sp>
      <p:sp>
        <p:nvSpPr>
          <p:cNvPr id="23" name="Google Shape;23;p70"/>
          <p:cNvSpPr txBox="1">
            <a:spLocks noGrp="1"/>
          </p:cNvSpPr>
          <p:nvPr>
            <p:ph type="sldNum" idx="12"/>
          </p:nvPr>
        </p:nvSpPr>
        <p:spPr>
          <a:xfrm>
            <a:off x="9265920" y="2780930"/>
            <a:ext cx="2926080" cy="1397039"/>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33896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16BC62-80EB-6A48-91AA-5CCDDB5E4AE7}"/>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9" name="Rectangle 8">
            <a:extLst>
              <a:ext uri="{FF2B5EF4-FFF2-40B4-BE49-F238E27FC236}">
                <a16:creationId xmlns:a16="http://schemas.microsoft.com/office/drawing/2014/main" id="{DB4CECD4-62E1-7094-EE64-51040DA522A0}"/>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Placeholder 1">
            <a:extLst>
              <a:ext uri="{FF2B5EF4-FFF2-40B4-BE49-F238E27FC236}">
                <a16:creationId xmlns:a16="http://schemas.microsoft.com/office/drawing/2014/main" id="{A3E0B69E-9EA9-2F5B-8C53-68F1A31CED59}"/>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57573C21-5CBF-DDA2-32F1-61FF22A03A9B}"/>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377DA1BB-B518-F9E9-A4BB-C90FF5B81D64}"/>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r>
              <a:rPr lang="es-AR"/>
              <a:t>2026</a:t>
            </a:r>
            <a:endParaRPr lang="es-ES"/>
          </a:p>
        </p:txBody>
      </p:sp>
      <p:sp>
        <p:nvSpPr>
          <p:cNvPr id="5" name="Footer Placeholder 4">
            <a:extLst>
              <a:ext uri="{FF2B5EF4-FFF2-40B4-BE49-F238E27FC236}">
                <a16:creationId xmlns:a16="http://schemas.microsoft.com/office/drawing/2014/main" id="{C24899E6-4FE1-AB0B-39F5-9369FD5160E2}"/>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r>
              <a:rPr lang="es-ES"/>
              <a:t>INGENIERÍA DE SOFTWARE I</a:t>
            </a:r>
          </a:p>
        </p:txBody>
      </p:sp>
      <p:sp>
        <p:nvSpPr>
          <p:cNvPr id="6" name="Slide Number Placeholder 5">
            <a:extLst>
              <a:ext uri="{FF2B5EF4-FFF2-40B4-BE49-F238E27FC236}">
                <a16:creationId xmlns:a16="http://schemas.microsoft.com/office/drawing/2014/main" id="{4BBF12A3-F1F3-CDCE-28F5-8D4205A88739}"/>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ES" smtClean="0"/>
              <a:t>‹Nº›</a:t>
            </a:fld>
            <a:endParaRPr lang="es-ES"/>
          </a:p>
        </p:txBody>
      </p:sp>
      <p:cxnSp>
        <p:nvCxnSpPr>
          <p:cNvPr id="10" name="Straight Connector 9">
            <a:extLst>
              <a:ext uri="{FF2B5EF4-FFF2-40B4-BE49-F238E27FC236}">
                <a16:creationId xmlns:a16="http://schemas.microsoft.com/office/drawing/2014/main" id="{75749874-E946-59B7-87F7-6D06B2D56870}"/>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006D9384-4CC2-58F5-2E39-FB4BEB43C92A}"/>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87335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share.gemini.google/aFGXgZPpfi1F"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hyperlink" Target="https://share.gemini.google/S4itbtnW3JHd"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
          <p:cNvSpPr txBox="1">
            <a:spLocks noGrp="1"/>
          </p:cNvSpPr>
          <p:nvPr>
            <p:ph type="ctrTitle"/>
          </p:nvPr>
        </p:nvSpPr>
        <p:spPr>
          <a:xfrm>
            <a:off x="1097280" y="758952"/>
            <a:ext cx="10058400" cy="3566160"/>
          </a:xfrm>
          <a:prstGeom prst="rect">
            <a:avLst/>
          </a:prstGeom>
          <a:noFill/>
          <a:ln>
            <a:noFill/>
          </a:ln>
        </p:spPr>
        <p:txBody>
          <a:bodyPr spcFirstLastPara="1" wrap="square" lIns="91050" tIns="45500" rIns="91050" bIns="45500" anchor="b" anchorCtr="0">
            <a:noAutofit/>
          </a:bodyPr>
          <a:lstStyle/>
          <a:p>
            <a:pPr marL="0" lvl="0" indent="0" algn="l" rtl="0">
              <a:lnSpc>
                <a:spcPct val="85000"/>
              </a:lnSpc>
              <a:spcBef>
                <a:spcPts val="0"/>
              </a:spcBef>
              <a:spcAft>
                <a:spcPts val="0"/>
              </a:spcAft>
              <a:buClr>
                <a:srgbClr val="C00000"/>
              </a:buClr>
              <a:buSzPts val="3300"/>
              <a:buFont typeface="Calibri"/>
              <a:buNone/>
            </a:pPr>
            <a:r>
              <a:rPr lang="es-ES"/>
              <a:t>Ingeniería de Software I</a:t>
            </a:r>
            <a:endParaRPr/>
          </a:p>
        </p:txBody>
      </p:sp>
      <p:sp>
        <p:nvSpPr>
          <p:cNvPr id="129" name="Google Shape;129;p3"/>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s-ES" dirty="0"/>
              <a:t>2026 – CLASE 5</a:t>
            </a:r>
            <a:endParaRPr dirty="0"/>
          </a:p>
        </p:txBody>
      </p:sp>
      <p:sp>
        <p:nvSpPr>
          <p:cNvPr id="130" name="Google Shape;130;p3"/>
          <p:cNvSpPr txBox="1">
            <a:spLocks noGrp="1"/>
          </p:cNvSpPr>
          <p:nvPr>
            <p:ph type="sldNum" idx="12"/>
          </p:nvPr>
        </p:nvSpPr>
        <p:spPr>
          <a:xfrm>
            <a:off x="9901238" y="6459538"/>
            <a:ext cx="1311275" cy="365125"/>
          </a:xfrm>
          <a:prstGeom prst="rect">
            <a:avLst/>
          </a:prstGeom>
          <a:noFill/>
          <a:ln>
            <a:noFill/>
          </a:ln>
        </p:spPr>
        <p:txBody>
          <a:bodyPr spcFirstLastPara="1" wrap="square" lIns="91050" tIns="45500" rIns="91050" bIns="45500" anchor="ctr" anchorCtr="0">
            <a:noAutofit/>
          </a:bodyPr>
          <a:lstStyle/>
          <a:p>
            <a:pPr marL="0" lvl="0" indent="0" algn="r" rtl="0">
              <a:lnSpc>
                <a:spcPct val="100000"/>
              </a:lnSpc>
              <a:spcBef>
                <a:spcPts val="0"/>
              </a:spcBef>
              <a:spcAft>
                <a:spcPts val="0"/>
              </a:spcAft>
              <a:buClr>
                <a:srgbClr val="758085"/>
              </a:buClr>
              <a:buSzPts val="1000"/>
              <a:buFont typeface="Calibri"/>
              <a:buNone/>
            </a:pPr>
            <a:fld id="{00000000-1234-1234-1234-123412341234}" type="slidenum">
              <a:rPr lang="es-ES">
                <a:solidFill>
                  <a:srgbClr val="758085"/>
                </a:solidFill>
              </a:rPr>
              <a:t>1</a:t>
            </a:fld>
            <a:endParaRPr>
              <a:solidFill>
                <a:srgbClr val="758085"/>
              </a:solidFill>
            </a:endParaRPr>
          </a:p>
        </p:txBody>
      </p:sp>
      <p:pic>
        <p:nvPicPr>
          <p:cNvPr id="131" name="Google Shape;131;p3"/>
          <p:cNvPicPr preferRelativeResize="0"/>
          <p:nvPr/>
        </p:nvPicPr>
        <p:blipFill rotWithShape="1">
          <a:blip r:embed="rId3">
            <a:alphaModFix/>
          </a:blip>
          <a:srcRect/>
          <a:stretch/>
        </p:blipFill>
        <p:spPr>
          <a:xfrm>
            <a:off x="10758413" y="4968816"/>
            <a:ext cx="1147495" cy="1147495"/>
          </a:xfrm>
          <a:prstGeom prst="rect">
            <a:avLst/>
          </a:prstGeom>
          <a:noFill/>
          <a:ln>
            <a:noFill/>
          </a:ln>
        </p:spPr>
      </p:pic>
      <p:sp>
        <p:nvSpPr>
          <p:cNvPr id="132" name="Google Shape;132;p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133" name="Google Shape;133;p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
          <p:cNvSpPr/>
          <p:nvPr/>
        </p:nvSpPr>
        <p:spPr>
          <a:xfrm>
            <a:off x="9170372" y="2852665"/>
            <a:ext cx="2851962" cy="1047817"/>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spcBef>
                <a:spcPts val="0"/>
              </a:spcBef>
              <a:spcAft>
                <a:spcPts val="0"/>
              </a:spcAft>
              <a:buClr>
                <a:schemeClr val="dk1"/>
              </a:buClr>
              <a:buSzPts val="1367"/>
              <a:buFont typeface="Calibri"/>
              <a:buNone/>
            </a:pPr>
            <a:endParaRPr sz="1367">
              <a:solidFill>
                <a:srgbClr val="000000"/>
              </a:solidFill>
              <a:latin typeface="Arial"/>
              <a:ea typeface="Arial"/>
              <a:cs typeface="Arial"/>
              <a:sym typeface="Arial"/>
            </a:endParaRPr>
          </a:p>
        </p:txBody>
      </p:sp>
      <p:sp>
        <p:nvSpPr>
          <p:cNvPr id="141" name="Google Shape;141;p1"/>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spcBef>
                <a:spcPts val="0"/>
              </a:spcBef>
              <a:spcAft>
                <a:spcPts val="0"/>
              </a:spcAft>
              <a:buClr>
                <a:schemeClr val="dk1"/>
              </a:buClr>
              <a:buSzPts val="1367"/>
              <a:buFont typeface="Calibri"/>
              <a:buNone/>
            </a:pPr>
            <a:endParaRPr sz="1367">
              <a:solidFill>
                <a:srgbClr val="000000"/>
              </a:solidFill>
              <a:latin typeface="Arial"/>
              <a:ea typeface="Arial"/>
              <a:cs typeface="Arial"/>
              <a:sym typeface="Arial"/>
            </a:endParaRPr>
          </a:p>
        </p:txBody>
      </p:sp>
      <p:sp>
        <p:nvSpPr>
          <p:cNvPr id="142" name="Google Shape;142;p1"/>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marR="0" lvl="0" indent="-558360" algn="l" rtl="0">
              <a:lnSpc>
                <a:spcPct val="85000"/>
              </a:lnSpc>
              <a:spcBef>
                <a:spcPts val="1642"/>
              </a:spcBef>
              <a:spcAft>
                <a:spcPts val="0"/>
              </a:spcAft>
              <a:buClr>
                <a:srgbClr val="C00000"/>
              </a:buClr>
              <a:buSzPts val="3516"/>
              <a:buFont typeface="Noto Sans Symbols"/>
              <a:buChar char="❖"/>
            </a:pPr>
            <a:r>
              <a:rPr lang="es-ES" sz="3516" dirty="0">
                <a:solidFill>
                  <a:srgbClr val="000000"/>
                </a:solidFill>
                <a:latin typeface="Calibri"/>
                <a:ea typeface="Calibri"/>
                <a:cs typeface="Calibri"/>
                <a:sym typeface="Calibri"/>
              </a:rPr>
              <a:t>Especificación de requerimientos</a:t>
            </a:r>
            <a:endParaRPr sz="3516" dirty="0">
              <a:solidFill>
                <a:srgbClr val="000000"/>
              </a:solidFill>
              <a:latin typeface="Arial"/>
              <a:ea typeface="Arial"/>
              <a:cs typeface="Arial"/>
              <a:sym typeface="Arial"/>
            </a:endParaRPr>
          </a:p>
          <a:p>
            <a:pPr marL="1451454" marR="0" lvl="3" indent="-558360" algn="l" rtl="0">
              <a:lnSpc>
                <a:spcPct val="85000"/>
              </a:lnSpc>
              <a:spcBef>
                <a:spcPts val="756"/>
              </a:spcBef>
              <a:spcAft>
                <a:spcPts val="0"/>
              </a:spcAft>
              <a:buClr>
                <a:srgbClr val="000000"/>
              </a:buClr>
              <a:buSzPts val="3600"/>
              <a:buFont typeface="Arial"/>
              <a:buChar char="•"/>
            </a:pPr>
            <a:r>
              <a:rPr lang="es-ES" sz="3516" b="0" i="0" u="none" strike="noStrike" cap="none" dirty="0">
                <a:solidFill>
                  <a:srgbClr val="000000"/>
                </a:solidFill>
                <a:latin typeface="Calibri"/>
                <a:ea typeface="Calibri"/>
                <a:cs typeface="Calibri"/>
                <a:sym typeface="Calibri"/>
              </a:rPr>
              <a:t>Diagrama de Transición de Estados (DTE)</a:t>
            </a:r>
            <a:endParaRPr sz="3516" b="0" i="0" u="none" strike="noStrike" cap="none" dirty="0">
              <a:solidFill>
                <a:srgbClr val="000000"/>
              </a:solidFill>
              <a:latin typeface="Arial"/>
              <a:ea typeface="Arial"/>
              <a:cs typeface="Arial"/>
              <a:sym typeface="Arial"/>
            </a:endParaRPr>
          </a:p>
          <a:p>
            <a:pPr marL="0" marR="0" lvl="0" indent="0" algn="l" rtl="0">
              <a:lnSpc>
                <a:spcPct val="85000"/>
              </a:lnSpc>
              <a:spcBef>
                <a:spcPts val="1642"/>
              </a:spcBef>
              <a:spcAft>
                <a:spcPts val="0"/>
              </a:spcAft>
              <a:buClr>
                <a:schemeClr val="dk1"/>
              </a:buClr>
              <a:buSzPts val="3516"/>
              <a:buFont typeface="Calibri"/>
              <a:buNone/>
            </a:pPr>
            <a:endParaRPr sz="3516" dirty="0">
              <a:solidFill>
                <a:srgbClr val="000000"/>
              </a:solidFill>
              <a:latin typeface="Arial"/>
              <a:ea typeface="Arial"/>
              <a:cs typeface="Arial"/>
              <a:sym typeface="Arial"/>
            </a:endParaRPr>
          </a:p>
        </p:txBody>
      </p:sp>
      <p:sp>
        <p:nvSpPr>
          <p:cNvPr id="143" name="Google Shape;143;p1"/>
          <p:cNvSpPr txBox="1">
            <a:spLocks noGrp="1"/>
          </p:cNvSpPr>
          <p:nvPr>
            <p:ph type="title"/>
          </p:nvPr>
        </p:nvSpPr>
        <p:spPr>
          <a:xfrm>
            <a:off x="1222279" y="287339"/>
            <a:ext cx="9806257" cy="1449387"/>
          </a:xfrm>
          <a:prstGeom prst="rect">
            <a:avLst/>
          </a:prstGeom>
          <a:noFill/>
          <a:ln>
            <a:noFill/>
          </a:ln>
        </p:spPr>
        <p:txBody>
          <a:bodyPr spcFirstLastPara="1" wrap="square" lIns="89275" tIns="44625" rIns="89275" bIns="44625" anchor="b" anchorCtr="0">
            <a:noAutofit/>
          </a:bodyPr>
          <a:lstStyle/>
          <a:p>
            <a:pPr marL="0" lvl="0" indent="0" algn="l" rtl="0">
              <a:lnSpc>
                <a:spcPct val="85000"/>
              </a:lnSpc>
              <a:spcBef>
                <a:spcPts val="0"/>
              </a:spcBef>
              <a:spcAft>
                <a:spcPts val="0"/>
              </a:spcAft>
              <a:buClr>
                <a:schemeClr val="dk1"/>
              </a:buClr>
              <a:buSzPts val="4400"/>
              <a:buFont typeface="Calibri"/>
              <a:buNone/>
            </a:pPr>
            <a:r>
              <a:rPr lang="es-ES"/>
              <a:t>Contenidos</a:t>
            </a:r>
            <a:endParaRPr/>
          </a:p>
        </p:txBody>
      </p:sp>
      <p:sp>
        <p:nvSpPr>
          <p:cNvPr id="144" name="Google Shape;144;p1"/>
          <p:cNvSpPr txBox="1">
            <a:spLocks noGrp="1"/>
          </p:cNvSpPr>
          <p:nvPr>
            <p:ph type="dt" idx="10"/>
          </p:nvPr>
        </p:nvSpPr>
        <p:spPr>
          <a:xfrm>
            <a:off x="1222279" y="6459540"/>
            <a:ext cx="2411324" cy="365125"/>
          </a:xfrm>
          <a:prstGeom prst="rect">
            <a:avLst/>
          </a:prstGeom>
          <a:noFill/>
          <a:ln>
            <a:noFill/>
          </a:ln>
        </p:spPr>
        <p:txBody>
          <a:bodyPr spcFirstLastPara="1" wrap="square" lIns="89275" tIns="44625" rIns="89275" bIns="44625"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145" name="Google Shape;145;p1"/>
          <p:cNvSpPr txBox="1">
            <a:spLocks noGrp="1"/>
          </p:cNvSpPr>
          <p:nvPr>
            <p:ph type="ftr" idx="11"/>
          </p:nvPr>
        </p:nvSpPr>
        <p:spPr>
          <a:xfrm>
            <a:off x="3746586" y="6459540"/>
            <a:ext cx="4701927" cy="365125"/>
          </a:xfrm>
          <a:prstGeom prst="rect">
            <a:avLst/>
          </a:prstGeom>
          <a:noFill/>
          <a:ln>
            <a:noFill/>
          </a:ln>
        </p:spPr>
        <p:txBody>
          <a:bodyPr spcFirstLastPara="1" wrap="square" lIns="89275" tIns="44625" rIns="89275" bIns="44625"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146" name="Google Shape;146;p1"/>
          <p:cNvSpPr txBox="1">
            <a:spLocks noGrp="1"/>
          </p:cNvSpPr>
          <p:nvPr>
            <p:ph type="sldNum" idx="12"/>
          </p:nvPr>
        </p:nvSpPr>
        <p:spPr>
          <a:xfrm>
            <a:off x="9805850" y="6459540"/>
            <a:ext cx="1278405" cy="365125"/>
          </a:xfrm>
          <a:prstGeom prst="rect">
            <a:avLst/>
          </a:prstGeom>
          <a:noFill/>
          <a:ln>
            <a:noFill/>
          </a:ln>
        </p:spPr>
        <p:txBody>
          <a:bodyPr spcFirstLastPara="1" wrap="square" lIns="89275" tIns="44625" rIns="89275" bIns="44625"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62"/>
          <p:cNvSpPr txBox="1">
            <a:spLocks noGrp="1"/>
          </p:cNvSpPr>
          <p:nvPr>
            <p:ph type="title"/>
          </p:nvPr>
        </p:nvSpPr>
        <p:spPr>
          <a:xfrm>
            <a:off x="457199" y="594359"/>
            <a:ext cx="3432876" cy="2286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262626"/>
              </a:buClr>
              <a:buSzPts val="4800"/>
              <a:buFont typeface="Calibri"/>
              <a:buNone/>
            </a:pPr>
            <a:r>
              <a:rPr lang="es-ES"/>
              <a:t>Técnicas de Especificación de Requerimientos</a:t>
            </a:r>
            <a:endParaRPr/>
          </a:p>
        </p:txBody>
      </p:sp>
      <p:sp>
        <p:nvSpPr>
          <p:cNvPr id="369" name="Google Shape;369;p62"/>
          <p:cNvSpPr txBox="1">
            <a:spLocks noGrp="1"/>
          </p:cNvSpPr>
          <p:nvPr>
            <p:ph type="body" idx="2"/>
          </p:nvPr>
        </p:nvSpPr>
        <p:spPr>
          <a:xfrm>
            <a:off x="457200" y="2926080"/>
            <a:ext cx="3282696" cy="337912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200"/>
              </a:spcBef>
              <a:spcAft>
                <a:spcPts val="200"/>
              </a:spcAft>
              <a:buSzPts val="3600"/>
              <a:buNone/>
            </a:pPr>
            <a:r>
              <a:rPr lang="es-ES" sz="2800" dirty="0">
                <a:latin typeface="Calibri"/>
                <a:ea typeface="Calibri"/>
                <a:cs typeface="Calibri"/>
                <a:sym typeface="Calibri"/>
              </a:rPr>
              <a:t>Diagrama de Transición de Estados</a:t>
            </a:r>
            <a:endParaRPr sz="1200" dirty="0"/>
          </a:p>
        </p:txBody>
      </p:sp>
      <p:sp>
        <p:nvSpPr>
          <p:cNvPr id="370" name="Google Shape;370;p62"/>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71" name="Google Shape;371;p62"/>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900"/>
              <a:buFont typeface="Calibri"/>
              <a:buNone/>
            </a:pPr>
            <a:r>
              <a:rPr lang="es-ES"/>
              <a:t>INGENIERÍA DE SOFTWARE I</a:t>
            </a:r>
            <a:endParaRPr/>
          </a:p>
        </p:txBody>
      </p:sp>
      <p:sp>
        <p:nvSpPr>
          <p:cNvPr id="372" name="Google Shape;372;p6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C00000"/>
              </a:buClr>
              <a:buSzPts val="1050"/>
              <a:buFont typeface="Calibri"/>
              <a:buNone/>
            </a:pPr>
            <a:fld id="{00000000-1234-1234-1234-123412341234}" type="slidenum">
              <a:rPr lang="es-ES">
                <a:solidFill>
                  <a:srgbClr val="C00000"/>
                </a:solidFill>
              </a:rPr>
              <a:t>3</a:t>
            </a:fld>
            <a:endParaRPr>
              <a:solidFill>
                <a:srgbClr val="C00000"/>
              </a:solidFill>
            </a:endParaRPr>
          </a:p>
        </p:txBody>
      </p:sp>
      <p:sp>
        <p:nvSpPr>
          <p:cNvPr id="2" name="Marcador de contenido 1">
            <a:extLst>
              <a:ext uri="{FF2B5EF4-FFF2-40B4-BE49-F238E27FC236}">
                <a16:creationId xmlns:a16="http://schemas.microsoft.com/office/drawing/2014/main" id="{00877FE1-9E44-E5A0-9E26-DFB08F54DCF9}"/>
              </a:ext>
            </a:extLst>
          </p:cNvPr>
          <p:cNvSpPr>
            <a:spLocks noGrp="1"/>
          </p:cNvSpPr>
          <p:nvPr>
            <p:ph idx="1"/>
          </p:nvPr>
        </p:nvSpPr>
        <p:spPr/>
        <p:txBody>
          <a:bodyPr/>
          <a:lstStyle/>
          <a:p>
            <a:endParaRPr lang="es-AR"/>
          </a:p>
        </p:txBody>
      </p:sp>
      <p:pic>
        <p:nvPicPr>
          <p:cNvPr id="4" name="Google Shape;236;p5">
            <a:extLst>
              <a:ext uri="{FF2B5EF4-FFF2-40B4-BE49-F238E27FC236}">
                <a16:creationId xmlns:a16="http://schemas.microsoft.com/office/drawing/2014/main" id="{45C0CF4B-FA65-C955-9025-486C8F8951B9}"/>
              </a:ext>
            </a:extLst>
          </p:cNvPr>
          <p:cNvPicPr preferRelativeResize="0"/>
          <p:nvPr/>
        </p:nvPicPr>
        <p:blipFill rotWithShape="1">
          <a:blip r:embed="rId3">
            <a:alphaModFix/>
          </a:blip>
          <a:srcRect/>
          <a:stretch/>
        </p:blipFill>
        <p:spPr>
          <a:xfrm>
            <a:off x="5403739" y="484449"/>
            <a:ext cx="5889101" cy="58891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3"/>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4</a:t>
            </a:fld>
            <a:endParaRPr/>
          </a:p>
        </p:txBody>
      </p:sp>
      <p:sp>
        <p:nvSpPr>
          <p:cNvPr id="383" name="Google Shape;383;p63"/>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Describe al sistema como un conjunto de estados donde el sistema reacciona a ciertos eventos posibles (externos o internos). </a:t>
            </a:r>
          </a:p>
          <a:p>
            <a:pPr marR="0" lvl="0" algn="just" rtl="0">
              <a:spcBef>
                <a:spcPts val="0"/>
              </a:spcBef>
              <a:spcAft>
                <a:spcPts val="300"/>
              </a:spcAft>
              <a:buClr>
                <a:srgbClr val="C00000"/>
              </a:buClr>
              <a:buSzPts val="2789"/>
            </a:pPr>
            <a:endParaRPr lang="es-ES" sz="2600" dirty="0">
              <a:solidFill>
                <a:schemeClr val="dk1"/>
              </a:solidFill>
              <a:latin typeface="Calibri"/>
              <a:ea typeface="Calibri"/>
              <a:cs typeface="Calibri"/>
              <a:sym typeface="Calibri"/>
            </a:endParaRPr>
          </a:p>
          <a:p>
            <a:pPr marL="447675" marR="0" lvl="0" algn="just" rtl="0">
              <a:spcBef>
                <a:spcPts val="0"/>
              </a:spcBef>
              <a:spcAft>
                <a:spcPts val="300"/>
              </a:spcAft>
              <a:buClr>
                <a:srgbClr val="C00000"/>
              </a:buClr>
              <a:buSzPts val="2789"/>
            </a:pPr>
            <a:r>
              <a:rPr lang="es-ES" sz="2600" dirty="0">
                <a:solidFill>
                  <a:schemeClr val="dk1"/>
                </a:solidFill>
                <a:latin typeface="Calibri"/>
                <a:ea typeface="Calibri"/>
                <a:cs typeface="Calibri"/>
                <a:sym typeface="Calibri"/>
              </a:rPr>
              <a:t>f(Si, </a:t>
            </a:r>
            <a:r>
              <a:rPr lang="es-ES" sz="2600" dirty="0" err="1">
                <a:solidFill>
                  <a:schemeClr val="dk1"/>
                </a:solidFill>
                <a:latin typeface="Calibri"/>
                <a:ea typeface="Calibri"/>
                <a:cs typeface="Calibri"/>
                <a:sym typeface="Calibri"/>
              </a:rPr>
              <a:t>Cj</a:t>
            </a:r>
            <a:r>
              <a:rPr lang="es-ES" sz="2600" dirty="0">
                <a:solidFill>
                  <a:schemeClr val="dk1"/>
                </a:solidFill>
                <a:latin typeface="Calibri"/>
                <a:ea typeface="Calibri"/>
                <a:cs typeface="Calibri"/>
                <a:sym typeface="Calibri"/>
              </a:rPr>
              <a:t>) = </a:t>
            </a:r>
            <a:r>
              <a:rPr lang="es-ES" sz="2600" dirty="0" err="1">
                <a:solidFill>
                  <a:schemeClr val="dk1"/>
                </a:solidFill>
                <a:latin typeface="Calibri"/>
                <a:ea typeface="Calibri"/>
                <a:cs typeface="Calibri"/>
                <a:sym typeface="Calibri"/>
              </a:rPr>
              <a:t>Sk</a:t>
            </a:r>
            <a:endParaRPr lang="es-ES" sz="2600" dirty="0">
              <a:solidFill>
                <a:schemeClr val="dk1"/>
              </a:solidFill>
              <a:latin typeface="Calibri"/>
              <a:ea typeface="Calibri"/>
              <a:cs typeface="Calibri"/>
              <a:sym typeface="Calibri"/>
            </a:endParaRPr>
          </a:p>
          <a:p>
            <a:pPr marL="804863" lvl="0" indent="-357188" algn="just">
              <a:spcAft>
                <a:spcPts val="300"/>
              </a:spcAft>
              <a:buClr>
                <a:srgbClr val="C00000"/>
              </a:buClr>
              <a:buSzPct val="100000"/>
              <a:buFont typeface="Calibri" panose="020F0502020204030204" pitchFamily="34" charset="0"/>
              <a:buChar char="»"/>
            </a:pPr>
            <a:r>
              <a:rPr lang="es-ES" sz="2200" dirty="0">
                <a:solidFill>
                  <a:schemeClr val="dk1"/>
                </a:solidFill>
                <a:latin typeface="Calibri"/>
                <a:ea typeface="Calibri"/>
                <a:cs typeface="Calibri"/>
                <a:sym typeface="Calibri"/>
              </a:rPr>
              <a:t>Al estar en el estado Si, la ocurrencia de la condición </a:t>
            </a:r>
            <a:r>
              <a:rPr lang="es-ES" sz="2200" dirty="0" err="1">
                <a:solidFill>
                  <a:schemeClr val="dk1"/>
                </a:solidFill>
                <a:latin typeface="Calibri"/>
                <a:ea typeface="Calibri"/>
                <a:cs typeface="Calibri"/>
                <a:sym typeface="Calibri"/>
              </a:rPr>
              <a:t>Cj</a:t>
            </a:r>
            <a:r>
              <a:rPr lang="es-ES" sz="2200" dirty="0">
                <a:solidFill>
                  <a:schemeClr val="dk1"/>
                </a:solidFill>
                <a:latin typeface="Calibri"/>
                <a:ea typeface="Calibri"/>
                <a:cs typeface="Calibri"/>
                <a:sym typeface="Calibri"/>
              </a:rPr>
              <a:t> hace que el sistema cambie al estado </a:t>
            </a:r>
            <a:r>
              <a:rPr lang="es-ES" sz="2200" dirty="0" err="1">
                <a:solidFill>
                  <a:schemeClr val="dk1"/>
                </a:solidFill>
                <a:latin typeface="Calibri"/>
                <a:ea typeface="Calibri"/>
                <a:cs typeface="Calibri"/>
                <a:sym typeface="Calibri"/>
              </a:rPr>
              <a:t>Sk</a:t>
            </a:r>
            <a:r>
              <a:rPr lang="es-ES" sz="2200" dirty="0">
                <a:solidFill>
                  <a:schemeClr val="dk1"/>
                </a:solidFill>
                <a:latin typeface="Calibri"/>
                <a:ea typeface="Calibri"/>
                <a:cs typeface="Calibri"/>
                <a:sym typeface="Calibri"/>
              </a:rPr>
              <a:t>.</a:t>
            </a: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pic>
        <p:nvPicPr>
          <p:cNvPr id="2" name="Google Shape;241;p6" descr="a175b">
            <a:extLst>
              <a:ext uri="{FF2B5EF4-FFF2-40B4-BE49-F238E27FC236}">
                <a16:creationId xmlns:a16="http://schemas.microsoft.com/office/drawing/2014/main" id="{C86A4DBB-A3E0-EAC2-17CF-C5C5123E7E77}"/>
              </a:ext>
            </a:extLst>
          </p:cNvPr>
          <p:cNvPicPr preferRelativeResize="0"/>
          <p:nvPr/>
        </p:nvPicPr>
        <p:blipFill rotWithShape="1">
          <a:blip r:embed="rId3">
            <a:alphaModFix/>
          </a:blip>
          <a:srcRect/>
          <a:stretch/>
        </p:blipFill>
        <p:spPr>
          <a:xfrm>
            <a:off x="5628520" y="4246642"/>
            <a:ext cx="4560168" cy="210007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678263FE-3890-E6DB-3AF2-1C046EE53B8A}"/>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39C860E6-FCE6-F77A-AFCD-FCA088E4C1BD}"/>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2350A63D-88F1-8AE8-BFDA-2A990D2F2C5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FC4AD86A-5BBC-D661-3A0D-0BCCD7F8060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C92E6CB4-ABD1-58B3-121D-6D32640C517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5</a:t>
            </a:fld>
            <a:endParaRPr/>
          </a:p>
        </p:txBody>
      </p:sp>
      <p:sp>
        <p:nvSpPr>
          <p:cNvPr id="383" name="Google Shape;383;p63">
            <a:extLst>
              <a:ext uri="{FF2B5EF4-FFF2-40B4-BE49-F238E27FC236}">
                <a16:creationId xmlns:a16="http://schemas.microsoft.com/office/drawing/2014/main" id="{E39DB297-449E-75F1-4C31-F3B58F42146C}"/>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pic>
        <p:nvPicPr>
          <p:cNvPr id="2" name="Google Shape;241;p6" descr="a175b">
            <a:extLst>
              <a:ext uri="{FF2B5EF4-FFF2-40B4-BE49-F238E27FC236}">
                <a16:creationId xmlns:a16="http://schemas.microsoft.com/office/drawing/2014/main" id="{E4A04EE1-1B8F-7AEF-C7EE-011520DEFBF0}"/>
              </a:ext>
            </a:extLst>
          </p:cNvPr>
          <p:cNvPicPr preferRelativeResize="0"/>
          <p:nvPr/>
        </p:nvPicPr>
        <p:blipFill rotWithShape="1">
          <a:blip r:embed="rId3">
            <a:alphaModFix/>
          </a:blip>
          <a:srcRect/>
          <a:stretch/>
        </p:blipFill>
        <p:spPr>
          <a:xfrm>
            <a:off x="1797184" y="2378961"/>
            <a:ext cx="4560168" cy="2100077"/>
          </a:xfrm>
          <a:prstGeom prst="rect">
            <a:avLst/>
          </a:prstGeom>
          <a:noFill/>
          <a:ln>
            <a:noFill/>
          </a:ln>
        </p:spPr>
      </p:pic>
      <p:sp>
        <p:nvSpPr>
          <p:cNvPr id="3" name="Google Shape;253;p7">
            <a:extLst>
              <a:ext uri="{FF2B5EF4-FFF2-40B4-BE49-F238E27FC236}">
                <a16:creationId xmlns:a16="http://schemas.microsoft.com/office/drawing/2014/main" id="{3189987C-0907-D6C8-D0A9-1EDD09F66D6C}"/>
              </a:ext>
            </a:extLst>
          </p:cNvPr>
          <p:cNvSpPr/>
          <p:nvPr/>
        </p:nvSpPr>
        <p:spPr>
          <a:xfrm>
            <a:off x="8184232" y="2636912"/>
            <a:ext cx="1872208"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1800" b="0" i="0" u="none" strike="noStrike" cap="none" dirty="0">
                <a:solidFill>
                  <a:srgbClr val="000000"/>
                </a:solidFill>
                <a:latin typeface="+mn-lt"/>
                <a:ea typeface="Arial"/>
                <a:cs typeface="Arial"/>
                <a:sym typeface="Arial"/>
              </a:rPr>
              <a:t> f(S1, 0) = S2</a:t>
            </a:r>
            <a:endParaRPr sz="18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1800" b="0" i="0" u="none" strike="noStrike" cap="none" dirty="0">
                <a:solidFill>
                  <a:srgbClr val="000000"/>
                </a:solidFill>
                <a:latin typeface="+mn-lt"/>
                <a:ea typeface="Arial"/>
                <a:cs typeface="Arial"/>
                <a:sym typeface="Arial"/>
              </a:rPr>
              <a:t> f(S1, 1) = S1</a:t>
            </a:r>
            <a:endParaRPr sz="18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1800" b="0" i="0" u="none" strike="noStrike" cap="none" dirty="0">
                <a:solidFill>
                  <a:srgbClr val="000000"/>
                </a:solidFill>
                <a:latin typeface="+mn-lt"/>
                <a:ea typeface="Arial"/>
                <a:cs typeface="Arial"/>
                <a:sym typeface="Arial"/>
              </a:rPr>
              <a:t> f(S2, 0) = S2</a:t>
            </a:r>
            <a:endParaRPr sz="18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1800" b="0" i="0" u="none" strike="noStrike" cap="none" dirty="0">
                <a:solidFill>
                  <a:srgbClr val="000000"/>
                </a:solidFill>
                <a:latin typeface="+mn-lt"/>
                <a:ea typeface="Arial"/>
                <a:cs typeface="Arial"/>
                <a:sym typeface="Arial"/>
              </a:rPr>
              <a:t> f(S2, 1) = S1</a:t>
            </a:r>
            <a:endParaRPr sz="18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1800" b="0" i="0" u="none" strike="noStrike" cap="none" dirty="0">
                <a:solidFill>
                  <a:srgbClr val="000000"/>
                </a:solidFill>
                <a:latin typeface="+mn-lt"/>
                <a:ea typeface="Arial"/>
                <a:cs typeface="Arial"/>
                <a:sym typeface="Arial"/>
              </a:rPr>
              <a:t> f(S3, 0) = S1</a:t>
            </a:r>
            <a:endParaRPr sz="1800" b="0" i="0" u="none" strike="noStrike" cap="none"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1800" b="0" i="0" u="none" strike="noStrike" cap="none" dirty="0">
                <a:solidFill>
                  <a:srgbClr val="000000"/>
                </a:solidFill>
                <a:latin typeface="+mn-lt"/>
                <a:ea typeface="Arial"/>
                <a:cs typeface="Arial"/>
                <a:sym typeface="Arial"/>
              </a:rPr>
              <a:t> f(S3, 1) = S3</a:t>
            </a:r>
            <a:endParaRPr sz="1800" b="0" i="0" u="none" strike="noStrike" cap="none" dirty="0">
              <a:solidFill>
                <a:srgbClr val="000000"/>
              </a:solidFill>
              <a:latin typeface="+mn-lt"/>
              <a:ea typeface="Arial"/>
              <a:cs typeface="Arial"/>
              <a:sym typeface="Arial"/>
            </a:endParaRPr>
          </a:p>
        </p:txBody>
      </p:sp>
      <p:sp>
        <p:nvSpPr>
          <p:cNvPr id="5" name="CuadroTexto 4">
            <a:extLst>
              <a:ext uri="{FF2B5EF4-FFF2-40B4-BE49-F238E27FC236}">
                <a16:creationId xmlns:a16="http://schemas.microsoft.com/office/drawing/2014/main" id="{44167A3E-D4B8-92CB-C61D-873914138F2C}"/>
              </a:ext>
            </a:extLst>
          </p:cNvPr>
          <p:cNvSpPr txBox="1"/>
          <p:nvPr/>
        </p:nvSpPr>
        <p:spPr>
          <a:xfrm>
            <a:off x="979487" y="1886518"/>
            <a:ext cx="6094476" cy="461665"/>
          </a:xfrm>
          <a:prstGeom prst="rect">
            <a:avLst/>
          </a:prstGeom>
          <a:noFill/>
        </p:spPr>
        <p:txBody>
          <a:bodyPr wrap="square">
            <a:spAutoFit/>
          </a:bodyPr>
          <a:lstStyle/>
          <a:p>
            <a:pPr marL="447675" marR="0" lvl="0" algn="just" rtl="0">
              <a:spcBef>
                <a:spcPts val="0"/>
              </a:spcBef>
              <a:spcAft>
                <a:spcPts val="300"/>
              </a:spcAft>
              <a:buClr>
                <a:srgbClr val="C00000"/>
              </a:buClr>
              <a:buSzPts val="2789"/>
            </a:pPr>
            <a:r>
              <a:rPr lang="es-ES" sz="2400" dirty="0">
                <a:solidFill>
                  <a:schemeClr val="dk1"/>
                </a:solidFill>
                <a:latin typeface="Calibri"/>
                <a:ea typeface="Calibri"/>
                <a:cs typeface="Calibri"/>
                <a:sym typeface="Calibri"/>
              </a:rPr>
              <a:t>f(Si, </a:t>
            </a:r>
            <a:r>
              <a:rPr lang="es-ES" sz="2400" dirty="0" err="1">
                <a:solidFill>
                  <a:schemeClr val="dk1"/>
                </a:solidFill>
                <a:latin typeface="Calibri"/>
                <a:ea typeface="Calibri"/>
                <a:cs typeface="Calibri"/>
                <a:sym typeface="Calibri"/>
              </a:rPr>
              <a:t>Cj</a:t>
            </a:r>
            <a:r>
              <a:rPr lang="es-ES" sz="2400" dirty="0">
                <a:solidFill>
                  <a:schemeClr val="dk1"/>
                </a:solidFill>
                <a:latin typeface="Calibri"/>
                <a:ea typeface="Calibri"/>
                <a:cs typeface="Calibri"/>
                <a:sym typeface="Calibri"/>
              </a:rPr>
              <a:t>) = </a:t>
            </a:r>
            <a:r>
              <a:rPr lang="es-ES" sz="2400" dirty="0" err="1">
                <a:solidFill>
                  <a:schemeClr val="dk1"/>
                </a:solidFill>
                <a:latin typeface="Calibri"/>
                <a:ea typeface="Calibri"/>
                <a:cs typeface="Calibri"/>
                <a:sym typeface="Calibri"/>
              </a:rPr>
              <a:t>Sk</a:t>
            </a:r>
            <a:endParaRPr lang="es-ES"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20895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118DEA25-A017-C01E-ADC8-5DED46E8B528}"/>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1EC2CCE9-D759-EEC2-20AE-375263CFA3C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28CF2BEF-0F10-7758-681D-D2839CC188F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1E3A1D29-3FA3-2C21-26F3-A34E9D21FAC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DF4C85AD-A97F-E942-5A4B-94BF4FFE6AD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6</a:t>
            </a:fld>
            <a:endParaRPr/>
          </a:p>
        </p:txBody>
      </p:sp>
      <p:sp>
        <p:nvSpPr>
          <p:cNvPr id="383" name="Google Shape;383;p63">
            <a:extLst>
              <a:ext uri="{FF2B5EF4-FFF2-40B4-BE49-F238E27FC236}">
                <a16:creationId xmlns:a16="http://schemas.microsoft.com/office/drawing/2014/main" id="{616A089C-D793-14C8-BB38-024F388CDDAE}"/>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El DVD pasa por diferentes estados, dependiendo de lo que “escucha” del control remoto.</a:t>
            </a:r>
          </a:p>
          <a:p>
            <a:pPr marL="447675" marR="0" lvl="0" algn="just" rtl="0">
              <a:spcBef>
                <a:spcPts val="0"/>
              </a:spcBef>
              <a:spcAft>
                <a:spcPts val="300"/>
              </a:spcAft>
              <a:buClr>
                <a:srgbClr val="C00000"/>
              </a:buClr>
              <a:buSzPts val="2789"/>
            </a:pPr>
            <a:endParaRPr lang="es-ES" sz="2200" dirty="0">
              <a:solidFill>
                <a:schemeClr val="dk1"/>
              </a:solidFill>
              <a:latin typeface="Calibri"/>
              <a:ea typeface="Calibri"/>
              <a:cs typeface="Calibri"/>
              <a:sym typeface="Calibri"/>
            </a:endParaRP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pic>
        <p:nvPicPr>
          <p:cNvPr id="4" name="Google Shape;264;p8" descr="http://tv-hifi.info/wp-content/uploads/2012/07/tv-hifi.jpg">
            <a:extLst>
              <a:ext uri="{FF2B5EF4-FFF2-40B4-BE49-F238E27FC236}">
                <a16:creationId xmlns:a16="http://schemas.microsoft.com/office/drawing/2014/main" id="{0068C958-D883-B0BE-0A95-3452EF6E34D3}"/>
              </a:ext>
            </a:extLst>
          </p:cNvPr>
          <p:cNvPicPr preferRelativeResize="0"/>
          <p:nvPr/>
        </p:nvPicPr>
        <p:blipFill rotWithShape="1">
          <a:blip r:embed="rId3">
            <a:alphaModFix/>
          </a:blip>
          <a:srcRect l="11380" t="25849" r="11693" b="14724"/>
          <a:stretch/>
        </p:blipFill>
        <p:spPr>
          <a:xfrm>
            <a:off x="227515" y="2777664"/>
            <a:ext cx="2106110" cy="585722"/>
          </a:xfrm>
          <a:prstGeom prst="rect">
            <a:avLst/>
          </a:prstGeom>
          <a:noFill/>
          <a:ln>
            <a:noFill/>
          </a:ln>
        </p:spPr>
      </p:pic>
      <p:pic>
        <p:nvPicPr>
          <p:cNvPr id="6" name="Google Shape;261;p8">
            <a:extLst>
              <a:ext uri="{FF2B5EF4-FFF2-40B4-BE49-F238E27FC236}">
                <a16:creationId xmlns:a16="http://schemas.microsoft.com/office/drawing/2014/main" id="{7ED1E0DB-C68D-BD01-A428-342023E475B5}"/>
              </a:ext>
            </a:extLst>
          </p:cNvPr>
          <p:cNvPicPr preferRelativeResize="0"/>
          <p:nvPr/>
        </p:nvPicPr>
        <p:blipFill rotWithShape="1">
          <a:blip r:embed="rId4"/>
          <a:srcRect t="26495"/>
          <a:stretch/>
        </p:blipFill>
        <p:spPr>
          <a:xfrm>
            <a:off x="3257694" y="3187832"/>
            <a:ext cx="6000750" cy="2397200"/>
          </a:xfrm>
          <a:prstGeom prst="rect">
            <a:avLst/>
          </a:prstGeom>
        </p:spPr>
      </p:pic>
      <p:sp>
        <p:nvSpPr>
          <p:cNvPr id="8" name="Google Shape;262;p8">
            <a:extLst>
              <a:ext uri="{FF2B5EF4-FFF2-40B4-BE49-F238E27FC236}">
                <a16:creationId xmlns:a16="http://schemas.microsoft.com/office/drawing/2014/main" id="{804E3189-1AA1-9667-7F4C-F070418E9DD8}"/>
              </a:ext>
            </a:extLst>
          </p:cNvPr>
          <p:cNvSpPr/>
          <p:nvPr/>
        </p:nvSpPr>
        <p:spPr>
          <a:xfrm>
            <a:off x="2019996" y="4288050"/>
            <a:ext cx="1296144" cy="396624"/>
          </a:xfrm>
          <a:prstGeom prst="borderCallout2">
            <a:avLst>
              <a:gd name="adj1" fmla="val 48721"/>
              <a:gd name="adj2" fmla="val 99605"/>
              <a:gd name="adj3" fmla="val 48721"/>
              <a:gd name="adj4" fmla="val 117374"/>
              <a:gd name="adj5" fmla="val -32744"/>
              <a:gd name="adj6" fmla="val 168503"/>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ysClr val="windowText" lastClr="000000"/>
                </a:solidFill>
                <a:latin typeface="Arial"/>
                <a:ea typeface="Arial"/>
                <a:cs typeface="Arial"/>
                <a:sym typeface="Arial"/>
              </a:rPr>
              <a:t>Estados</a:t>
            </a:r>
            <a:endParaRPr sz="1400" b="0" i="0" u="none" strike="noStrike" cap="none">
              <a:solidFill>
                <a:sysClr val="windowText" lastClr="000000"/>
              </a:solidFill>
              <a:latin typeface="Arial"/>
              <a:ea typeface="Arial"/>
              <a:cs typeface="Arial"/>
              <a:sym typeface="Arial"/>
            </a:endParaRPr>
          </a:p>
        </p:txBody>
      </p:sp>
      <p:sp>
        <p:nvSpPr>
          <p:cNvPr id="10" name="Google Shape;262;p8">
            <a:extLst>
              <a:ext uri="{FF2B5EF4-FFF2-40B4-BE49-F238E27FC236}">
                <a16:creationId xmlns:a16="http://schemas.microsoft.com/office/drawing/2014/main" id="{35AE5756-BF63-E048-2851-704EC403E19A}"/>
              </a:ext>
            </a:extLst>
          </p:cNvPr>
          <p:cNvSpPr/>
          <p:nvPr/>
        </p:nvSpPr>
        <p:spPr>
          <a:xfrm>
            <a:off x="9258444" y="4532000"/>
            <a:ext cx="1296144" cy="396624"/>
          </a:xfrm>
          <a:prstGeom prst="borderCallout2">
            <a:avLst>
              <a:gd name="adj1" fmla="val 44110"/>
              <a:gd name="adj2" fmla="val 838"/>
              <a:gd name="adj3" fmla="val 44110"/>
              <a:gd name="adj4" fmla="val -14551"/>
              <a:gd name="adj5" fmla="val 147082"/>
              <a:gd name="adj6" fmla="val -49489"/>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dirty="0">
                <a:solidFill>
                  <a:sysClr val="windowText" lastClr="000000"/>
                </a:solidFill>
                <a:latin typeface="Arial"/>
                <a:ea typeface="Arial"/>
                <a:cs typeface="Arial"/>
                <a:sym typeface="Arial"/>
              </a:rPr>
              <a:t>Transiciones</a:t>
            </a:r>
            <a:endParaRPr sz="1400" b="0" i="0" u="none" strike="noStrike" cap="none" dirty="0">
              <a:solidFill>
                <a:sysClr val="windowText" lastClr="000000"/>
              </a:solidFill>
              <a:latin typeface="Arial"/>
              <a:ea typeface="Arial"/>
              <a:cs typeface="Arial"/>
              <a:sym typeface="Arial"/>
            </a:endParaRPr>
          </a:p>
        </p:txBody>
      </p:sp>
    </p:spTree>
    <p:extLst>
      <p:ext uri="{BB962C8B-B14F-4D97-AF65-F5344CB8AC3E}">
        <p14:creationId xmlns:p14="http://schemas.microsoft.com/office/powerpoint/2010/main" val="2249051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1C30EBCC-AB4B-657D-8EF3-EE4DDC297017}"/>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F50DD9DA-BC48-EFD5-21B0-2B6ACA3D406C}"/>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43069B2E-782A-9D0B-0CA7-2681E0A3E8A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E1508FB6-60DE-36E9-D0DB-27977F9CF07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52A250D6-C1B0-962F-471C-2A4A87C3524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7</a:t>
            </a:fld>
            <a:endParaRPr/>
          </a:p>
        </p:txBody>
      </p:sp>
      <p:sp>
        <p:nvSpPr>
          <p:cNvPr id="383" name="Google Shape;383;p63">
            <a:extLst>
              <a:ext uri="{FF2B5EF4-FFF2-40B4-BE49-F238E27FC236}">
                <a16:creationId xmlns:a16="http://schemas.microsoft.com/office/drawing/2014/main" id="{A37BC7E0-8EA3-4C3C-73A4-2F6D32471AE6}"/>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
        <p:nvSpPr>
          <p:cNvPr id="3" name="Google Shape;253;p7">
            <a:extLst>
              <a:ext uri="{FF2B5EF4-FFF2-40B4-BE49-F238E27FC236}">
                <a16:creationId xmlns:a16="http://schemas.microsoft.com/office/drawing/2014/main" id="{24DB2636-A8AB-8904-CE1B-82BC4A17621B}"/>
              </a:ext>
            </a:extLst>
          </p:cNvPr>
          <p:cNvSpPr/>
          <p:nvPr/>
        </p:nvSpPr>
        <p:spPr>
          <a:xfrm>
            <a:off x="8184232" y="2636912"/>
            <a:ext cx="1872208" cy="34624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dirty="0"/>
              <a:t> f(A,    ) = B</a:t>
            </a:r>
            <a:endParaRPr lang="en-US" sz="1200" dirty="0"/>
          </a:p>
          <a:p>
            <a:pPr lvl="0">
              <a:lnSpc>
                <a:spcPct val="150000"/>
              </a:lnSpc>
              <a:buSzPts val="2000"/>
            </a:pPr>
            <a:r>
              <a:rPr lang="en-US" sz="1800" dirty="0"/>
              <a:t> f(B,    ) = A</a:t>
            </a:r>
            <a:endParaRPr lang="en-US" sz="1200" dirty="0"/>
          </a:p>
          <a:p>
            <a:pPr lvl="0">
              <a:lnSpc>
                <a:spcPct val="150000"/>
              </a:lnSpc>
              <a:buSzPts val="2000"/>
            </a:pPr>
            <a:r>
              <a:rPr lang="en-US" sz="1800" dirty="0"/>
              <a:t> f(B,    ) = C</a:t>
            </a:r>
            <a:endParaRPr lang="en-US" sz="1200" dirty="0"/>
          </a:p>
          <a:p>
            <a:pPr lvl="0">
              <a:lnSpc>
                <a:spcPct val="150000"/>
              </a:lnSpc>
              <a:buSzPts val="2000"/>
            </a:pPr>
            <a:r>
              <a:rPr lang="en-US" sz="1800" dirty="0"/>
              <a:t> f(C,    ) = B</a:t>
            </a:r>
            <a:endParaRPr lang="en-US" sz="1200" dirty="0"/>
          </a:p>
          <a:p>
            <a:pPr lvl="0">
              <a:lnSpc>
                <a:spcPct val="150000"/>
              </a:lnSpc>
              <a:buSzPts val="2000"/>
            </a:pPr>
            <a:r>
              <a:rPr lang="en-US" sz="1800" dirty="0"/>
              <a:t> f(C,    ) = A</a:t>
            </a:r>
          </a:p>
          <a:p>
            <a:pPr lvl="0">
              <a:lnSpc>
                <a:spcPct val="150000"/>
              </a:lnSpc>
              <a:buSzPts val="2000"/>
            </a:pPr>
            <a:endParaRPr lang="en-US" sz="1800" dirty="0"/>
          </a:p>
          <a:p>
            <a:pPr lvl="0">
              <a:buSzPts val="2000"/>
            </a:pPr>
            <a:r>
              <a:rPr lang="es-ES" sz="1600" dirty="0">
                <a:latin typeface="+mn-lt"/>
              </a:rPr>
              <a:t>A: esperando</a:t>
            </a:r>
          </a:p>
          <a:p>
            <a:pPr lvl="0">
              <a:buSzPts val="2000"/>
            </a:pPr>
            <a:r>
              <a:rPr lang="es-ES" sz="1600" dirty="0">
                <a:latin typeface="+mn-lt"/>
              </a:rPr>
              <a:t>B: mostrando</a:t>
            </a:r>
          </a:p>
          <a:p>
            <a:pPr lvl="0">
              <a:buSzPts val="2000"/>
            </a:pPr>
            <a:r>
              <a:rPr lang="es-ES" sz="1600" dirty="0">
                <a:latin typeface="+mn-lt"/>
              </a:rPr>
              <a:t>C: pausa</a:t>
            </a:r>
            <a:endParaRPr lang="en-US" sz="1600" dirty="0">
              <a:latin typeface="+mn-lt"/>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dirty="0">
              <a:solidFill>
                <a:srgbClr val="000000"/>
              </a:solidFill>
              <a:latin typeface="+mn-lt"/>
              <a:ea typeface="Arial"/>
              <a:cs typeface="Arial"/>
              <a:sym typeface="Arial"/>
            </a:endParaRPr>
          </a:p>
        </p:txBody>
      </p:sp>
      <p:sp>
        <p:nvSpPr>
          <p:cNvPr id="5" name="CuadroTexto 4">
            <a:extLst>
              <a:ext uri="{FF2B5EF4-FFF2-40B4-BE49-F238E27FC236}">
                <a16:creationId xmlns:a16="http://schemas.microsoft.com/office/drawing/2014/main" id="{C877F8F8-D8D9-A08C-211C-41D3576A93A9}"/>
              </a:ext>
            </a:extLst>
          </p:cNvPr>
          <p:cNvSpPr txBox="1"/>
          <p:nvPr/>
        </p:nvSpPr>
        <p:spPr>
          <a:xfrm>
            <a:off x="979487" y="1886518"/>
            <a:ext cx="6094476" cy="461665"/>
          </a:xfrm>
          <a:prstGeom prst="rect">
            <a:avLst/>
          </a:prstGeom>
          <a:noFill/>
        </p:spPr>
        <p:txBody>
          <a:bodyPr wrap="square">
            <a:spAutoFit/>
          </a:bodyPr>
          <a:lstStyle/>
          <a:p>
            <a:pPr marL="447675" marR="0" lvl="0" algn="just" rtl="0">
              <a:spcBef>
                <a:spcPts val="0"/>
              </a:spcBef>
              <a:spcAft>
                <a:spcPts val="300"/>
              </a:spcAft>
              <a:buClr>
                <a:srgbClr val="C00000"/>
              </a:buClr>
              <a:buSzPts val="2789"/>
            </a:pPr>
            <a:r>
              <a:rPr lang="es-ES" sz="2400" dirty="0">
                <a:solidFill>
                  <a:schemeClr val="dk1"/>
                </a:solidFill>
                <a:latin typeface="Calibri"/>
                <a:ea typeface="Calibri"/>
                <a:cs typeface="Calibri"/>
                <a:sym typeface="Calibri"/>
              </a:rPr>
              <a:t>f(Si, </a:t>
            </a:r>
            <a:r>
              <a:rPr lang="es-ES" sz="2400" dirty="0" err="1">
                <a:solidFill>
                  <a:schemeClr val="dk1"/>
                </a:solidFill>
                <a:latin typeface="Calibri"/>
                <a:ea typeface="Calibri"/>
                <a:cs typeface="Calibri"/>
                <a:sym typeface="Calibri"/>
              </a:rPr>
              <a:t>Cj</a:t>
            </a:r>
            <a:r>
              <a:rPr lang="es-ES" sz="2400" dirty="0">
                <a:solidFill>
                  <a:schemeClr val="dk1"/>
                </a:solidFill>
                <a:latin typeface="Calibri"/>
                <a:ea typeface="Calibri"/>
                <a:cs typeface="Calibri"/>
                <a:sym typeface="Calibri"/>
              </a:rPr>
              <a:t>) = </a:t>
            </a:r>
            <a:r>
              <a:rPr lang="es-ES" sz="2400" dirty="0" err="1">
                <a:solidFill>
                  <a:schemeClr val="dk1"/>
                </a:solidFill>
                <a:latin typeface="Calibri"/>
                <a:ea typeface="Calibri"/>
                <a:cs typeface="Calibri"/>
                <a:sym typeface="Calibri"/>
              </a:rPr>
              <a:t>Sk</a:t>
            </a:r>
            <a:endParaRPr lang="es-ES" sz="2400" dirty="0">
              <a:solidFill>
                <a:schemeClr val="dk1"/>
              </a:solidFill>
              <a:latin typeface="Calibri"/>
              <a:ea typeface="Calibri"/>
              <a:cs typeface="Calibri"/>
              <a:sym typeface="Calibri"/>
            </a:endParaRPr>
          </a:p>
        </p:txBody>
      </p:sp>
      <p:pic>
        <p:nvPicPr>
          <p:cNvPr id="6" name="Google Shape;273;p9">
            <a:extLst>
              <a:ext uri="{FF2B5EF4-FFF2-40B4-BE49-F238E27FC236}">
                <a16:creationId xmlns:a16="http://schemas.microsoft.com/office/drawing/2014/main" id="{57F9024F-3BE3-BBCA-CED9-78EFB94EACF2}"/>
              </a:ext>
            </a:extLst>
          </p:cNvPr>
          <p:cNvPicPr preferRelativeResize="0"/>
          <p:nvPr/>
        </p:nvPicPr>
        <p:blipFill rotWithShape="1">
          <a:blip r:embed="rId3">
            <a:alphaModFix/>
          </a:blip>
          <a:srcRect t="27094"/>
          <a:stretch/>
        </p:blipFill>
        <p:spPr>
          <a:xfrm>
            <a:off x="979487" y="2351459"/>
            <a:ext cx="6000750" cy="2325192"/>
          </a:xfrm>
          <a:prstGeom prst="rect">
            <a:avLst/>
          </a:prstGeom>
          <a:noFill/>
          <a:ln>
            <a:noFill/>
          </a:ln>
        </p:spPr>
      </p:pic>
      <p:sp>
        <p:nvSpPr>
          <p:cNvPr id="9" name="Triángulo isósceles 8">
            <a:extLst>
              <a:ext uri="{FF2B5EF4-FFF2-40B4-BE49-F238E27FC236}">
                <a16:creationId xmlns:a16="http://schemas.microsoft.com/office/drawing/2014/main" id="{28FEB7AD-15AB-4342-A327-59161AEEC4C8}"/>
              </a:ext>
            </a:extLst>
          </p:cNvPr>
          <p:cNvSpPr/>
          <p:nvPr/>
        </p:nvSpPr>
        <p:spPr>
          <a:xfrm rot="5400000">
            <a:off x="8739704" y="2743201"/>
            <a:ext cx="172097" cy="173736"/>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AR"/>
          </a:p>
        </p:txBody>
      </p:sp>
      <p:sp>
        <p:nvSpPr>
          <p:cNvPr id="11" name="Triángulo isósceles 10">
            <a:extLst>
              <a:ext uri="{FF2B5EF4-FFF2-40B4-BE49-F238E27FC236}">
                <a16:creationId xmlns:a16="http://schemas.microsoft.com/office/drawing/2014/main" id="{D79FD1B3-524E-F6DC-0B59-8B91420367DA}"/>
              </a:ext>
            </a:extLst>
          </p:cNvPr>
          <p:cNvSpPr/>
          <p:nvPr/>
        </p:nvSpPr>
        <p:spPr>
          <a:xfrm rot="5400000">
            <a:off x="8748848" y="3922776"/>
            <a:ext cx="172097" cy="173736"/>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AR"/>
          </a:p>
        </p:txBody>
      </p:sp>
      <p:sp>
        <p:nvSpPr>
          <p:cNvPr id="12" name="Rectángulo 11">
            <a:extLst>
              <a:ext uri="{FF2B5EF4-FFF2-40B4-BE49-F238E27FC236}">
                <a16:creationId xmlns:a16="http://schemas.microsoft.com/office/drawing/2014/main" id="{0A1ED8CA-298F-6B3F-B1AA-22674DDF85D6}"/>
              </a:ext>
            </a:extLst>
          </p:cNvPr>
          <p:cNvSpPr/>
          <p:nvPr/>
        </p:nvSpPr>
        <p:spPr>
          <a:xfrm>
            <a:off x="8720595" y="3102575"/>
            <a:ext cx="173737" cy="1720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AR"/>
          </a:p>
        </p:txBody>
      </p:sp>
      <p:sp>
        <p:nvSpPr>
          <p:cNvPr id="16" name="Rectángulo 15">
            <a:extLst>
              <a:ext uri="{FF2B5EF4-FFF2-40B4-BE49-F238E27FC236}">
                <a16:creationId xmlns:a16="http://schemas.microsoft.com/office/drawing/2014/main" id="{643ABAA3-F1C3-AE5A-09E3-1F65FC23BC77}"/>
              </a:ext>
            </a:extLst>
          </p:cNvPr>
          <p:cNvSpPr/>
          <p:nvPr/>
        </p:nvSpPr>
        <p:spPr>
          <a:xfrm>
            <a:off x="8738882" y="4328252"/>
            <a:ext cx="173737" cy="1720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AR"/>
          </a:p>
        </p:txBody>
      </p:sp>
      <p:sp>
        <p:nvSpPr>
          <p:cNvPr id="18" name="Rectángulo 17">
            <a:extLst>
              <a:ext uri="{FF2B5EF4-FFF2-40B4-BE49-F238E27FC236}">
                <a16:creationId xmlns:a16="http://schemas.microsoft.com/office/drawing/2014/main" id="{E7697007-213F-E3E9-259C-E8158A3938E4}"/>
              </a:ext>
            </a:extLst>
          </p:cNvPr>
          <p:cNvSpPr/>
          <p:nvPr/>
        </p:nvSpPr>
        <p:spPr>
          <a:xfrm>
            <a:off x="8761084" y="3532084"/>
            <a:ext cx="54000" cy="1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AR"/>
          </a:p>
        </p:txBody>
      </p:sp>
      <p:sp>
        <p:nvSpPr>
          <p:cNvPr id="20" name="Rectángulo 19">
            <a:extLst>
              <a:ext uri="{FF2B5EF4-FFF2-40B4-BE49-F238E27FC236}">
                <a16:creationId xmlns:a16="http://schemas.microsoft.com/office/drawing/2014/main" id="{3A34C36D-085B-EE02-7FC2-5EFF49A78FAB}"/>
              </a:ext>
            </a:extLst>
          </p:cNvPr>
          <p:cNvSpPr/>
          <p:nvPr/>
        </p:nvSpPr>
        <p:spPr>
          <a:xfrm>
            <a:off x="8840332" y="3529036"/>
            <a:ext cx="54000" cy="1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AR"/>
          </a:p>
        </p:txBody>
      </p:sp>
    </p:spTree>
    <p:extLst>
      <p:ext uri="{BB962C8B-B14F-4D97-AF65-F5344CB8AC3E}">
        <p14:creationId xmlns:p14="http://schemas.microsoft.com/office/powerpoint/2010/main" val="113731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946B7FC9-FB10-A457-284C-4EBF253E786C}"/>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B50F682C-EE8E-A64D-FA43-DB00859486C1}"/>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B7058EED-8B7F-FA1B-F210-FC9B27845CD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395269DF-89BA-A94C-6F9C-82B61677E83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A2C265C8-B668-D92A-55E6-34016D1E6BC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8</a:t>
            </a:fld>
            <a:endParaRPr/>
          </a:p>
        </p:txBody>
      </p:sp>
      <p:sp>
        <p:nvSpPr>
          <p:cNvPr id="383" name="Google Shape;383;p63">
            <a:extLst>
              <a:ext uri="{FF2B5EF4-FFF2-40B4-BE49-F238E27FC236}">
                <a16:creationId xmlns:a16="http://schemas.microsoft.com/office/drawing/2014/main" id="{1D0EDA1B-3C06-2171-83BE-108647919CC1}"/>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Definición formal</a:t>
            </a:r>
          </a:p>
          <a:p>
            <a:pPr marL="790575" marR="0" lvl="0" indent="-342900" algn="just" rtl="0">
              <a:spcBef>
                <a:spcPts val="0"/>
              </a:spcBef>
              <a:spcAft>
                <a:spcPts val="300"/>
              </a:spcAft>
              <a:buClr>
                <a:srgbClr val="C00000"/>
              </a:buClr>
              <a:buSzPct val="100000"/>
              <a:buFont typeface="Calibri" panose="020F0502020204030204" pitchFamily="34" charset="0"/>
              <a:buChar char="»"/>
            </a:pPr>
            <a:r>
              <a:rPr lang="es-ES" sz="2200" dirty="0">
                <a:solidFill>
                  <a:schemeClr val="dk1"/>
                </a:solidFill>
                <a:latin typeface="Calibri"/>
                <a:ea typeface="Calibri"/>
                <a:cs typeface="Calibri"/>
                <a:sym typeface="Calibri"/>
              </a:rPr>
              <a:t>Un autómata finito (AF) puede ser descrito como una 5-tupla (</a:t>
            </a:r>
            <a:r>
              <a:rPr lang="es-ES" sz="2200" dirty="0" err="1">
                <a:solidFill>
                  <a:schemeClr val="dk1"/>
                </a:solidFill>
                <a:latin typeface="Calibri"/>
                <a:ea typeface="Calibri"/>
                <a:cs typeface="Calibri"/>
                <a:sym typeface="Calibri"/>
              </a:rPr>
              <a:t>S,Σ,T,s,A</a:t>
            </a:r>
            <a:r>
              <a:rPr lang="es-ES" sz="2200" dirty="0">
                <a:solidFill>
                  <a:schemeClr val="dk1"/>
                </a:solidFill>
                <a:latin typeface="Calibri"/>
                <a:ea typeface="Calibri"/>
                <a:cs typeface="Calibri"/>
                <a:sym typeface="Calibri"/>
              </a:rPr>
              <a:t>), donde:</a:t>
            </a:r>
          </a:p>
          <a:p>
            <a:pPr marL="1079500" marR="0" lvl="0" indent="-274638" algn="just" rtl="0">
              <a:spcBef>
                <a:spcPts val="0"/>
              </a:spcBef>
              <a:spcAft>
                <a:spcPts val="300"/>
              </a:spcAft>
              <a:buClrTx/>
              <a:buSzPct val="100000"/>
              <a:buFont typeface="Arial" panose="020B0604020202020204" pitchFamily="34" charset="0"/>
              <a:buChar char="•"/>
            </a:pPr>
            <a:r>
              <a:rPr lang="es-ES" sz="2200" dirty="0">
                <a:solidFill>
                  <a:schemeClr val="dk1"/>
                </a:solidFill>
                <a:latin typeface="Calibri"/>
                <a:ea typeface="Calibri"/>
                <a:cs typeface="Calibri"/>
                <a:sym typeface="Calibri"/>
              </a:rPr>
              <a:t>Σ es un alfabeto.</a:t>
            </a:r>
          </a:p>
          <a:p>
            <a:pPr marL="1079500" marR="0" lvl="0" indent="-274638" algn="just" rtl="0">
              <a:spcBef>
                <a:spcPts val="0"/>
              </a:spcBef>
              <a:spcAft>
                <a:spcPts val="300"/>
              </a:spcAft>
              <a:buClrTx/>
              <a:buSzPct val="100000"/>
              <a:buFont typeface="Arial" panose="020B0604020202020204" pitchFamily="34" charset="0"/>
              <a:buChar char="•"/>
            </a:pPr>
            <a:r>
              <a:rPr lang="es-ES" sz="2200" dirty="0">
                <a:solidFill>
                  <a:schemeClr val="dk1"/>
                </a:solidFill>
                <a:latin typeface="Calibri"/>
                <a:ea typeface="Calibri"/>
                <a:cs typeface="Calibri"/>
                <a:sym typeface="Calibri"/>
              </a:rPr>
              <a:t>S un conjunto de estados.</a:t>
            </a:r>
          </a:p>
          <a:p>
            <a:pPr marL="1079500" marR="0" lvl="0" indent="-274638" algn="just" rtl="0">
              <a:spcBef>
                <a:spcPts val="0"/>
              </a:spcBef>
              <a:spcAft>
                <a:spcPts val="300"/>
              </a:spcAft>
              <a:buClrTx/>
              <a:buSzPct val="100000"/>
              <a:buFont typeface="Arial" panose="020B0604020202020204" pitchFamily="34" charset="0"/>
              <a:buChar char="•"/>
            </a:pPr>
            <a:r>
              <a:rPr lang="es-ES" sz="2200" dirty="0">
                <a:solidFill>
                  <a:schemeClr val="dk1"/>
                </a:solidFill>
                <a:latin typeface="Calibri"/>
                <a:ea typeface="Calibri"/>
                <a:cs typeface="Calibri"/>
                <a:sym typeface="Calibri"/>
              </a:rPr>
              <a:t>T es la función de transición.</a:t>
            </a:r>
          </a:p>
          <a:p>
            <a:pPr marL="1079500" marR="0" lvl="0" indent="-274638" algn="just" rtl="0">
              <a:spcBef>
                <a:spcPts val="0"/>
              </a:spcBef>
              <a:spcAft>
                <a:spcPts val="300"/>
              </a:spcAft>
              <a:buClrTx/>
              <a:buSzPct val="100000"/>
              <a:buFont typeface="Arial" panose="020B0604020202020204" pitchFamily="34" charset="0"/>
              <a:buChar char="•"/>
            </a:pPr>
            <a:r>
              <a:rPr lang="es-ES" sz="2200" dirty="0">
                <a:solidFill>
                  <a:schemeClr val="dk1"/>
                </a:solidFill>
                <a:latin typeface="Calibri"/>
                <a:ea typeface="Calibri"/>
                <a:cs typeface="Calibri"/>
                <a:sym typeface="Calibri"/>
              </a:rPr>
              <a:t>s es el estado inicial.</a:t>
            </a:r>
          </a:p>
          <a:p>
            <a:pPr marL="1079500" marR="0" lvl="0" indent="-274638" algn="just" rtl="0">
              <a:spcBef>
                <a:spcPts val="0"/>
              </a:spcBef>
              <a:spcAft>
                <a:spcPts val="300"/>
              </a:spcAft>
              <a:buClrTx/>
              <a:buSzPct val="100000"/>
              <a:buFont typeface="Arial" panose="020B0604020202020204" pitchFamily="34" charset="0"/>
              <a:buChar char="•"/>
            </a:pPr>
            <a:r>
              <a:rPr lang="es-ES" sz="2200" dirty="0">
                <a:solidFill>
                  <a:schemeClr val="dk1"/>
                </a:solidFill>
                <a:latin typeface="Calibri"/>
                <a:ea typeface="Calibri"/>
                <a:cs typeface="Calibri"/>
                <a:sym typeface="Calibri"/>
              </a:rPr>
              <a:t>A es un conjunto de estados de aceptación o finales. </a:t>
            </a:r>
          </a:p>
          <a:p>
            <a:pPr marL="447675" marR="0" lvl="0" algn="just" rtl="0">
              <a:spcBef>
                <a:spcPts val="0"/>
              </a:spcBef>
              <a:spcAft>
                <a:spcPts val="300"/>
              </a:spcAft>
              <a:buClr>
                <a:srgbClr val="C00000"/>
              </a:buClr>
              <a:buSzPts val="2789"/>
            </a:pPr>
            <a:endParaRPr lang="es-ES" sz="2200" dirty="0">
              <a:solidFill>
                <a:schemeClr val="dk1"/>
              </a:solidFill>
              <a:latin typeface="Calibri"/>
              <a:ea typeface="Calibri"/>
              <a:cs typeface="Calibri"/>
              <a:sym typeface="Calibri"/>
            </a:endParaRP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7612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A345FCB1-6441-718E-C3F6-C14E1D6AFBC2}"/>
            </a:ext>
          </a:extLst>
        </p:cNvPr>
        <p:cNvGrpSpPr/>
        <p:nvPr/>
      </p:nvGrpSpPr>
      <p:grpSpPr>
        <a:xfrm>
          <a:off x="0" y="0"/>
          <a:ext cx="0" cy="0"/>
          <a:chOff x="0" y="0"/>
          <a:chExt cx="0" cy="0"/>
        </a:xfrm>
      </p:grpSpPr>
      <p:pic>
        <p:nvPicPr>
          <p:cNvPr id="3" name="Google Shape;295;p11" descr="C:\Users\Ariel\Documents\Bluetooth Folder\12092011452.jpg">
            <a:extLst>
              <a:ext uri="{FF2B5EF4-FFF2-40B4-BE49-F238E27FC236}">
                <a16:creationId xmlns:a16="http://schemas.microsoft.com/office/drawing/2014/main" id="{8D0CEB39-F979-AFF6-C103-B93EFA0A3E65}"/>
              </a:ext>
            </a:extLst>
          </p:cNvPr>
          <p:cNvPicPr preferRelativeResize="0"/>
          <p:nvPr/>
        </p:nvPicPr>
        <p:blipFill rotWithShape="1">
          <a:blip r:embed="rId3">
            <a:alphaModFix/>
          </a:blip>
          <a:srcRect l="20765" t="7689" r="16941" b="41551"/>
          <a:stretch/>
        </p:blipFill>
        <p:spPr>
          <a:xfrm>
            <a:off x="2908009" y="2570187"/>
            <a:ext cx="5780279" cy="3532392"/>
          </a:xfrm>
          <a:prstGeom prst="rect">
            <a:avLst/>
          </a:prstGeom>
          <a:noFill/>
          <a:ln>
            <a:noFill/>
          </a:ln>
        </p:spPr>
      </p:pic>
      <p:sp>
        <p:nvSpPr>
          <p:cNvPr id="379" name="Google Shape;379;p63">
            <a:extLst>
              <a:ext uri="{FF2B5EF4-FFF2-40B4-BE49-F238E27FC236}">
                <a16:creationId xmlns:a16="http://schemas.microsoft.com/office/drawing/2014/main" id="{00C4FBFD-A624-7A57-710D-EEBBE90E451C}"/>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D9D55219-2F29-29F5-AABE-E168F3CCA4A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8E47DAB8-8263-8035-E069-92EBD0EB36F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F282196B-523C-5B50-58F7-57F25EEE2C9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9</a:t>
            </a:fld>
            <a:endParaRPr/>
          </a:p>
        </p:txBody>
      </p:sp>
      <p:sp>
        <p:nvSpPr>
          <p:cNvPr id="383" name="Google Shape;383;p63">
            <a:extLst>
              <a:ext uri="{FF2B5EF4-FFF2-40B4-BE49-F238E27FC236}">
                <a16:creationId xmlns:a16="http://schemas.microsoft.com/office/drawing/2014/main" id="{B718E6F5-F97F-A9A7-971D-6DED189E88AE}"/>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Representación en gráfico de persiana</a:t>
            </a:r>
          </a:p>
          <a:p>
            <a:pPr marL="447675" marR="0" lvl="0" algn="just" rtl="0">
              <a:spcBef>
                <a:spcPts val="0"/>
              </a:spcBef>
              <a:spcAft>
                <a:spcPts val="300"/>
              </a:spcAft>
              <a:buClr>
                <a:srgbClr val="C00000"/>
              </a:buClr>
              <a:buSzPts val="2789"/>
            </a:pPr>
            <a:endParaRPr lang="es-ES" sz="2200" dirty="0">
              <a:solidFill>
                <a:schemeClr val="dk1"/>
              </a:solidFill>
              <a:latin typeface="Calibri"/>
              <a:ea typeface="Calibri"/>
              <a:cs typeface="Calibri"/>
              <a:sym typeface="Calibri"/>
            </a:endParaRP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
        <p:nvSpPr>
          <p:cNvPr id="8" name="Google Shape;262;p8">
            <a:extLst>
              <a:ext uri="{FF2B5EF4-FFF2-40B4-BE49-F238E27FC236}">
                <a16:creationId xmlns:a16="http://schemas.microsoft.com/office/drawing/2014/main" id="{6579D6ED-97F0-18BD-F58F-8AA6287B4D9A}"/>
              </a:ext>
            </a:extLst>
          </p:cNvPr>
          <p:cNvSpPr/>
          <p:nvPr/>
        </p:nvSpPr>
        <p:spPr>
          <a:xfrm>
            <a:off x="1974859" y="4174324"/>
            <a:ext cx="1296144" cy="396624"/>
          </a:xfrm>
          <a:prstGeom prst="borderCallout2">
            <a:avLst>
              <a:gd name="adj1" fmla="val 48721"/>
              <a:gd name="adj2" fmla="val 99605"/>
              <a:gd name="adj3" fmla="val 48721"/>
              <a:gd name="adj4" fmla="val 117374"/>
              <a:gd name="adj5" fmla="val -32744"/>
              <a:gd name="adj6" fmla="val 168503"/>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ysClr val="windowText" lastClr="000000"/>
                </a:solidFill>
                <a:latin typeface="Arial"/>
                <a:ea typeface="Arial"/>
                <a:cs typeface="Arial"/>
                <a:sym typeface="Arial"/>
              </a:rPr>
              <a:t>Estados</a:t>
            </a:r>
            <a:endParaRPr sz="1400" b="0" i="0" u="none" strike="noStrike" cap="none">
              <a:solidFill>
                <a:sysClr val="windowText" lastClr="000000"/>
              </a:solidFill>
              <a:latin typeface="Arial"/>
              <a:ea typeface="Arial"/>
              <a:cs typeface="Arial"/>
              <a:sym typeface="Arial"/>
            </a:endParaRPr>
          </a:p>
        </p:txBody>
      </p:sp>
      <p:sp>
        <p:nvSpPr>
          <p:cNvPr id="10" name="Google Shape;262;p8">
            <a:extLst>
              <a:ext uri="{FF2B5EF4-FFF2-40B4-BE49-F238E27FC236}">
                <a16:creationId xmlns:a16="http://schemas.microsoft.com/office/drawing/2014/main" id="{71DC3161-30BE-AC61-E416-89CDDB15836E}"/>
              </a:ext>
            </a:extLst>
          </p:cNvPr>
          <p:cNvSpPr/>
          <p:nvPr/>
        </p:nvSpPr>
        <p:spPr>
          <a:xfrm>
            <a:off x="7987847" y="4030884"/>
            <a:ext cx="1296144" cy="396624"/>
          </a:xfrm>
          <a:prstGeom prst="borderCallout2">
            <a:avLst>
              <a:gd name="adj1" fmla="val 44110"/>
              <a:gd name="adj2" fmla="val 838"/>
              <a:gd name="adj3" fmla="val 44110"/>
              <a:gd name="adj4" fmla="val -14551"/>
              <a:gd name="adj5" fmla="val 147082"/>
              <a:gd name="adj6" fmla="val -5442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dirty="0">
                <a:solidFill>
                  <a:sysClr val="windowText" lastClr="000000"/>
                </a:solidFill>
                <a:latin typeface="Arial"/>
                <a:ea typeface="Arial"/>
                <a:cs typeface="Arial"/>
                <a:sym typeface="Arial"/>
              </a:rPr>
              <a:t>Transiciones</a:t>
            </a:r>
            <a:endParaRPr sz="1400" b="0" i="0" u="none" strike="noStrike" cap="none" dirty="0">
              <a:solidFill>
                <a:sysClr val="windowText" lastClr="000000"/>
              </a:solidFill>
              <a:latin typeface="Arial"/>
              <a:ea typeface="Arial"/>
              <a:cs typeface="Arial"/>
              <a:sym typeface="Arial"/>
            </a:endParaRPr>
          </a:p>
        </p:txBody>
      </p:sp>
    </p:spTree>
    <p:extLst>
      <p:ext uri="{BB962C8B-B14F-4D97-AF65-F5344CB8AC3E}">
        <p14:creationId xmlns:p14="http://schemas.microsoft.com/office/powerpoint/2010/main" val="3526924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220FE888-3FE3-2A70-6B0E-5B7654CC3E3C}"/>
            </a:ext>
          </a:extLst>
        </p:cNvPr>
        <p:cNvGrpSpPr/>
        <p:nvPr/>
      </p:nvGrpSpPr>
      <p:grpSpPr>
        <a:xfrm>
          <a:off x="0" y="0"/>
          <a:ext cx="0" cy="0"/>
          <a:chOff x="0" y="0"/>
          <a:chExt cx="0" cy="0"/>
        </a:xfrm>
      </p:grpSpPr>
      <p:pic>
        <p:nvPicPr>
          <p:cNvPr id="4" name="Google Shape;302;p12" descr="C:\Users\Ariel\Documents\Bluetooth Folder\12092011455.jpg">
            <a:extLst>
              <a:ext uri="{FF2B5EF4-FFF2-40B4-BE49-F238E27FC236}">
                <a16:creationId xmlns:a16="http://schemas.microsoft.com/office/drawing/2014/main" id="{3AC1E5D9-6ED9-8C4B-B785-A0DE418EA213}"/>
              </a:ext>
            </a:extLst>
          </p:cNvPr>
          <p:cNvPicPr preferRelativeResize="0"/>
          <p:nvPr/>
        </p:nvPicPr>
        <p:blipFill rotWithShape="1">
          <a:blip r:embed="rId3">
            <a:alphaModFix/>
          </a:blip>
          <a:srcRect l="6922" t="23070" r="5405" b="16939"/>
          <a:stretch/>
        </p:blipFill>
        <p:spPr>
          <a:xfrm>
            <a:off x="2711624" y="2320984"/>
            <a:ext cx="6768752" cy="3816424"/>
          </a:xfrm>
          <a:prstGeom prst="rect">
            <a:avLst/>
          </a:prstGeom>
          <a:noFill/>
          <a:ln>
            <a:noFill/>
          </a:ln>
        </p:spPr>
      </p:pic>
      <p:sp>
        <p:nvSpPr>
          <p:cNvPr id="379" name="Google Shape;379;p63">
            <a:extLst>
              <a:ext uri="{FF2B5EF4-FFF2-40B4-BE49-F238E27FC236}">
                <a16:creationId xmlns:a16="http://schemas.microsoft.com/office/drawing/2014/main" id="{B87C697A-C255-77F4-E7D6-52A6A0707CD1}"/>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C0D20E04-F6F4-997A-E796-236F570ACB9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12A1313E-8BC1-350C-A0F6-7C50F87B96C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6D8C94A4-99C0-18FC-04B5-1DE23760B04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10</a:t>
            </a:fld>
            <a:endParaRPr/>
          </a:p>
        </p:txBody>
      </p:sp>
      <p:sp>
        <p:nvSpPr>
          <p:cNvPr id="383" name="Google Shape;383;p63">
            <a:extLst>
              <a:ext uri="{FF2B5EF4-FFF2-40B4-BE49-F238E27FC236}">
                <a16:creationId xmlns:a16="http://schemas.microsoft.com/office/drawing/2014/main" id="{DE674F2F-FF8A-E15D-6C44-6D5E5D9BDEFA}"/>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Representación en máquina de estado finito</a:t>
            </a:r>
          </a:p>
          <a:p>
            <a:pPr marL="447675" marR="0" lvl="0" algn="just" rtl="0">
              <a:spcBef>
                <a:spcPts val="0"/>
              </a:spcBef>
              <a:spcAft>
                <a:spcPts val="300"/>
              </a:spcAft>
              <a:buClr>
                <a:srgbClr val="C00000"/>
              </a:buClr>
              <a:buSzPts val="2789"/>
            </a:pPr>
            <a:endParaRPr lang="es-ES" sz="2200" dirty="0">
              <a:solidFill>
                <a:schemeClr val="dk1"/>
              </a:solidFill>
              <a:latin typeface="Calibri"/>
              <a:ea typeface="Calibri"/>
              <a:cs typeface="Calibri"/>
              <a:sym typeface="Calibri"/>
            </a:endParaRP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
        <p:nvSpPr>
          <p:cNvPr id="8" name="Google Shape;262;p8">
            <a:extLst>
              <a:ext uri="{FF2B5EF4-FFF2-40B4-BE49-F238E27FC236}">
                <a16:creationId xmlns:a16="http://schemas.microsoft.com/office/drawing/2014/main" id="{3279544F-2974-A3AD-B66E-B2D5EF25E3EB}"/>
              </a:ext>
            </a:extLst>
          </p:cNvPr>
          <p:cNvSpPr/>
          <p:nvPr/>
        </p:nvSpPr>
        <p:spPr>
          <a:xfrm>
            <a:off x="1974859" y="4174324"/>
            <a:ext cx="1296144" cy="396624"/>
          </a:xfrm>
          <a:prstGeom prst="borderCallout2">
            <a:avLst>
              <a:gd name="adj1" fmla="val 48721"/>
              <a:gd name="adj2" fmla="val 99605"/>
              <a:gd name="adj3" fmla="val 48721"/>
              <a:gd name="adj4" fmla="val 117374"/>
              <a:gd name="adj5" fmla="val -32744"/>
              <a:gd name="adj6" fmla="val 168503"/>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ysClr val="windowText" lastClr="000000"/>
                </a:solidFill>
                <a:latin typeface="Arial"/>
                <a:ea typeface="Arial"/>
                <a:cs typeface="Arial"/>
                <a:sym typeface="Arial"/>
              </a:rPr>
              <a:t>Estados</a:t>
            </a:r>
            <a:endParaRPr sz="1400" b="0" i="0" u="none" strike="noStrike" cap="none">
              <a:solidFill>
                <a:sysClr val="windowText" lastClr="000000"/>
              </a:solidFill>
              <a:latin typeface="Arial"/>
              <a:ea typeface="Arial"/>
              <a:cs typeface="Arial"/>
              <a:sym typeface="Arial"/>
            </a:endParaRPr>
          </a:p>
        </p:txBody>
      </p:sp>
      <p:sp>
        <p:nvSpPr>
          <p:cNvPr id="10" name="Google Shape;262;p8">
            <a:extLst>
              <a:ext uri="{FF2B5EF4-FFF2-40B4-BE49-F238E27FC236}">
                <a16:creationId xmlns:a16="http://schemas.microsoft.com/office/drawing/2014/main" id="{D59C3F2A-DF42-CC9C-BE04-E69C050F24D3}"/>
              </a:ext>
            </a:extLst>
          </p:cNvPr>
          <p:cNvSpPr/>
          <p:nvPr/>
        </p:nvSpPr>
        <p:spPr>
          <a:xfrm>
            <a:off x="8509000" y="2448972"/>
            <a:ext cx="1296144" cy="396624"/>
          </a:xfrm>
          <a:prstGeom prst="borderCallout2">
            <a:avLst>
              <a:gd name="adj1" fmla="val 44110"/>
              <a:gd name="adj2" fmla="val 838"/>
              <a:gd name="adj3" fmla="val 44110"/>
              <a:gd name="adj4" fmla="val -14551"/>
              <a:gd name="adj5" fmla="val 147082"/>
              <a:gd name="adj6" fmla="val -5442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dirty="0">
                <a:solidFill>
                  <a:sysClr val="windowText" lastClr="000000"/>
                </a:solidFill>
                <a:latin typeface="Arial"/>
                <a:ea typeface="Arial"/>
                <a:cs typeface="Arial"/>
                <a:sym typeface="Arial"/>
              </a:rPr>
              <a:t>Transiciones</a:t>
            </a:r>
            <a:endParaRPr sz="1400" b="0" i="0" u="none" strike="noStrike" cap="none" dirty="0">
              <a:solidFill>
                <a:sysClr val="windowText" lastClr="000000"/>
              </a:solidFill>
              <a:latin typeface="Arial"/>
              <a:ea typeface="Arial"/>
              <a:cs typeface="Arial"/>
              <a:sym typeface="Arial"/>
            </a:endParaRPr>
          </a:p>
        </p:txBody>
      </p:sp>
    </p:spTree>
    <p:extLst>
      <p:ext uri="{BB962C8B-B14F-4D97-AF65-F5344CB8AC3E}">
        <p14:creationId xmlns:p14="http://schemas.microsoft.com/office/powerpoint/2010/main" val="1638094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4E18A3DF-95ED-B5D2-FAC0-561DBECCC7A3}"/>
            </a:ext>
          </a:extLst>
        </p:cNvPr>
        <p:cNvGrpSpPr/>
        <p:nvPr/>
      </p:nvGrpSpPr>
      <p:grpSpPr>
        <a:xfrm>
          <a:off x="0" y="0"/>
          <a:ext cx="0" cy="0"/>
          <a:chOff x="0" y="0"/>
          <a:chExt cx="0" cy="0"/>
        </a:xfrm>
      </p:grpSpPr>
      <p:pic>
        <p:nvPicPr>
          <p:cNvPr id="3" name="Google Shape;312;p2">
            <a:extLst>
              <a:ext uri="{FF2B5EF4-FFF2-40B4-BE49-F238E27FC236}">
                <a16:creationId xmlns:a16="http://schemas.microsoft.com/office/drawing/2014/main" id="{79FF559C-59F7-1702-D8A7-1A8B0EADEDBC}"/>
              </a:ext>
            </a:extLst>
          </p:cNvPr>
          <p:cNvPicPr preferRelativeResize="0"/>
          <p:nvPr/>
        </p:nvPicPr>
        <p:blipFill rotWithShape="1">
          <a:blip r:embed="rId3">
            <a:alphaModFix/>
          </a:blip>
          <a:srcRect/>
          <a:stretch/>
        </p:blipFill>
        <p:spPr>
          <a:xfrm>
            <a:off x="2333625" y="2392562"/>
            <a:ext cx="8062162" cy="3954157"/>
          </a:xfrm>
          <a:prstGeom prst="rect">
            <a:avLst/>
          </a:prstGeom>
          <a:noFill/>
          <a:ln>
            <a:noFill/>
          </a:ln>
        </p:spPr>
      </p:pic>
      <p:sp>
        <p:nvSpPr>
          <p:cNvPr id="379" name="Google Shape;379;p63">
            <a:extLst>
              <a:ext uri="{FF2B5EF4-FFF2-40B4-BE49-F238E27FC236}">
                <a16:creationId xmlns:a16="http://schemas.microsoft.com/office/drawing/2014/main" id="{8237A240-C039-A65C-CAA4-C08641E135C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Máquinas de Estado Finito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CB4C737F-3427-0A89-42D5-1A1AFDA929D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88CC6F67-672F-B602-C709-5938E194490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87D207A2-B02D-B94A-7B4C-978FB94D775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11</a:t>
            </a:fld>
            <a:endParaRPr/>
          </a:p>
        </p:txBody>
      </p:sp>
      <p:sp>
        <p:nvSpPr>
          <p:cNvPr id="383" name="Google Shape;383;p63">
            <a:extLst>
              <a:ext uri="{FF2B5EF4-FFF2-40B4-BE49-F238E27FC236}">
                <a16:creationId xmlns:a16="http://schemas.microsoft.com/office/drawing/2014/main" id="{4403B06D-1C9F-2EBB-8D13-CBCC45E14981}"/>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Representación en </a:t>
            </a:r>
            <a:r>
              <a:rPr lang="es-ES" sz="2600" b="1" dirty="0">
                <a:solidFill>
                  <a:schemeClr val="dk1"/>
                </a:solidFill>
                <a:latin typeface="Calibri"/>
                <a:ea typeface="Calibri"/>
                <a:cs typeface="Calibri"/>
                <a:sym typeface="Calibri"/>
              </a:rPr>
              <a:t>Diagrama de Transición de Estados (DTE)</a:t>
            </a:r>
          </a:p>
          <a:p>
            <a:pPr marL="447675" marR="0" lvl="0" algn="just" rtl="0">
              <a:spcBef>
                <a:spcPts val="0"/>
              </a:spcBef>
              <a:spcAft>
                <a:spcPts val="300"/>
              </a:spcAft>
              <a:buClr>
                <a:srgbClr val="C00000"/>
              </a:buClr>
              <a:buSzPts val="2789"/>
            </a:pPr>
            <a:endParaRPr lang="es-ES" sz="2200" dirty="0">
              <a:solidFill>
                <a:schemeClr val="dk1"/>
              </a:solidFill>
              <a:latin typeface="Calibri"/>
              <a:ea typeface="Calibri"/>
              <a:cs typeface="Calibri"/>
              <a:sym typeface="Calibri"/>
            </a:endParaRP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
        <p:nvSpPr>
          <p:cNvPr id="8" name="Google Shape;262;p8">
            <a:extLst>
              <a:ext uri="{FF2B5EF4-FFF2-40B4-BE49-F238E27FC236}">
                <a16:creationId xmlns:a16="http://schemas.microsoft.com/office/drawing/2014/main" id="{1BA9F457-6E20-A4CB-8FA6-AF475EF0BA64}"/>
              </a:ext>
            </a:extLst>
          </p:cNvPr>
          <p:cNvSpPr/>
          <p:nvPr/>
        </p:nvSpPr>
        <p:spPr>
          <a:xfrm>
            <a:off x="1685553" y="4677244"/>
            <a:ext cx="1296144" cy="396624"/>
          </a:xfrm>
          <a:prstGeom prst="borderCallout2">
            <a:avLst>
              <a:gd name="adj1" fmla="val 48721"/>
              <a:gd name="adj2" fmla="val 99605"/>
              <a:gd name="adj3" fmla="val 48721"/>
              <a:gd name="adj4" fmla="val 117374"/>
              <a:gd name="adj5" fmla="val -32744"/>
              <a:gd name="adj6" fmla="val 168503"/>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dirty="0">
                <a:solidFill>
                  <a:sysClr val="windowText" lastClr="000000"/>
                </a:solidFill>
                <a:latin typeface="Arial"/>
                <a:ea typeface="Arial"/>
                <a:cs typeface="Arial"/>
                <a:sym typeface="Arial"/>
              </a:rPr>
              <a:t>Estados</a:t>
            </a:r>
            <a:endParaRPr sz="1400" b="0" i="0" u="none" strike="noStrike" cap="none" dirty="0">
              <a:solidFill>
                <a:sysClr val="windowText" lastClr="000000"/>
              </a:solidFill>
              <a:latin typeface="Arial"/>
              <a:ea typeface="Arial"/>
              <a:cs typeface="Arial"/>
              <a:sym typeface="Arial"/>
            </a:endParaRPr>
          </a:p>
        </p:txBody>
      </p:sp>
      <p:sp>
        <p:nvSpPr>
          <p:cNvPr id="10" name="Google Shape;262;p8">
            <a:extLst>
              <a:ext uri="{FF2B5EF4-FFF2-40B4-BE49-F238E27FC236}">
                <a16:creationId xmlns:a16="http://schemas.microsoft.com/office/drawing/2014/main" id="{DB6CDB12-1E2E-7C10-4D93-A021EB096F8B}"/>
              </a:ext>
            </a:extLst>
          </p:cNvPr>
          <p:cNvSpPr/>
          <p:nvPr/>
        </p:nvSpPr>
        <p:spPr>
          <a:xfrm>
            <a:off x="9744272" y="3299364"/>
            <a:ext cx="1296144" cy="396624"/>
          </a:xfrm>
          <a:prstGeom prst="borderCallout2">
            <a:avLst>
              <a:gd name="adj1" fmla="val 44110"/>
              <a:gd name="adj2" fmla="val 838"/>
              <a:gd name="adj3" fmla="val 44110"/>
              <a:gd name="adj4" fmla="val -14551"/>
              <a:gd name="adj5" fmla="val 135555"/>
              <a:gd name="adj6" fmla="val -103105"/>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dirty="0">
                <a:solidFill>
                  <a:sysClr val="windowText" lastClr="000000"/>
                </a:solidFill>
                <a:latin typeface="Arial"/>
                <a:ea typeface="Arial"/>
                <a:cs typeface="Arial"/>
                <a:sym typeface="Arial"/>
              </a:rPr>
              <a:t>Transiciones</a:t>
            </a:r>
            <a:endParaRPr sz="1400" b="0" i="0" u="none" strike="noStrike" cap="none" dirty="0">
              <a:solidFill>
                <a:sysClr val="windowText" lastClr="000000"/>
              </a:solidFill>
              <a:latin typeface="Arial"/>
              <a:ea typeface="Arial"/>
              <a:cs typeface="Arial"/>
              <a:sym typeface="Arial"/>
            </a:endParaRPr>
          </a:p>
        </p:txBody>
      </p:sp>
    </p:spTree>
    <p:extLst>
      <p:ext uri="{BB962C8B-B14F-4D97-AF65-F5344CB8AC3E}">
        <p14:creationId xmlns:p14="http://schemas.microsoft.com/office/powerpoint/2010/main" val="16851997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9A2885C9-1276-E6C7-DC9D-6A6C15FFC8DD}"/>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DE7AAA22-9399-224D-4746-8E9AEB72879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B49678C2-050C-80BF-BA3D-3A98A99ADE8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5CAEE997-F6BD-8754-91E3-D3B8975CD9A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590CE60D-63ED-6475-B7F5-A5D3A31519B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12</a:t>
            </a:fld>
            <a:endParaRPr/>
          </a:p>
        </p:txBody>
      </p:sp>
      <p:sp>
        <p:nvSpPr>
          <p:cNvPr id="383" name="Google Shape;383;p63">
            <a:extLst>
              <a:ext uri="{FF2B5EF4-FFF2-40B4-BE49-F238E27FC236}">
                <a16:creationId xmlns:a16="http://schemas.microsoft.com/office/drawing/2014/main" id="{483ED2A5-A13B-28B4-C8F9-60D9025BFD65}"/>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Notación UML</a:t>
            </a:r>
            <a:endParaRPr lang="es-ES" sz="2200" dirty="0">
              <a:solidFill>
                <a:schemeClr val="dk1"/>
              </a:solidFill>
              <a:latin typeface="Calibri"/>
              <a:ea typeface="Calibri"/>
              <a:cs typeface="Calibri"/>
              <a:sym typeface="Calibri"/>
            </a:endParaRPr>
          </a:p>
          <a:p>
            <a:pPr marL="447466" marR="0" lvl="0" indent="-447466" algn="just" rtl="0">
              <a:spcBef>
                <a:spcPts val="0"/>
              </a:spcBef>
              <a:spcAft>
                <a:spcPts val="3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pic>
        <p:nvPicPr>
          <p:cNvPr id="325" name="Google Shape;325;p13"/>
          <p:cNvPicPr preferRelativeResize="0"/>
          <p:nvPr/>
        </p:nvPicPr>
        <p:blipFill rotWithShape="1">
          <a:blip r:embed="rId3">
            <a:alphaModFix/>
          </a:blip>
          <a:srcRect/>
          <a:stretch/>
        </p:blipFill>
        <p:spPr>
          <a:xfrm>
            <a:off x="1671496" y="2519189"/>
            <a:ext cx="1338263" cy="889000"/>
          </a:xfrm>
          <a:prstGeom prst="rect">
            <a:avLst/>
          </a:prstGeom>
          <a:noFill/>
          <a:ln>
            <a:noFill/>
          </a:ln>
        </p:spPr>
      </p:pic>
      <p:pic>
        <p:nvPicPr>
          <p:cNvPr id="326" name="Google Shape;326;p13"/>
          <p:cNvPicPr preferRelativeResize="0"/>
          <p:nvPr/>
        </p:nvPicPr>
        <p:blipFill rotWithShape="1">
          <a:blip r:embed="rId4">
            <a:alphaModFix/>
          </a:blip>
          <a:srcRect/>
          <a:stretch/>
        </p:blipFill>
        <p:spPr>
          <a:xfrm>
            <a:off x="8430216" y="2561115"/>
            <a:ext cx="1271588" cy="731837"/>
          </a:xfrm>
          <a:prstGeom prst="rect">
            <a:avLst/>
          </a:prstGeom>
          <a:noFill/>
          <a:ln>
            <a:noFill/>
          </a:ln>
        </p:spPr>
      </p:pic>
      <p:pic>
        <p:nvPicPr>
          <p:cNvPr id="327" name="Google Shape;327;p13"/>
          <p:cNvPicPr preferRelativeResize="0"/>
          <p:nvPr/>
        </p:nvPicPr>
        <p:blipFill rotWithShape="1">
          <a:blip r:embed="rId5">
            <a:alphaModFix/>
          </a:blip>
          <a:srcRect/>
          <a:stretch/>
        </p:blipFill>
        <p:spPr>
          <a:xfrm>
            <a:off x="979487" y="3921905"/>
            <a:ext cx="2808287" cy="1712913"/>
          </a:xfrm>
          <a:prstGeom prst="rect">
            <a:avLst/>
          </a:prstGeom>
          <a:noFill/>
          <a:ln>
            <a:noFill/>
          </a:ln>
        </p:spPr>
      </p:pic>
      <p:pic>
        <p:nvPicPr>
          <p:cNvPr id="328" name="Google Shape;328;p13"/>
          <p:cNvPicPr preferRelativeResize="0"/>
          <p:nvPr/>
        </p:nvPicPr>
        <p:blipFill rotWithShape="1">
          <a:blip r:embed="rId6">
            <a:alphaModFix/>
          </a:blip>
          <a:srcRect/>
          <a:stretch/>
        </p:blipFill>
        <p:spPr>
          <a:xfrm>
            <a:off x="7107238" y="4166913"/>
            <a:ext cx="4105275" cy="2065338"/>
          </a:xfrm>
          <a:prstGeom prst="rect">
            <a:avLst/>
          </a:prstGeom>
          <a:noFill/>
          <a:ln>
            <a:noFill/>
          </a:ln>
        </p:spPr>
      </p:pic>
      <p:sp>
        <p:nvSpPr>
          <p:cNvPr id="329" name="Google Shape;329;p13"/>
          <p:cNvSpPr txBox="1"/>
          <p:nvPr/>
        </p:nvSpPr>
        <p:spPr>
          <a:xfrm>
            <a:off x="1746295" y="3146847"/>
            <a:ext cx="172819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dirty="0">
                <a:solidFill>
                  <a:srgbClr val="000000"/>
                </a:solidFill>
                <a:latin typeface="+mn-lt"/>
                <a:ea typeface="Arial"/>
                <a:cs typeface="Arial"/>
                <a:sym typeface="Arial"/>
              </a:rPr>
              <a:t>Estado Básico</a:t>
            </a:r>
            <a:endParaRPr sz="1400" b="0" i="0" u="none" strike="noStrike" cap="none" dirty="0">
              <a:solidFill>
                <a:srgbClr val="000000"/>
              </a:solidFill>
              <a:latin typeface="+mn-lt"/>
              <a:ea typeface="Arial"/>
              <a:cs typeface="Arial"/>
              <a:sym typeface="Arial"/>
            </a:endParaRPr>
          </a:p>
        </p:txBody>
      </p:sp>
      <p:sp>
        <p:nvSpPr>
          <p:cNvPr id="330" name="Google Shape;330;p13"/>
          <p:cNvSpPr txBox="1"/>
          <p:nvPr/>
        </p:nvSpPr>
        <p:spPr>
          <a:xfrm>
            <a:off x="8220646" y="3098035"/>
            <a:ext cx="2051587"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dirty="0">
                <a:solidFill>
                  <a:srgbClr val="000000"/>
                </a:solidFill>
                <a:latin typeface="+mn-lt"/>
                <a:ea typeface="Arial"/>
                <a:cs typeface="Arial"/>
                <a:sym typeface="Arial"/>
              </a:rPr>
              <a:t>Estado Inicial / Final</a:t>
            </a:r>
            <a:endParaRPr sz="1400" b="0" i="0" u="none" strike="noStrike" cap="none" dirty="0">
              <a:solidFill>
                <a:srgbClr val="000000"/>
              </a:solidFill>
              <a:latin typeface="+mn-lt"/>
              <a:ea typeface="Arial"/>
              <a:cs typeface="Arial"/>
              <a:sym typeface="Arial"/>
            </a:endParaRPr>
          </a:p>
        </p:txBody>
      </p:sp>
      <p:sp>
        <p:nvSpPr>
          <p:cNvPr id="331" name="Google Shape;331;p13"/>
          <p:cNvSpPr txBox="1"/>
          <p:nvPr/>
        </p:nvSpPr>
        <p:spPr>
          <a:xfrm>
            <a:off x="1589853" y="5336311"/>
            <a:ext cx="180773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dirty="0">
                <a:solidFill>
                  <a:srgbClr val="000000"/>
                </a:solidFill>
                <a:latin typeface="+mn-lt"/>
                <a:ea typeface="Arial"/>
                <a:cs typeface="Arial"/>
                <a:sym typeface="Arial"/>
              </a:rPr>
              <a:t>Estado Extendido</a:t>
            </a:r>
            <a:endParaRPr sz="1400" b="0" i="0" u="none" strike="noStrike" cap="none" dirty="0">
              <a:solidFill>
                <a:srgbClr val="000000"/>
              </a:solidFill>
              <a:latin typeface="+mn-lt"/>
              <a:ea typeface="Arial"/>
              <a:cs typeface="Arial"/>
              <a:sym typeface="Arial"/>
            </a:endParaRPr>
          </a:p>
        </p:txBody>
      </p:sp>
      <p:pic>
        <p:nvPicPr>
          <p:cNvPr id="333" name="Google Shape;333;p13"/>
          <p:cNvPicPr preferRelativeResize="0"/>
          <p:nvPr/>
        </p:nvPicPr>
        <p:blipFill rotWithShape="1">
          <a:blip r:embed="rId7">
            <a:alphaModFix/>
          </a:blip>
          <a:srcRect/>
          <a:stretch/>
        </p:blipFill>
        <p:spPr>
          <a:xfrm>
            <a:off x="3237195" y="3493734"/>
            <a:ext cx="5040315" cy="911225"/>
          </a:xfrm>
          <a:prstGeom prst="rect">
            <a:avLst/>
          </a:prstGeom>
          <a:noFill/>
          <a:ln>
            <a:noFill/>
          </a:ln>
        </p:spPr>
      </p:pic>
      <p:sp>
        <p:nvSpPr>
          <p:cNvPr id="332" name="Google Shape;332;p13"/>
          <p:cNvSpPr txBox="1"/>
          <p:nvPr/>
        </p:nvSpPr>
        <p:spPr>
          <a:xfrm>
            <a:off x="7870380" y="5980925"/>
            <a:ext cx="334213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dirty="0">
                <a:solidFill>
                  <a:srgbClr val="000000"/>
                </a:solidFill>
                <a:latin typeface="+mn-lt"/>
                <a:ea typeface="Arial"/>
                <a:cs typeface="Arial"/>
                <a:sym typeface="Arial"/>
              </a:rPr>
              <a:t>Estado Compuesto o </a:t>
            </a:r>
            <a:r>
              <a:rPr lang="es-ES" sz="1400" b="0" i="0" u="none" strike="noStrike" cap="none" dirty="0" err="1">
                <a:solidFill>
                  <a:srgbClr val="000000"/>
                </a:solidFill>
                <a:latin typeface="+mn-lt"/>
                <a:ea typeface="Arial"/>
                <a:cs typeface="Arial"/>
                <a:sym typeface="Arial"/>
              </a:rPr>
              <a:t>Sub-estado</a:t>
            </a:r>
            <a:endParaRPr sz="1400" b="0" i="0" u="none" strike="noStrike" cap="none" dirty="0">
              <a:solidFill>
                <a:srgbClr val="000000"/>
              </a:solidFill>
              <a:latin typeface="+mn-lt"/>
              <a:ea typeface="Arial"/>
              <a:cs typeface="Arial"/>
              <a:sym typeface="Arial"/>
            </a:endParaRPr>
          </a:p>
        </p:txBody>
      </p:sp>
    </p:spTree>
    <p:extLst>
      <p:ext uri="{BB962C8B-B14F-4D97-AF65-F5344CB8AC3E}">
        <p14:creationId xmlns:p14="http://schemas.microsoft.com/office/powerpoint/2010/main" val="1330143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9"/>
                                        </p:tgtEl>
                                        <p:attrNameLst>
                                          <p:attrName>style.visibility</p:attrName>
                                        </p:attrNameLst>
                                      </p:cBhvr>
                                      <p:to>
                                        <p:strVal val="visible"/>
                                      </p:to>
                                    </p:set>
                                    <p:animEffect transition="in" filter="fade">
                                      <p:cBhvr>
                                        <p:cTn id="7" dur="500"/>
                                        <p:tgtEl>
                                          <p:spTgt spid="329"/>
                                        </p:tgtEl>
                                      </p:cBhvr>
                                    </p:animEffect>
                                  </p:childTnLst>
                                </p:cTn>
                              </p:par>
                              <p:par>
                                <p:cTn id="8" presetID="10" presetClass="entr" presetSubtype="0" fill="hold" nodeType="withEffect">
                                  <p:stCondLst>
                                    <p:cond delay="0"/>
                                  </p:stCondLst>
                                  <p:childTnLst>
                                    <p:set>
                                      <p:cBhvr>
                                        <p:cTn id="9" dur="1" fill="hold">
                                          <p:stCondLst>
                                            <p:cond delay="0"/>
                                          </p:stCondLst>
                                        </p:cTn>
                                        <p:tgtEl>
                                          <p:spTgt spid="325"/>
                                        </p:tgtEl>
                                        <p:attrNameLst>
                                          <p:attrName>style.visibility</p:attrName>
                                        </p:attrNameLst>
                                      </p:cBhvr>
                                      <p:to>
                                        <p:strVal val="visible"/>
                                      </p:to>
                                    </p:set>
                                    <p:animEffect transition="in" filter="fade">
                                      <p:cBhvr>
                                        <p:cTn id="10" dur="500"/>
                                        <p:tgtEl>
                                          <p:spTgt spid="3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7"/>
                                        </p:tgtEl>
                                        <p:attrNameLst>
                                          <p:attrName>style.visibility</p:attrName>
                                        </p:attrNameLst>
                                      </p:cBhvr>
                                      <p:to>
                                        <p:strVal val="visible"/>
                                      </p:to>
                                    </p:set>
                                    <p:animEffect transition="in" filter="fade">
                                      <p:cBhvr>
                                        <p:cTn id="15" dur="500"/>
                                        <p:tgtEl>
                                          <p:spTgt spid="327"/>
                                        </p:tgtEl>
                                      </p:cBhvr>
                                    </p:animEffect>
                                  </p:childTnLst>
                                </p:cTn>
                              </p:par>
                              <p:par>
                                <p:cTn id="16" presetID="10" presetClass="entr" presetSubtype="0" fill="hold" nodeType="withEffect">
                                  <p:stCondLst>
                                    <p:cond delay="0"/>
                                  </p:stCondLst>
                                  <p:childTnLst>
                                    <p:set>
                                      <p:cBhvr>
                                        <p:cTn id="17" dur="1" fill="hold">
                                          <p:stCondLst>
                                            <p:cond delay="0"/>
                                          </p:stCondLst>
                                        </p:cTn>
                                        <p:tgtEl>
                                          <p:spTgt spid="331"/>
                                        </p:tgtEl>
                                        <p:attrNameLst>
                                          <p:attrName>style.visibility</p:attrName>
                                        </p:attrNameLst>
                                      </p:cBhvr>
                                      <p:to>
                                        <p:strVal val="visible"/>
                                      </p:to>
                                    </p:set>
                                    <p:animEffect transition="in" filter="fade">
                                      <p:cBhvr>
                                        <p:cTn id="18" dur="500"/>
                                        <p:tgtEl>
                                          <p:spTgt spid="3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3"/>
                                        </p:tgtEl>
                                        <p:attrNameLst>
                                          <p:attrName>style.visibility</p:attrName>
                                        </p:attrNameLst>
                                      </p:cBhvr>
                                      <p:to>
                                        <p:strVal val="visible"/>
                                      </p:to>
                                    </p:set>
                                    <p:animEffect transition="in" filter="fade">
                                      <p:cBhvr>
                                        <p:cTn id="23" dur="500"/>
                                        <p:tgtEl>
                                          <p:spTgt spid="33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26"/>
                                        </p:tgtEl>
                                        <p:attrNameLst>
                                          <p:attrName>style.visibility</p:attrName>
                                        </p:attrNameLst>
                                      </p:cBhvr>
                                      <p:to>
                                        <p:strVal val="visible"/>
                                      </p:to>
                                    </p:set>
                                    <p:animEffect transition="in" filter="fade">
                                      <p:cBhvr>
                                        <p:cTn id="28" dur="500"/>
                                        <p:tgtEl>
                                          <p:spTgt spid="326"/>
                                        </p:tgtEl>
                                      </p:cBhvr>
                                    </p:animEffect>
                                  </p:childTnLst>
                                </p:cTn>
                              </p:par>
                              <p:par>
                                <p:cTn id="29" presetID="10" presetClass="entr" presetSubtype="0" fill="hold" nodeType="withEffect">
                                  <p:stCondLst>
                                    <p:cond delay="0"/>
                                  </p:stCondLst>
                                  <p:childTnLst>
                                    <p:set>
                                      <p:cBhvr>
                                        <p:cTn id="30" dur="1" fill="hold">
                                          <p:stCondLst>
                                            <p:cond delay="0"/>
                                          </p:stCondLst>
                                        </p:cTn>
                                        <p:tgtEl>
                                          <p:spTgt spid="330"/>
                                        </p:tgtEl>
                                        <p:attrNameLst>
                                          <p:attrName>style.visibility</p:attrName>
                                        </p:attrNameLst>
                                      </p:cBhvr>
                                      <p:to>
                                        <p:strVal val="visible"/>
                                      </p:to>
                                    </p:set>
                                    <p:animEffect transition="in" filter="fade">
                                      <p:cBhvr>
                                        <p:cTn id="31" dur="500"/>
                                        <p:tgtEl>
                                          <p:spTgt spid="3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28"/>
                                        </p:tgtEl>
                                        <p:attrNameLst>
                                          <p:attrName>style.visibility</p:attrName>
                                        </p:attrNameLst>
                                      </p:cBhvr>
                                      <p:to>
                                        <p:strVal val="visible"/>
                                      </p:to>
                                    </p:set>
                                    <p:animEffect transition="in" filter="fade">
                                      <p:cBhvr>
                                        <p:cTn id="36" dur="500"/>
                                        <p:tgtEl>
                                          <p:spTgt spid="328"/>
                                        </p:tgtEl>
                                      </p:cBhvr>
                                    </p:animEffect>
                                  </p:childTnLst>
                                </p:cTn>
                              </p:par>
                              <p:par>
                                <p:cTn id="37" presetID="10" presetClass="entr" presetSubtype="0" fill="hold" nodeType="withEffect">
                                  <p:stCondLst>
                                    <p:cond delay="0"/>
                                  </p:stCondLst>
                                  <p:childTnLst>
                                    <p:set>
                                      <p:cBhvr>
                                        <p:cTn id="38" dur="1" fill="hold">
                                          <p:stCondLst>
                                            <p:cond delay="0"/>
                                          </p:stCondLst>
                                        </p:cTn>
                                        <p:tgtEl>
                                          <p:spTgt spid="332"/>
                                        </p:tgtEl>
                                        <p:attrNameLst>
                                          <p:attrName>style.visibility</p:attrName>
                                        </p:attrNameLst>
                                      </p:cBhvr>
                                      <p:to>
                                        <p:strVal val="visible"/>
                                      </p:to>
                                    </p:set>
                                    <p:animEffect transition="in" filter="fade">
                                      <p:cBhvr>
                                        <p:cTn id="39" dur="500"/>
                                        <p:tgtEl>
                                          <p:spTgt spid="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356D3B14-788B-5264-C45A-6A31F21838F5}"/>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1EBAAEA5-E95B-F11C-FF63-0DCF6A7F8DF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A1FD3B01-4F32-B9AD-A2CA-430A3F993B97}"/>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9F824A73-989C-4CB2-9105-45964727574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B444D44C-63F5-1EC5-A2C6-4BBC6777661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13</a:t>
            </a:fld>
            <a:endParaRPr/>
          </a:p>
        </p:txBody>
      </p:sp>
      <p:sp>
        <p:nvSpPr>
          <p:cNvPr id="383" name="Google Shape;383;p63">
            <a:extLst>
              <a:ext uri="{FF2B5EF4-FFF2-40B4-BE49-F238E27FC236}">
                <a16:creationId xmlns:a16="http://schemas.microsoft.com/office/drawing/2014/main" id="{DFEEBCA3-2632-BCEE-2082-52611FDBF186}"/>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Evento</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Es un </a:t>
            </a:r>
            <a:r>
              <a:rPr lang="es-ES" sz="2400" b="1" dirty="0">
                <a:solidFill>
                  <a:schemeClr val="dk1"/>
                </a:solidFill>
                <a:latin typeface="Calibri"/>
                <a:ea typeface="Calibri"/>
                <a:cs typeface="Calibri"/>
                <a:sym typeface="Calibri"/>
              </a:rPr>
              <a:t>suceso significativo </a:t>
            </a:r>
            <a:r>
              <a:rPr lang="es-ES" sz="2400" dirty="0">
                <a:solidFill>
                  <a:schemeClr val="dk1"/>
                </a:solidFill>
                <a:latin typeface="Calibri"/>
                <a:ea typeface="Calibri"/>
                <a:cs typeface="Calibri"/>
                <a:sym typeface="Calibri"/>
              </a:rPr>
              <a:t>que debe tenerse en cuenta, que influye en el comportamiento y evolución del sistema.</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Tiene lugar  en un punto del tiempo y carece de duración respecto a la granularidad temporal del sistema.</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No tiene sentido preguntarse por lo que sucede mientras está teniendo lugar el evento.</a:t>
            </a: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60530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BB04409F-5434-F977-0222-0309BD9E6C81}"/>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070E2D61-E029-1B9C-4424-22237D2A7D7F}"/>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6196D94D-D166-BD1F-1531-88AF21FBF92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17A954A2-F080-F564-9BA5-E94F31C5C25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506EC7AF-FC02-1A0A-D949-E7CE698D4C0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14</a:t>
            </a:fld>
            <a:endParaRPr/>
          </a:p>
        </p:txBody>
      </p:sp>
      <p:sp>
        <p:nvSpPr>
          <p:cNvPr id="383" name="Google Shape;383;p63">
            <a:extLst>
              <a:ext uri="{FF2B5EF4-FFF2-40B4-BE49-F238E27FC236}">
                <a16:creationId xmlns:a16="http://schemas.microsoft.com/office/drawing/2014/main" id="{B62791A0-E86C-C3E7-5170-965A4F3ACE59}"/>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Transición</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Las transiciones se producen como consecuencia de eventos. </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Pueden o no tener un procesamiento asociado</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endParaRPr lang="es-ES" sz="2400" dirty="0">
              <a:solidFill>
                <a:schemeClr val="dk1"/>
              </a:solidFill>
              <a:latin typeface="Calibri"/>
              <a:ea typeface="Calibri"/>
              <a:cs typeface="Calibri"/>
              <a:sym typeface="Calibri"/>
            </a:endParaRPr>
          </a:p>
          <a:p>
            <a:pPr marL="712788" marR="0" lvl="0" indent="-263525" algn="just" rtl="0">
              <a:spcBef>
                <a:spcPts val="0"/>
              </a:spcBef>
              <a:spcAft>
                <a:spcPts val="300"/>
              </a:spcAft>
              <a:buClr>
                <a:srgbClr val="C00000"/>
              </a:buClr>
              <a:buSzPct val="100000"/>
              <a:buFont typeface="Noto Sans Symbols2" panose="020B0502040504020204" pitchFamily="34" charset="0"/>
              <a:buChar char="»"/>
            </a:pPr>
            <a:endParaRPr lang="es-ES" sz="2400" dirty="0">
              <a:solidFill>
                <a:schemeClr val="dk1"/>
              </a:solidFill>
              <a:latin typeface="Calibri"/>
              <a:ea typeface="Calibri"/>
              <a:cs typeface="Calibri"/>
              <a:sym typeface="Calibri"/>
            </a:endParaRPr>
          </a:p>
          <a:p>
            <a:pPr marL="712788" marR="0" lvl="0" indent="-263525" algn="just" rtl="0">
              <a:spcBef>
                <a:spcPts val="0"/>
              </a:spcBef>
              <a:spcAft>
                <a:spcPts val="300"/>
              </a:spcAft>
              <a:buClr>
                <a:srgbClr val="C00000"/>
              </a:buClr>
              <a:buSzPct val="100000"/>
              <a:buFont typeface="Noto Sans Symbols2" panose="020B0502040504020204" pitchFamily="34" charset="0"/>
              <a:buChar char="»"/>
            </a:pPr>
            <a:endParaRPr lang="es-ES" sz="2400" dirty="0">
              <a:solidFill>
                <a:schemeClr val="dk1"/>
              </a:solidFill>
              <a:latin typeface="Calibri"/>
              <a:ea typeface="Calibri"/>
              <a:cs typeface="Calibri"/>
              <a:sym typeface="Calibri"/>
            </a:endParaRPr>
          </a:p>
          <a:p>
            <a:pPr marL="449263" marR="0" lvl="0" algn="just" rtl="0">
              <a:spcBef>
                <a:spcPts val="0"/>
              </a:spcBef>
              <a:spcAft>
                <a:spcPts val="300"/>
              </a:spcAft>
              <a:buClr>
                <a:srgbClr val="C00000"/>
              </a:buClr>
              <a:buSzPct val="100000"/>
            </a:pPr>
            <a:endParaRPr lang="es-ES" sz="2400" dirty="0">
              <a:solidFill>
                <a:schemeClr val="dk1"/>
              </a:solidFill>
              <a:latin typeface="Calibri"/>
              <a:ea typeface="Calibri"/>
              <a:cs typeface="Calibri"/>
              <a:sym typeface="Calibri"/>
            </a:endParaRPr>
          </a:p>
          <a:p>
            <a:pPr marL="792163" marR="0" lvl="0" indent="-342900" algn="just" rtl="0">
              <a:spcBef>
                <a:spcPts val="0"/>
              </a:spcBef>
              <a:spcAft>
                <a:spcPts val="300"/>
              </a:spcAft>
              <a:buClr>
                <a:srgbClr val="C00000"/>
              </a:buClr>
              <a:buSzPct val="100000"/>
              <a:buFont typeface="Arial" panose="020B0604020202020204" pitchFamily="34" charset="0"/>
              <a:buChar char="•"/>
            </a:pPr>
            <a:r>
              <a:rPr lang="es-ES" sz="2000" dirty="0">
                <a:solidFill>
                  <a:schemeClr val="dk1"/>
                </a:solidFill>
                <a:latin typeface="Calibri"/>
                <a:ea typeface="Calibri"/>
                <a:cs typeface="Calibri"/>
                <a:sym typeface="Calibri"/>
              </a:rPr>
              <a:t>Evento: obligatorio</a:t>
            </a:r>
          </a:p>
          <a:p>
            <a:pPr marL="792163" marR="0" lvl="0" indent="-342900" algn="just" rtl="0">
              <a:spcBef>
                <a:spcPts val="0"/>
              </a:spcBef>
              <a:spcAft>
                <a:spcPts val="300"/>
              </a:spcAft>
              <a:buClr>
                <a:srgbClr val="C00000"/>
              </a:buClr>
              <a:buSzPct val="100000"/>
              <a:buFont typeface="Arial" panose="020B0604020202020204" pitchFamily="34" charset="0"/>
              <a:buChar char="•"/>
            </a:pPr>
            <a:r>
              <a:rPr lang="es-ES" sz="2000" dirty="0">
                <a:solidFill>
                  <a:schemeClr val="dk1"/>
                </a:solidFill>
                <a:latin typeface="Calibri"/>
                <a:ea typeface="Calibri"/>
                <a:cs typeface="Calibri"/>
                <a:sym typeface="Calibri"/>
              </a:rPr>
              <a:t>Condición: opcional, depende del problema, puede haber transiciones sin condiciones</a:t>
            </a:r>
          </a:p>
          <a:p>
            <a:pPr marL="792163" marR="0" lvl="0" indent="-342900" algn="just" rtl="0">
              <a:spcBef>
                <a:spcPts val="0"/>
              </a:spcBef>
              <a:spcAft>
                <a:spcPts val="300"/>
              </a:spcAft>
              <a:buClr>
                <a:srgbClr val="C00000"/>
              </a:buClr>
              <a:buSzPct val="100000"/>
              <a:buFont typeface="Arial" panose="020B0604020202020204" pitchFamily="34" charset="0"/>
              <a:buChar char="•"/>
            </a:pPr>
            <a:r>
              <a:rPr lang="es-ES" sz="2000" dirty="0">
                <a:solidFill>
                  <a:schemeClr val="dk1"/>
                </a:solidFill>
                <a:latin typeface="Calibri"/>
                <a:ea typeface="Calibri"/>
                <a:cs typeface="Calibri"/>
                <a:sym typeface="Calibri"/>
              </a:rPr>
              <a:t>Acción: opcional, puede haber transiciones sin acciones                                                                </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endParaRPr lang="es-ES" sz="2400" dirty="0">
              <a:solidFill>
                <a:schemeClr val="dk1"/>
              </a:solidFill>
              <a:latin typeface="Calibri"/>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pic>
        <p:nvPicPr>
          <p:cNvPr id="3" name="Google Shape;350;g2248174e0a4_1_13">
            <a:extLst>
              <a:ext uri="{FF2B5EF4-FFF2-40B4-BE49-F238E27FC236}">
                <a16:creationId xmlns:a16="http://schemas.microsoft.com/office/drawing/2014/main" id="{767AB5BB-E70F-B46B-443B-E5D2ADB50848}"/>
              </a:ext>
            </a:extLst>
          </p:cNvPr>
          <p:cNvPicPr preferRelativeResize="0"/>
          <p:nvPr/>
        </p:nvPicPr>
        <p:blipFill rotWithShape="1">
          <a:blip r:embed="rId3">
            <a:alphaModFix/>
          </a:blip>
          <a:srcRect/>
          <a:stretch/>
        </p:blipFill>
        <p:spPr>
          <a:xfrm>
            <a:off x="3468685" y="3660901"/>
            <a:ext cx="5040315" cy="911225"/>
          </a:xfrm>
          <a:prstGeom prst="rect">
            <a:avLst/>
          </a:prstGeom>
          <a:noFill/>
          <a:ln>
            <a:noFill/>
          </a:ln>
        </p:spPr>
      </p:pic>
    </p:spTree>
    <p:extLst>
      <p:ext uri="{BB962C8B-B14F-4D97-AF65-F5344CB8AC3E}">
        <p14:creationId xmlns:p14="http://schemas.microsoft.com/office/powerpoint/2010/main" val="260160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7207E99C-C494-3BA0-943C-0743D9F0C503}"/>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27EB4F17-A67C-C8E0-97D2-E6FE0E2D3765}"/>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016D1940-0E06-0B81-D676-1B5CFBF9AB6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18DE5B67-848A-D893-FC7E-084FE2194762}"/>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80137FDC-50A5-B36D-83FB-D5AF3EBD1C4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15</a:t>
            </a:fld>
            <a:endParaRPr/>
          </a:p>
        </p:txBody>
      </p:sp>
      <p:sp>
        <p:nvSpPr>
          <p:cNvPr id="383" name="Google Shape;383;p63">
            <a:extLst>
              <a:ext uri="{FF2B5EF4-FFF2-40B4-BE49-F238E27FC236}">
                <a16:creationId xmlns:a16="http://schemas.microsoft.com/office/drawing/2014/main" id="{A5A51FD4-0DB2-3BEC-849B-5CCEB9ED76A7}"/>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Construcción de un DTE</a:t>
            </a:r>
          </a:p>
          <a:p>
            <a:pPr marL="906463" marR="0" lvl="0" indent="-457200" algn="just" rtl="0">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Identificar los estados</a:t>
            </a:r>
          </a:p>
          <a:p>
            <a:pPr marL="906463" marR="0" lvl="0" indent="-457200" algn="just" rtl="0">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Si hay un estado complejo se puede explotar</a:t>
            </a:r>
          </a:p>
          <a:p>
            <a:pPr marL="906463" marR="0" lvl="0" indent="-457200" algn="just" rtl="0">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Identificar el estado inicial</a:t>
            </a:r>
          </a:p>
          <a:p>
            <a:pPr marL="898525" marR="0" lvl="0" algn="just" rtl="0">
              <a:spcBef>
                <a:spcPts val="0"/>
              </a:spcBef>
              <a:spcAft>
                <a:spcPts val="300"/>
              </a:spcAft>
              <a:buClr>
                <a:srgbClr val="C00000"/>
              </a:buClr>
              <a:buSzPct val="100000"/>
            </a:pPr>
            <a:r>
              <a:rPr lang="es-ES" sz="2000" dirty="0">
                <a:solidFill>
                  <a:schemeClr val="dk1"/>
                </a:solidFill>
                <a:latin typeface="Calibri"/>
                <a:ea typeface="Calibri"/>
                <a:cs typeface="Calibri"/>
                <a:sym typeface="Calibri"/>
              </a:rPr>
              <a:t>Desde el estado inicial, se identifican los cambios de estado con flechas</a:t>
            </a:r>
          </a:p>
          <a:p>
            <a:pPr marL="906463" marR="0" lvl="0" indent="-457200" algn="just" rtl="0">
              <a:spcBef>
                <a:spcPts val="0"/>
              </a:spcBef>
              <a:spcAft>
                <a:spcPts val="300"/>
              </a:spcAft>
              <a:buClr>
                <a:srgbClr val="C00000"/>
              </a:buClr>
              <a:buSzPct val="100000"/>
              <a:buFont typeface="+mj-lt"/>
              <a:buAutoNum type="arabicPeriod" startAt="4"/>
            </a:pPr>
            <a:r>
              <a:rPr lang="es-ES" sz="2400" dirty="0">
                <a:solidFill>
                  <a:schemeClr val="dk1"/>
                </a:solidFill>
                <a:latin typeface="Calibri"/>
                <a:ea typeface="Calibri"/>
                <a:cs typeface="Calibri"/>
                <a:sym typeface="Calibri"/>
              </a:rPr>
              <a:t>Se analizan las condiciones y las acciones para pasar de un estado a otro</a:t>
            </a:r>
          </a:p>
          <a:p>
            <a:pPr marL="906463" marR="0" lvl="0" indent="-457200" algn="just" rtl="0">
              <a:spcBef>
                <a:spcPts val="0"/>
              </a:spcBef>
              <a:spcAft>
                <a:spcPts val="300"/>
              </a:spcAft>
              <a:buClr>
                <a:srgbClr val="C00000"/>
              </a:buClr>
              <a:buSzPct val="100000"/>
              <a:buFont typeface="+mj-lt"/>
              <a:buAutoNum type="arabicPeriod" startAt="4"/>
            </a:pPr>
            <a:r>
              <a:rPr lang="es-ES" sz="2400" dirty="0">
                <a:solidFill>
                  <a:schemeClr val="dk1"/>
                </a:solidFill>
                <a:latin typeface="Calibri"/>
                <a:ea typeface="Calibri"/>
                <a:cs typeface="Calibri"/>
                <a:sym typeface="Calibri"/>
              </a:rPr>
              <a:t>Se verifica la consistencia:</a:t>
            </a:r>
          </a:p>
          <a:p>
            <a:pPr marL="1162050" marR="0" lvl="0" indent="-263525" algn="just" rtl="0">
              <a:spcBef>
                <a:spcPts val="0"/>
              </a:spcBef>
              <a:spcAft>
                <a:spcPts val="300"/>
              </a:spcAft>
              <a:buClr>
                <a:srgbClr val="C00000"/>
              </a:buClr>
              <a:buSzPct val="100000"/>
              <a:buFont typeface="Arial" panose="020B0604020202020204" pitchFamily="34" charset="0"/>
              <a:buChar char="•"/>
              <a:tabLst>
                <a:tab pos="898525" algn="l"/>
              </a:tabLst>
            </a:pPr>
            <a:r>
              <a:rPr lang="es-ES" sz="2000" dirty="0">
                <a:solidFill>
                  <a:schemeClr val="dk1"/>
                </a:solidFill>
                <a:latin typeface="Calibri"/>
                <a:ea typeface="Calibri"/>
                <a:cs typeface="Calibri"/>
                <a:sym typeface="Calibri"/>
              </a:rPr>
              <a:t>Se han definido todos los estados</a:t>
            </a:r>
          </a:p>
          <a:p>
            <a:pPr marL="1162050" marR="0" lvl="0" indent="-263525" algn="just" rtl="0">
              <a:spcBef>
                <a:spcPts val="0"/>
              </a:spcBef>
              <a:spcAft>
                <a:spcPts val="300"/>
              </a:spcAft>
              <a:buClr>
                <a:srgbClr val="C00000"/>
              </a:buClr>
              <a:buSzPct val="100000"/>
              <a:buFont typeface="Arial" panose="020B0604020202020204" pitchFamily="34" charset="0"/>
              <a:buChar char="•"/>
              <a:tabLst>
                <a:tab pos="898525" algn="l"/>
              </a:tabLst>
            </a:pPr>
            <a:r>
              <a:rPr lang="es-ES" sz="2000" dirty="0">
                <a:solidFill>
                  <a:schemeClr val="dk1"/>
                </a:solidFill>
                <a:latin typeface="Calibri"/>
                <a:ea typeface="Calibri"/>
                <a:cs typeface="Calibri"/>
                <a:sym typeface="Calibri"/>
              </a:rPr>
              <a:t>Se pueden alcanzar todos los estados</a:t>
            </a:r>
          </a:p>
          <a:p>
            <a:pPr marL="1162050" marR="0" lvl="0" indent="-263525" algn="just" rtl="0">
              <a:spcBef>
                <a:spcPts val="0"/>
              </a:spcBef>
              <a:spcAft>
                <a:spcPts val="300"/>
              </a:spcAft>
              <a:buClr>
                <a:srgbClr val="C00000"/>
              </a:buClr>
              <a:buSzPct val="100000"/>
              <a:buFont typeface="Arial" panose="020B0604020202020204" pitchFamily="34" charset="0"/>
              <a:buChar char="•"/>
              <a:tabLst>
                <a:tab pos="898525" algn="l"/>
              </a:tabLst>
            </a:pPr>
            <a:r>
              <a:rPr lang="es-ES" sz="2000" dirty="0">
                <a:solidFill>
                  <a:schemeClr val="dk1"/>
                </a:solidFill>
                <a:latin typeface="Calibri"/>
                <a:ea typeface="Calibri"/>
                <a:cs typeface="Calibri"/>
                <a:sym typeface="Calibri"/>
              </a:rPr>
              <a:t>Se puede salir de todos los estados</a:t>
            </a:r>
          </a:p>
          <a:p>
            <a:pPr marL="1162050" marR="0" lvl="0" indent="-263525" algn="just" rtl="0">
              <a:spcBef>
                <a:spcPts val="0"/>
              </a:spcBef>
              <a:spcAft>
                <a:spcPts val="300"/>
              </a:spcAft>
              <a:buClr>
                <a:srgbClr val="C00000"/>
              </a:buClr>
              <a:buSzPct val="100000"/>
              <a:buFont typeface="Arial" panose="020B0604020202020204" pitchFamily="34" charset="0"/>
              <a:buChar char="•"/>
              <a:tabLst>
                <a:tab pos="898525" algn="l"/>
              </a:tabLst>
            </a:pPr>
            <a:r>
              <a:rPr lang="es-ES" sz="2000" dirty="0">
                <a:solidFill>
                  <a:schemeClr val="dk1"/>
                </a:solidFill>
                <a:latin typeface="Calibri"/>
                <a:ea typeface="Calibri"/>
                <a:cs typeface="Calibri"/>
                <a:sym typeface="Calibri"/>
              </a:rPr>
              <a:t>En cada estado, el sistema responde a todas las condiciones posibles (normales y anormales)</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endParaRPr lang="es-ES" sz="2400" dirty="0">
              <a:solidFill>
                <a:schemeClr val="dk1"/>
              </a:solidFill>
              <a:latin typeface="Calibri"/>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6571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36F0B307-59FF-739B-4708-214BF24D9EA9}"/>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ECEFAB67-1C42-C52E-2DA4-A30FE76E116D}"/>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4B2D7A56-B155-6837-6EA8-2D0872E1D11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AC187ACF-F6BE-9CBA-2693-6889DBAD6DB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E38801E0-EDDF-6FD8-212D-FADA71FDFEE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16</a:t>
            </a:fld>
            <a:endParaRPr/>
          </a:p>
        </p:txBody>
      </p:sp>
      <p:sp>
        <p:nvSpPr>
          <p:cNvPr id="383" name="Google Shape;383;p63">
            <a:extLst>
              <a:ext uri="{FF2B5EF4-FFF2-40B4-BE49-F238E27FC236}">
                <a16:creationId xmlns:a16="http://schemas.microsoft.com/office/drawing/2014/main" id="{A29875FC-2904-79C5-24C9-2E377162DE0D}"/>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R="0" lvl="0" algn="just" rtl="0">
              <a:spcBef>
                <a:spcPts val="0"/>
              </a:spcBef>
              <a:buClr>
                <a:srgbClr val="C00000"/>
              </a:buClr>
              <a:buSzPct val="100000"/>
            </a:pPr>
            <a:r>
              <a:rPr lang="es-ES" sz="2000" dirty="0">
                <a:solidFill>
                  <a:schemeClr val="dk1"/>
                </a:solidFill>
                <a:latin typeface="Calibri"/>
                <a:ea typeface="Calibri"/>
                <a:cs typeface="Calibri"/>
                <a:sym typeface="Calibri"/>
              </a:rPr>
              <a:t>Se requiere modelar el comportamiento de un sistema de autenticación simple para una aplicación móvil. El sistema debe seguir las siguientes reglas: </a:t>
            </a:r>
          </a:p>
          <a:p>
            <a:pPr marL="263525" marR="0" lvl="0" indent="-263525" algn="just" rtl="0">
              <a:spcBef>
                <a:spcPts val="0"/>
              </a:spcBef>
              <a:buClrTx/>
              <a:buSzPct val="100000"/>
              <a:buFont typeface="Arial" panose="020B0604020202020204" pitchFamily="34" charset="0"/>
              <a:buChar char="•"/>
            </a:pPr>
            <a:r>
              <a:rPr lang="es-ES" sz="2000" dirty="0">
                <a:solidFill>
                  <a:schemeClr val="dk1"/>
                </a:solidFill>
                <a:latin typeface="Calibri"/>
                <a:ea typeface="Calibri"/>
                <a:cs typeface="Calibri"/>
                <a:sym typeface="Calibri"/>
              </a:rPr>
              <a:t>Cuando se abre la aplicación por primera vez, el sistema muestra una "Pantalla de Inicio". Desde allí el usuario puede presionar el botón "Ingresar". Esto lo lleva al "Formulario de Ingreso". </a:t>
            </a:r>
          </a:p>
          <a:p>
            <a:pPr marL="263525" marR="0" lvl="0" indent="-263525" algn="just" rtl="0">
              <a:spcBef>
                <a:spcPts val="0"/>
              </a:spcBef>
              <a:buClrTx/>
              <a:buSzPct val="100000"/>
              <a:buFont typeface="Arial" panose="020B0604020202020204" pitchFamily="34" charset="0"/>
              <a:buChar char="•"/>
            </a:pPr>
            <a:r>
              <a:rPr lang="es-ES" sz="2000" dirty="0">
                <a:solidFill>
                  <a:schemeClr val="dk1"/>
                </a:solidFill>
                <a:latin typeface="Calibri"/>
                <a:ea typeface="Calibri"/>
                <a:cs typeface="Calibri"/>
                <a:sym typeface="Calibri"/>
              </a:rPr>
              <a:t>Proceso de autenticación: en el "Formulario de Ingreso", si el usuario ingresa las credenciales correctas y presiona "Autenticar", el sistema activa la sesión del usuario. Si las credenciales son incorrectas, se muestra un mensaje de error y permanece en el "Formulario de Ingreso". </a:t>
            </a:r>
          </a:p>
          <a:p>
            <a:pPr marL="263525" marR="0" lvl="0" indent="-263525" algn="just" rtl="0">
              <a:spcBef>
                <a:spcPts val="0"/>
              </a:spcBef>
              <a:buClrTx/>
              <a:buSzPct val="100000"/>
              <a:buFont typeface="Arial" panose="020B0604020202020204" pitchFamily="34" charset="0"/>
              <a:buChar char="•"/>
            </a:pPr>
            <a:r>
              <a:rPr lang="es-ES" sz="2000" dirty="0">
                <a:solidFill>
                  <a:schemeClr val="dk1"/>
                </a:solidFill>
                <a:latin typeface="Calibri"/>
                <a:ea typeface="Calibri"/>
                <a:cs typeface="Calibri"/>
                <a:sym typeface="Calibri"/>
              </a:rPr>
              <a:t>Una vez iniciada la sesión, el usuario puede presionar el botón "Cerrar Sesión", lo que lo devuelve a la "Pantalla de Inicio". </a:t>
            </a:r>
          </a:p>
          <a:p>
            <a:pPr marL="263525" marR="0" lvl="0" indent="-263525" algn="just" rtl="0">
              <a:spcBef>
                <a:spcPts val="0"/>
              </a:spcBef>
              <a:buClrTx/>
              <a:buSzPct val="100000"/>
              <a:buFont typeface="Arial" panose="020B0604020202020204" pitchFamily="34" charset="0"/>
              <a:buChar char="•"/>
            </a:pPr>
            <a:r>
              <a:rPr lang="es-ES" sz="2000" dirty="0">
                <a:solidFill>
                  <a:schemeClr val="dk1"/>
                </a:solidFill>
                <a:latin typeface="Calibri"/>
                <a:ea typeface="Calibri"/>
                <a:cs typeface="Calibri"/>
                <a:sym typeface="Calibri"/>
              </a:rPr>
              <a:t>Inactividad: después de 5 minutos de inactividad, la sesión del usuario expira automáticamente, y el sistema regresa a la "Pantalla de Inicio". </a:t>
            </a:r>
          </a:p>
          <a:p>
            <a:pPr marL="263525" marR="0" lvl="0" indent="-263525" algn="just" rtl="0">
              <a:spcBef>
                <a:spcPts val="0"/>
              </a:spcBef>
              <a:buClrTx/>
              <a:buSzPct val="100000"/>
              <a:buFont typeface="Arial" panose="020B0604020202020204" pitchFamily="34" charset="0"/>
              <a:buChar char="•"/>
            </a:pPr>
            <a:r>
              <a:rPr lang="es-ES" sz="2000" dirty="0">
                <a:solidFill>
                  <a:schemeClr val="dk1"/>
                </a:solidFill>
                <a:latin typeface="Calibri"/>
                <a:ea typeface="Calibri"/>
                <a:cs typeface="Calibri"/>
                <a:sym typeface="Calibri"/>
              </a:rPr>
              <a:t>Si la aplicación se cierra, el sistema finaliza, independientemente del estado en el que se encuentre.</a:t>
            </a:r>
          </a:p>
          <a:p>
            <a:pPr marL="449263" marR="0" lvl="0" algn="just" rtl="0">
              <a:spcBef>
                <a:spcPts val="0"/>
              </a:spcBef>
              <a:buClr>
                <a:srgbClr val="C00000"/>
              </a:buClr>
              <a:buSzPct val="100000"/>
            </a:pPr>
            <a:endParaRPr lang="es-ES" sz="2000" dirty="0">
              <a:solidFill>
                <a:schemeClr val="dk1"/>
              </a:solidFill>
              <a:latin typeface="Calibri"/>
              <a:ea typeface="Calibri"/>
              <a:cs typeface="Calibri"/>
              <a:sym typeface="Calibri"/>
            </a:endParaRPr>
          </a:p>
          <a:p>
            <a:pPr marR="0" lvl="0" algn="just" rtl="0">
              <a:spcBef>
                <a:spcPts val="0"/>
              </a:spcBef>
              <a:buClr>
                <a:srgbClr val="C00000"/>
              </a:buClr>
              <a:buSzPct val="100000"/>
            </a:pPr>
            <a:endParaRPr lang="es-ES" sz="2000" dirty="0">
              <a:solidFill>
                <a:schemeClr val="dk1"/>
              </a:solidFill>
              <a:latin typeface="Calibri"/>
              <a:ea typeface="Calibri"/>
              <a:cs typeface="Calibri"/>
              <a:sym typeface="Calibri"/>
            </a:endParaRPr>
          </a:p>
        </p:txBody>
      </p:sp>
      <p:pic>
        <p:nvPicPr>
          <p:cNvPr id="3" name="Google Shape;366;p15">
            <a:extLst>
              <a:ext uri="{FF2B5EF4-FFF2-40B4-BE49-F238E27FC236}">
                <a16:creationId xmlns:a16="http://schemas.microsoft.com/office/drawing/2014/main" id="{4BF3D378-9605-77E6-882A-B179D0768329}"/>
              </a:ext>
            </a:extLst>
          </p:cNvPr>
          <p:cNvPicPr preferRelativeResize="0"/>
          <p:nvPr/>
        </p:nvPicPr>
        <p:blipFill rotWithShape="1">
          <a:blip r:embed="rId3">
            <a:alphaModFix/>
          </a:blip>
          <a:srcRect/>
          <a:stretch/>
        </p:blipFill>
        <p:spPr>
          <a:xfrm>
            <a:off x="4916766" y="3196525"/>
            <a:ext cx="2598792" cy="105876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234432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F3C1098A-CFF1-83DF-D9D2-1DDF24DD2069}"/>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71FFB63A-E506-3D24-965D-3AB61D0E529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AD04BFCD-71CE-57C0-96F0-B6686E4F761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6857CDB7-3B10-9C0C-4F3F-1353E9C3C18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5EC5AD10-FCD7-D167-4EEF-1AFA78229E4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17</a:t>
            </a:fld>
            <a:endParaRPr/>
          </a:p>
        </p:txBody>
      </p:sp>
      <p:sp>
        <p:nvSpPr>
          <p:cNvPr id="383" name="Google Shape;383;p63">
            <a:extLst>
              <a:ext uri="{FF2B5EF4-FFF2-40B4-BE49-F238E27FC236}">
                <a16:creationId xmlns:a16="http://schemas.microsoft.com/office/drawing/2014/main" id="{47CF5397-3D5B-41D8-CC03-5F187A63909C}"/>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Funciones:</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Inicialmente (al abrir la app) visualiza la pantalla de inicio</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Visualizar formulario de ingreso</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Ingresar datos de autenticación (correctos o incorrectos)</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Presionar botón cerrar sesión</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Dejar la aplicación inactiva X tiempo</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Finaliza si la aplicación se cierra</a:t>
            </a: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9342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3772CC90-0407-28C9-B653-41469F911478}"/>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F60D61FD-C096-9F35-1496-EAB1DBA6D953}"/>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67C10D69-C63E-D92F-1920-EBF0C235F5D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39FB6B7E-1630-40F7-40BC-F4C51BB6505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11E7144C-0860-5A3D-04F8-1369C4EC554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18</a:t>
            </a:fld>
            <a:endParaRPr/>
          </a:p>
        </p:txBody>
      </p:sp>
      <p:sp>
        <p:nvSpPr>
          <p:cNvPr id="383" name="Google Shape;383;p63">
            <a:extLst>
              <a:ext uri="{FF2B5EF4-FFF2-40B4-BE49-F238E27FC236}">
                <a16:creationId xmlns:a16="http://schemas.microsoft.com/office/drawing/2014/main" id="{CBA59F40-9541-5F6D-A3B5-F46C8961ED82}"/>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Veámoslo en funcionamiento:</a:t>
            </a: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pic>
        <p:nvPicPr>
          <p:cNvPr id="3" name="Google Shape;388;p48">
            <a:hlinkClick r:id="rId3"/>
            <a:extLst>
              <a:ext uri="{FF2B5EF4-FFF2-40B4-BE49-F238E27FC236}">
                <a16:creationId xmlns:a16="http://schemas.microsoft.com/office/drawing/2014/main" id="{B3110217-EC8A-5664-EBA0-4303068427B5}"/>
              </a:ext>
            </a:extLst>
          </p:cNvPr>
          <p:cNvPicPr preferRelativeResize="0"/>
          <p:nvPr/>
        </p:nvPicPr>
        <p:blipFill rotWithShape="1">
          <a:blip r:embed="rId4">
            <a:alphaModFix/>
          </a:blip>
          <a:srcRect/>
          <a:stretch/>
        </p:blipFill>
        <p:spPr>
          <a:xfrm>
            <a:off x="4054689" y="2946497"/>
            <a:ext cx="3850446" cy="1568700"/>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5" name="Google Shape;389;p48" descr="Mano Clic Aquí PNG transparente - StickPNG">
            <a:extLst>
              <a:ext uri="{FF2B5EF4-FFF2-40B4-BE49-F238E27FC236}">
                <a16:creationId xmlns:a16="http://schemas.microsoft.com/office/drawing/2014/main" id="{0BA789CE-FAB4-E862-DED5-B7C4437C62CB}"/>
              </a:ext>
            </a:extLst>
          </p:cNvPr>
          <p:cNvPicPr preferRelativeResize="0"/>
          <p:nvPr/>
        </p:nvPicPr>
        <p:blipFill rotWithShape="1">
          <a:blip r:embed="rId5">
            <a:alphaModFix/>
          </a:blip>
          <a:srcRect/>
          <a:stretch/>
        </p:blipFill>
        <p:spPr>
          <a:xfrm>
            <a:off x="7354684" y="4005265"/>
            <a:ext cx="1611406" cy="1611406"/>
          </a:xfrm>
          <a:prstGeom prst="rect">
            <a:avLst/>
          </a:prstGeom>
          <a:noFill/>
          <a:ln>
            <a:noFill/>
          </a:ln>
        </p:spPr>
      </p:pic>
    </p:spTree>
    <p:extLst>
      <p:ext uri="{BB962C8B-B14F-4D97-AF65-F5344CB8AC3E}">
        <p14:creationId xmlns:p14="http://schemas.microsoft.com/office/powerpoint/2010/main" val="5265004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5EDF2B36-D51B-BCAF-A0B2-D83AD98DB4CA}"/>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1F9E5490-81AF-2ED8-7BF3-F5ECA1CA26FF}"/>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57CBB98E-1EA1-18E2-E37F-C71D1B17825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F6BF7667-8DAC-DD0E-79BA-D903BB0C06B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4E9C87C1-4518-01A2-DCB2-E5617425F39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19</a:t>
            </a:fld>
            <a:endParaRPr/>
          </a:p>
        </p:txBody>
      </p:sp>
      <p:sp>
        <p:nvSpPr>
          <p:cNvPr id="383" name="Google Shape;383;p63">
            <a:extLst>
              <a:ext uri="{FF2B5EF4-FFF2-40B4-BE49-F238E27FC236}">
                <a16:creationId xmlns:a16="http://schemas.microsoft.com/office/drawing/2014/main" id="{84DC9983-4869-23D3-AA1B-A4CA7A0F4FE3}"/>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Debemos:</a:t>
            </a:r>
          </a:p>
          <a:p>
            <a:pPr marL="906463" marR="0" lvl="0" indent="-457200" algn="just" rtl="0">
              <a:lnSpc>
                <a:spcPct val="150000"/>
              </a:lnSpc>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Identificar los estados</a:t>
            </a:r>
          </a:p>
          <a:p>
            <a:pPr marL="906463" marR="0" lvl="0" indent="-457200" algn="just" rtl="0">
              <a:lnSpc>
                <a:spcPct val="150000"/>
              </a:lnSpc>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Si hay un estado complejo, explotarlo</a:t>
            </a:r>
          </a:p>
          <a:p>
            <a:pPr marL="906463" marR="0" lvl="0" indent="-457200" algn="just" rtl="0">
              <a:lnSpc>
                <a:spcPct val="150000"/>
              </a:lnSpc>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Identificar el estado inicial</a:t>
            </a:r>
          </a:p>
          <a:p>
            <a:pPr marL="906463" marR="0" lvl="0" indent="-457200" algn="just" rtl="0">
              <a:lnSpc>
                <a:spcPct val="150000"/>
              </a:lnSpc>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Analizar las condiciones y las acciones para pasar de un estado a otro</a:t>
            </a:r>
          </a:p>
          <a:p>
            <a:pPr marL="906463" marR="0" lvl="0" indent="-457200" algn="just" rtl="0">
              <a:lnSpc>
                <a:spcPct val="150000"/>
              </a:lnSpc>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Verificar la consistencia</a:t>
            </a: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47905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F52CF418-304C-59F4-9BF3-A2945BE2F68A}"/>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C618E2ED-2785-3805-2423-9FF1CCDA105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B5143729-19BF-E0C8-D8E7-44BE7FB5560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8FC7321C-F1BB-9F6E-4A95-8BE3BFD24BF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86614037-F894-C573-9537-3142996F942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20</a:t>
            </a:fld>
            <a:endParaRPr/>
          </a:p>
        </p:txBody>
      </p:sp>
      <p:pic>
        <p:nvPicPr>
          <p:cNvPr id="3" name="Imagen 2">
            <a:extLst>
              <a:ext uri="{FF2B5EF4-FFF2-40B4-BE49-F238E27FC236}">
                <a16:creationId xmlns:a16="http://schemas.microsoft.com/office/drawing/2014/main" id="{2EE1CE63-A0ED-DAD3-F1C5-E072B85032BD}"/>
              </a:ext>
            </a:extLst>
          </p:cNvPr>
          <p:cNvPicPr>
            <a:picLocks noChangeAspect="1"/>
          </p:cNvPicPr>
          <p:nvPr/>
        </p:nvPicPr>
        <p:blipFill>
          <a:blip r:embed="rId3"/>
          <a:srcRect b="1305"/>
          <a:stretch>
            <a:fillRect/>
          </a:stretch>
        </p:blipFill>
        <p:spPr>
          <a:xfrm>
            <a:off x="3114259" y="1977853"/>
            <a:ext cx="5963482" cy="4221469"/>
          </a:xfrm>
          <a:prstGeom prst="rect">
            <a:avLst/>
          </a:prstGeom>
        </p:spPr>
      </p:pic>
    </p:spTree>
    <p:extLst>
      <p:ext uri="{BB962C8B-B14F-4D97-AF65-F5344CB8AC3E}">
        <p14:creationId xmlns:p14="http://schemas.microsoft.com/office/powerpoint/2010/main" val="1897767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5479AA76-D62C-C001-C737-043B88799E8F}"/>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B6405B2E-8CCA-71AA-9DD0-B02F8C46E926}"/>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630D8D87-1DE6-8D63-C55E-0C1D215EB59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D006C93E-D937-025A-E79A-81CF787D07A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53F19961-D35E-FE1E-18B6-0AAB2DFA6D7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21</a:t>
            </a:fld>
            <a:endParaRPr/>
          </a:p>
        </p:txBody>
      </p:sp>
      <p:sp>
        <p:nvSpPr>
          <p:cNvPr id="383" name="Google Shape;383;p63">
            <a:extLst>
              <a:ext uri="{FF2B5EF4-FFF2-40B4-BE49-F238E27FC236}">
                <a16:creationId xmlns:a16="http://schemas.microsoft.com/office/drawing/2014/main" id="{AD93DB66-EBF5-C821-93CC-AA811CF582C8}"/>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lvl="0" algn="just">
              <a:buClr>
                <a:srgbClr val="C00000"/>
              </a:buClr>
              <a:buSzPct val="100000"/>
            </a:pPr>
            <a:r>
              <a:rPr lang="es-ES" sz="2400" dirty="0">
                <a:solidFill>
                  <a:schemeClr val="dk1"/>
                </a:solidFill>
                <a:latin typeface="Calibri"/>
                <a:ea typeface="Calibri"/>
                <a:cs typeface="Calibri"/>
                <a:sym typeface="Calibri"/>
              </a:rPr>
              <a:t>Se desea modelar el comportamiento de un reloj cronómetro. El mismo posee una pantalla y 4 botones (B1, B2, B3 y B4):</a:t>
            </a:r>
          </a:p>
          <a:p>
            <a:pPr marL="263525" lvl="0" indent="-263525" algn="just">
              <a:buClrTx/>
              <a:buSzPct val="100000"/>
              <a:buFont typeface="Arial" panose="020B0604020202020204" pitchFamily="34" charset="0"/>
              <a:buChar char="•"/>
            </a:pPr>
            <a:r>
              <a:rPr lang="es-ES" sz="2400" dirty="0">
                <a:solidFill>
                  <a:schemeClr val="dk1"/>
                </a:solidFill>
                <a:latin typeface="Calibri"/>
                <a:ea typeface="Calibri"/>
                <a:cs typeface="Calibri"/>
                <a:sym typeface="Calibri"/>
              </a:rPr>
              <a:t>El botón B1 muestra la fecha (y vuelve a la hora desde la fecha).</a:t>
            </a:r>
          </a:p>
          <a:p>
            <a:pPr marL="263525" lvl="0" indent="-263525" algn="just">
              <a:buClrTx/>
              <a:buSzPct val="100000"/>
              <a:buFont typeface="Arial" panose="020B0604020202020204" pitchFamily="34" charset="0"/>
              <a:buChar char="•"/>
            </a:pPr>
            <a:r>
              <a:rPr lang="es-ES" sz="2400" dirty="0">
                <a:solidFill>
                  <a:schemeClr val="dk1"/>
                </a:solidFill>
                <a:latin typeface="Calibri"/>
                <a:ea typeface="Calibri"/>
                <a:cs typeface="Calibri"/>
                <a:sym typeface="Calibri"/>
              </a:rPr>
              <a:t>El botón B2 permite modificar hora y fecha (usando B1 para modificar el dígito y B3 para seleccionar el campo). Finaliza la configuración al volver a presionar B2. </a:t>
            </a:r>
          </a:p>
          <a:p>
            <a:pPr marL="263525" lvl="0" indent="-263525" algn="just">
              <a:buClrTx/>
              <a:buSzPct val="100000"/>
              <a:buFont typeface="Arial" panose="020B0604020202020204" pitchFamily="34" charset="0"/>
              <a:buChar char="•"/>
            </a:pPr>
            <a:r>
              <a:rPr lang="es-ES" sz="2400" dirty="0">
                <a:solidFill>
                  <a:schemeClr val="dk1"/>
                </a:solidFill>
                <a:latin typeface="Calibri"/>
                <a:ea typeface="Calibri"/>
                <a:cs typeface="Calibri"/>
                <a:sym typeface="Calibri"/>
              </a:rPr>
              <a:t>El botón B3 muestra el cronómetro (con funciones de iniciar/detener con el botón B1 y resetear con el botón B2), y vuelve a mostrar la hora desde el cronómetro.</a:t>
            </a:r>
          </a:p>
          <a:p>
            <a:pPr marL="263525" lvl="0" indent="-263525" algn="just">
              <a:buClrTx/>
              <a:buSzPct val="100000"/>
              <a:buFont typeface="Arial" panose="020B0604020202020204" pitchFamily="34" charset="0"/>
              <a:buChar char="•"/>
            </a:pPr>
            <a:r>
              <a:rPr lang="es-ES" sz="2400" dirty="0">
                <a:solidFill>
                  <a:schemeClr val="dk1"/>
                </a:solidFill>
                <a:latin typeface="Calibri"/>
                <a:ea typeface="Calibri"/>
                <a:cs typeface="Calibri"/>
                <a:sym typeface="Calibri"/>
              </a:rPr>
              <a:t>El botón B4 enciende una luz por 5 segundos, en cualquier estado. </a:t>
            </a:r>
          </a:p>
          <a:p>
            <a:pPr marL="263525" lvl="0" indent="-263525" algn="just">
              <a:buClrTx/>
              <a:buSzPct val="100000"/>
              <a:buFont typeface="Arial" panose="020B0604020202020204" pitchFamily="34" charset="0"/>
              <a:buChar char="•"/>
            </a:pPr>
            <a:r>
              <a:rPr lang="es-ES" sz="2400" dirty="0">
                <a:solidFill>
                  <a:schemeClr val="dk1"/>
                </a:solidFill>
                <a:latin typeface="Calibri"/>
                <a:ea typeface="Calibri"/>
                <a:cs typeface="Calibri"/>
                <a:sym typeface="Calibri"/>
              </a:rPr>
              <a:t>El sistema deja de funcionar al agotarse la pila.</a:t>
            </a:r>
          </a:p>
          <a:p>
            <a:pPr marR="0" lvl="0" algn="just" rtl="0">
              <a:spcBef>
                <a:spcPts val="0"/>
              </a:spcBef>
              <a:buClr>
                <a:srgbClr val="C00000"/>
              </a:buClr>
              <a:buSzPct val="100000"/>
            </a:pPr>
            <a:endParaRPr lang="es-ES" sz="2400" dirty="0">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6A7180A0-79F6-11D4-4DC9-DC99A172D38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4867602" y="2898706"/>
            <a:ext cx="2456795" cy="2435616"/>
          </a:xfrm>
          <a:prstGeom prst="rect">
            <a:avLst/>
          </a:prstGeom>
        </p:spPr>
      </p:pic>
    </p:spTree>
    <p:extLst>
      <p:ext uri="{BB962C8B-B14F-4D97-AF65-F5344CB8AC3E}">
        <p14:creationId xmlns:p14="http://schemas.microsoft.com/office/powerpoint/2010/main" val="1522485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8245D679-7C47-554A-3C90-3243D287F86C}"/>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F52AAC46-4295-48EC-A301-1B94472937B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58EC3AC3-C45D-17A3-8919-257C921DDCF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DA1EA6D2-2D7B-D8F8-CC6D-5C3AF06EC03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044A2914-7FEB-16C3-0241-8F56AE2821B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22</a:t>
            </a:fld>
            <a:endParaRPr/>
          </a:p>
        </p:txBody>
      </p:sp>
      <p:sp>
        <p:nvSpPr>
          <p:cNvPr id="383" name="Google Shape;383;p63">
            <a:extLst>
              <a:ext uri="{FF2B5EF4-FFF2-40B4-BE49-F238E27FC236}">
                <a16:creationId xmlns:a16="http://schemas.microsoft.com/office/drawing/2014/main" id="{2CEF43BA-EBF6-CF2B-546A-F2FCD0B3AEFC}"/>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Funciones:</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Inicialmente (al colocar la pila) visualiza la hora prefijada</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Visualizar la hora</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Visualizar la fecha </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Modificar fecha y hora</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Encender la Luz por 5 </a:t>
            </a:r>
            <a:r>
              <a:rPr lang="es-ES" sz="2400" dirty="0" err="1">
                <a:solidFill>
                  <a:schemeClr val="dk1"/>
                </a:solidFill>
                <a:latin typeface="Calibri"/>
                <a:ea typeface="Calibri"/>
                <a:cs typeface="Calibri"/>
                <a:sym typeface="Calibri"/>
              </a:rPr>
              <a:t>seg</a:t>
            </a:r>
            <a:r>
              <a:rPr lang="es-ES" sz="2400" dirty="0">
                <a:solidFill>
                  <a:schemeClr val="dk1"/>
                </a:solidFill>
                <a:latin typeface="Calibri"/>
                <a:ea typeface="Calibri"/>
                <a:cs typeface="Calibri"/>
                <a:sym typeface="Calibri"/>
              </a:rPr>
              <a:t>.</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Iniciar / Detener / Resetear  Cronómetro</a:t>
            </a:r>
          </a:p>
          <a:p>
            <a:pPr marL="806450" marR="0" lvl="0" indent="-357188"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Deja de funcionar al finalizarse la pila</a:t>
            </a: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8935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C7988E16-1144-7008-173A-B92609CD2FBD}"/>
            </a:ext>
          </a:extLst>
        </p:cNvPr>
        <p:cNvGrpSpPr/>
        <p:nvPr/>
      </p:nvGrpSpPr>
      <p:grpSpPr>
        <a:xfrm>
          <a:off x="0" y="0"/>
          <a:ext cx="0" cy="0"/>
          <a:chOff x="0" y="0"/>
          <a:chExt cx="0" cy="0"/>
        </a:xfrm>
      </p:grpSpPr>
      <p:pic>
        <p:nvPicPr>
          <p:cNvPr id="3" name="Imagen 2">
            <a:hlinkClick r:id="rId3"/>
            <a:extLst>
              <a:ext uri="{FF2B5EF4-FFF2-40B4-BE49-F238E27FC236}">
                <a16:creationId xmlns:a16="http://schemas.microsoft.com/office/drawing/2014/main" id="{DB31759D-F609-A794-55F3-0FA37CA27E8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4964725" y="3185152"/>
            <a:ext cx="2262550" cy="2243045"/>
          </a:xfrm>
          <a:prstGeom prst="rect">
            <a:avLst/>
          </a:prstGeom>
        </p:spPr>
      </p:pic>
      <p:sp>
        <p:nvSpPr>
          <p:cNvPr id="379" name="Google Shape;379;p63">
            <a:extLst>
              <a:ext uri="{FF2B5EF4-FFF2-40B4-BE49-F238E27FC236}">
                <a16:creationId xmlns:a16="http://schemas.microsoft.com/office/drawing/2014/main" id="{4C45C1C8-0ABA-CB61-540E-B590FA79A3D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9F411F30-186F-4603-874B-2FB38120908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346AF976-91F0-7480-CFCD-3852C4C8BBD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85E79776-03E8-D925-8981-AC3B13377B1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23</a:t>
            </a:fld>
            <a:endParaRPr/>
          </a:p>
        </p:txBody>
      </p:sp>
      <p:sp>
        <p:nvSpPr>
          <p:cNvPr id="383" name="Google Shape;383;p63">
            <a:extLst>
              <a:ext uri="{FF2B5EF4-FFF2-40B4-BE49-F238E27FC236}">
                <a16:creationId xmlns:a16="http://schemas.microsoft.com/office/drawing/2014/main" id="{5AFC826D-327E-F0AE-C807-4BCBBD5C589F}"/>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Veámoslo en funcionamiento:</a:t>
            </a: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
        <p:nvSpPr>
          <p:cNvPr id="9" name="Google Shape;419;p51">
            <a:extLst>
              <a:ext uri="{FF2B5EF4-FFF2-40B4-BE49-F238E27FC236}">
                <a16:creationId xmlns:a16="http://schemas.microsoft.com/office/drawing/2014/main" id="{E76A8DD7-1816-676F-2DB9-E0A06E7B5FAB}"/>
              </a:ext>
            </a:extLst>
          </p:cNvPr>
          <p:cNvSpPr/>
          <p:nvPr/>
        </p:nvSpPr>
        <p:spPr>
          <a:xfrm>
            <a:off x="8010755" y="3937158"/>
            <a:ext cx="1727200" cy="431800"/>
          </a:xfrm>
          <a:prstGeom prst="wedgeRoundRectCallout">
            <a:avLst>
              <a:gd name="adj1" fmla="val -101199"/>
              <a:gd name="adj2" fmla="val -14601"/>
              <a:gd name="adj3"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1">
            <a:noAutofit/>
          </a:bodyPr>
          <a:lstStyle/>
          <a:p>
            <a:pPr algn="ctr">
              <a:buSzPts val="1400"/>
            </a:pPr>
            <a:r>
              <a:rPr lang="es-ES" sz="1600" b="1" dirty="0">
                <a:solidFill>
                  <a:srgbClr val="000000"/>
                </a:solidFill>
                <a:cs typeface="Arial"/>
              </a:rPr>
              <a:t>B2</a:t>
            </a:r>
            <a:r>
              <a:rPr lang="es-ES" sz="1600" dirty="0">
                <a:solidFill>
                  <a:srgbClr val="000000"/>
                </a:solidFill>
                <a:cs typeface="Arial"/>
              </a:rPr>
              <a:t> Set/ </a:t>
            </a:r>
            <a:r>
              <a:rPr lang="es-ES" sz="1600" dirty="0" err="1">
                <a:solidFill>
                  <a:srgbClr val="000000"/>
                </a:solidFill>
                <a:cs typeface="Arial"/>
              </a:rPr>
              <a:t>Reset</a:t>
            </a:r>
            <a:endParaRPr sz="1600" dirty="0">
              <a:solidFill>
                <a:srgbClr val="000000"/>
              </a:solidFill>
              <a:cs typeface="Arial"/>
            </a:endParaRPr>
          </a:p>
        </p:txBody>
      </p:sp>
      <p:sp>
        <p:nvSpPr>
          <p:cNvPr id="11" name="Google Shape;420;p51">
            <a:extLst>
              <a:ext uri="{FF2B5EF4-FFF2-40B4-BE49-F238E27FC236}">
                <a16:creationId xmlns:a16="http://schemas.microsoft.com/office/drawing/2014/main" id="{151428F7-FB09-E227-0C32-F24D4AC9930B}"/>
              </a:ext>
            </a:extLst>
          </p:cNvPr>
          <p:cNvSpPr/>
          <p:nvPr/>
        </p:nvSpPr>
        <p:spPr>
          <a:xfrm>
            <a:off x="2941697" y="3285496"/>
            <a:ext cx="1728787" cy="431800"/>
          </a:xfrm>
          <a:prstGeom prst="wedgeRoundRectCallout">
            <a:avLst>
              <a:gd name="adj1" fmla="val 68416"/>
              <a:gd name="adj2" fmla="val 94094"/>
              <a:gd name="adj3"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400"/>
              <a:buFont typeface="Arial"/>
              <a:buNone/>
            </a:pPr>
            <a:r>
              <a:rPr lang="es-ES" sz="1600" b="1" i="0" u="none" strike="noStrike" cap="none" dirty="0">
                <a:solidFill>
                  <a:srgbClr val="000000"/>
                </a:solidFill>
                <a:ea typeface="Arial"/>
                <a:cs typeface="Arial"/>
                <a:sym typeface="Arial"/>
              </a:rPr>
              <a:t>B4</a:t>
            </a:r>
            <a:r>
              <a:rPr lang="es-ES" sz="1600" b="0" i="0" u="none" strike="noStrike" cap="none" dirty="0">
                <a:solidFill>
                  <a:srgbClr val="000000"/>
                </a:solidFill>
                <a:ea typeface="Arial"/>
                <a:cs typeface="Arial"/>
                <a:sym typeface="Arial"/>
              </a:rPr>
              <a:t> Luz</a:t>
            </a:r>
            <a:endParaRPr sz="1600" b="0" i="0" u="none" strike="noStrike" cap="none" dirty="0">
              <a:solidFill>
                <a:srgbClr val="000000"/>
              </a:solidFill>
              <a:ea typeface="Arial"/>
              <a:cs typeface="Arial"/>
              <a:sym typeface="Arial"/>
            </a:endParaRPr>
          </a:p>
        </p:txBody>
      </p:sp>
      <p:sp>
        <p:nvSpPr>
          <p:cNvPr id="13" name="Google Shape;421;p51">
            <a:extLst>
              <a:ext uri="{FF2B5EF4-FFF2-40B4-BE49-F238E27FC236}">
                <a16:creationId xmlns:a16="http://schemas.microsoft.com/office/drawing/2014/main" id="{B225DE29-A28D-AF1D-5941-4A071AFA9B85}"/>
              </a:ext>
            </a:extLst>
          </p:cNvPr>
          <p:cNvSpPr/>
          <p:nvPr/>
        </p:nvSpPr>
        <p:spPr>
          <a:xfrm>
            <a:off x="7432905" y="2391034"/>
            <a:ext cx="2305050" cy="431800"/>
          </a:xfrm>
          <a:prstGeom prst="wedgeRoundRectCallout">
            <a:avLst>
              <a:gd name="adj1" fmla="val -63994"/>
              <a:gd name="adj2" fmla="val 229922"/>
              <a:gd name="adj3"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1">
            <a:noAutofit/>
          </a:bodyPr>
          <a:lstStyle/>
          <a:p>
            <a:pPr algn="ctr">
              <a:buSzPts val="1400"/>
            </a:pPr>
            <a:r>
              <a:rPr lang="es-ES" sz="1600" b="1" dirty="0">
                <a:solidFill>
                  <a:srgbClr val="000000"/>
                </a:solidFill>
                <a:cs typeface="Arial"/>
              </a:rPr>
              <a:t>B3</a:t>
            </a:r>
            <a:r>
              <a:rPr lang="es-ES" sz="1600" dirty="0">
                <a:solidFill>
                  <a:srgbClr val="000000"/>
                </a:solidFill>
                <a:cs typeface="Arial"/>
              </a:rPr>
              <a:t> Cronómetro/Reloj</a:t>
            </a:r>
            <a:endParaRPr sz="1600" dirty="0">
              <a:solidFill>
                <a:srgbClr val="000000"/>
              </a:solidFill>
              <a:cs typeface="Arial"/>
            </a:endParaRPr>
          </a:p>
        </p:txBody>
      </p:sp>
      <p:pic>
        <p:nvPicPr>
          <p:cNvPr id="5" name="Google Shape;389;p48" descr="Mano Clic Aquí PNG transparente - StickPNG">
            <a:extLst>
              <a:ext uri="{FF2B5EF4-FFF2-40B4-BE49-F238E27FC236}">
                <a16:creationId xmlns:a16="http://schemas.microsoft.com/office/drawing/2014/main" id="{CDDEAAB7-0904-50ED-2C56-E4FFA1AFB726}"/>
              </a:ext>
            </a:extLst>
          </p:cNvPr>
          <p:cNvPicPr preferRelativeResize="0"/>
          <p:nvPr/>
        </p:nvPicPr>
        <p:blipFill rotWithShape="1">
          <a:blip r:embed="rId6">
            <a:alphaModFix/>
          </a:blip>
          <a:srcRect/>
          <a:stretch/>
        </p:blipFill>
        <p:spPr>
          <a:xfrm>
            <a:off x="6421572" y="4735313"/>
            <a:ext cx="1611406" cy="1611406"/>
          </a:xfrm>
          <a:prstGeom prst="rect">
            <a:avLst/>
          </a:prstGeom>
          <a:noFill/>
          <a:ln>
            <a:noFill/>
          </a:ln>
        </p:spPr>
      </p:pic>
      <p:sp>
        <p:nvSpPr>
          <p:cNvPr id="7" name="Google Shape;418;p51">
            <a:extLst>
              <a:ext uri="{FF2B5EF4-FFF2-40B4-BE49-F238E27FC236}">
                <a16:creationId xmlns:a16="http://schemas.microsoft.com/office/drawing/2014/main" id="{7516E5C0-717F-C38D-C44E-D72935E9A4A6}"/>
              </a:ext>
            </a:extLst>
          </p:cNvPr>
          <p:cNvSpPr/>
          <p:nvPr/>
        </p:nvSpPr>
        <p:spPr>
          <a:xfrm>
            <a:off x="7813676" y="3006011"/>
            <a:ext cx="2087562" cy="609600"/>
          </a:xfrm>
          <a:prstGeom prst="wedgeRoundRectCallout">
            <a:avLst>
              <a:gd name="adj1" fmla="val -81024"/>
              <a:gd name="adj2" fmla="val 83389"/>
              <a:gd name="adj3"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1">
            <a:noAutofit/>
          </a:bodyPr>
          <a:lstStyle/>
          <a:p>
            <a:pPr algn="ctr">
              <a:buSzPts val="1400"/>
            </a:pPr>
            <a:r>
              <a:rPr lang="es-ES" sz="1600" b="1" dirty="0">
                <a:solidFill>
                  <a:srgbClr val="000000"/>
                </a:solidFill>
                <a:cs typeface="Arial"/>
              </a:rPr>
              <a:t>B1</a:t>
            </a:r>
            <a:r>
              <a:rPr lang="es-ES" sz="1600" dirty="0">
                <a:solidFill>
                  <a:srgbClr val="000000"/>
                </a:solidFill>
                <a:cs typeface="Arial"/>
              </a:rPr>
              <a:t> Fecha/Start/Stop</a:t>
            </a:r>
            <a:endParaRPr sz="1600" dirty="0">
              <a:solidFill>
                <a:srgbClr val="000000"/>
              </a:solidFill>
              <a:cs typeface="Arial"/>
            </a:endParaRPr>
          </a:p>
        </p:txBody>
      </p:sp>
    </p:spTree>
    <p:extLst>
      <p:ext uri="{BB962C8B-B14F-4D97-AF65-F5344CB8AC3E}">
        <p14:creationId xmlns:p14="http://schemas.microsoft.com/office/powerpoint/2010/main" val="1193070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18247021-59B1-B8ED-7109-0FDE498BD4DC}"/>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892F17B3-E42B-2B62-96B3-C08D5F9A9213}"/>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E878B405-8CF7-8D42-4A2D-0642C809DCF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C7180251-33F6-6113-45FB-6FACC65F9E5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CF15E589-FA28-5C7D-EB69-0CF43AAF553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24</a:t>
            </a:fld>
            <a:endParaRPr/>
          </a:p>
        </p:txBody>
      </p:sp>
      <p:sp>
        <p:nvSpPr>
          <p:cNvPr id="383" name="Google Shape;383;p63">
            <a:extLst>
              <a:ext uri="{FF2B5EF4-FFF2-40B4-BE49-F238E27FC236}">
                <a16:creationId xmlns:a16="http://schemas.microsoft.com/office/drawing/2014/main" id="{AA8969F4-3FEB-C001-0C78-AC189A3FD9D1}"/>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542925" marR="0" lvl="0" indent="-457200" algn="just" defTabSz="620713" rtl="0">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Identificar los estados</a:t>
            </a:r>
          </a:p>
          <a:p>
            <a:pPr marL="712788" lvl="1" indent="-169863">
              <a:lnSpc>
                <a:spcPct val="90000"/>
              </a:lnSpc>
              <a:spcBef>
                <a:spcPts val="200"/>
              </a:spcBef>
              <a:buSzPts val="1800"/>
              <a:buFont typeface="Arial" panose="020B0604020202020204" pitchFamily="34" charset="0"/>
              <a:buChar char="•"/>
            </a:pPr>
            <a:r>
              <a:rPr lang="es-ES" sz="2000" dirty="0">
                <a:latin typeface="+mn-lt"/>
              </a:rPr>
              <a:t>Visualizando hora</a:t>
            </a:r>
          </a:p>
          <a:p>
            <a:pPr marL="712788" lvl="1" indent="-169863">
              <a:lnSpc>
                <a:spcPct val="90000"/>
              </a:lnSpc>
              <a:spcBef>
                <a:spcPts val="200"/>
              </a:spcBef>
              <a:buSzPts val="1800"/>
              <a:buFont typeface="Arial" panose="020B0604020202020204" pitchFamily="34" charset="0"/>
              <a:buChar char="•"/>
            </a:pPr>
            <a:r>
              <a:rPr lang="es-ES" sz="2000" dirty="0">
                <a:latin typeface="+mn-lt"/>
              </a:rPr>
              <a:t>Visualizando fecha</a:t>
            </a:r>
          </a:p>
          <a:p>
            <a:pPr marL="712788" lvl="1" indent="-169863">
              <a:lnSpc>
                <a:spcPct val="90000"/>
              </a:lnSpc>
              <a:spcBef>
                <a:spcPts val="200"/>
              </a:spcBef>
              <a:buSzPts val="1800"/>
              <a:buFont typeface="Arial" panose="020B0604020202020204" pitchFamily="34" charset="0"/>
              <a:buChar char="•"/>
            </a:pPr>
            <a:r>
              <a:rPr lang="es-ES" sz="2000" dirty="0">
                <a:latin typeface="+mn-lt"/>
              </a:rPr>
              <a:t>Visualizando funciones cronometro</a:t>
            </a:r>
          </a:p>
          <a:p>
            <a:pPr marL="712788" lvl="1" indent="-169863">
              <a:lnSpc>
                <a:spcPct val="90000"/>
              </a:lnSpc>
              <a:spcBef>
                <a:spcPts val="200"/>
              </a:spcBef>
              <a:buSzPts val="1800"/>
              <a:buFont typeface="Arial" panose="020B0604020202020204" pitchFamily="34" charset="0"/>
              <a:buChar char="•"/>
            </a:pPr>
            <a:r>
              <a:rPr lang="es-ES" sz="2000" dirty="0">
                <a:latin typeface="+mn-lt"/>
              </a:rPr>
              <a:t>Cronometrando</a:t>
            </a:r>
          </a:p>
          <a:p>
            <a:pPr marL="712788" lvl="1" indent="-169863">
              <a:lnSpc>
                <a:spcPct val="90000"/>
              </a:lnSpc>
              <a:spcBef>
                <a:spcPts val="200"/>
              </a:spcBef>
              <a:buSzPts val="1800"/>
              <a:buFont typeface="Arial" panose="020B0604020202020204" pitchFamily="34" charset="0"/>
              <a:buChar char="•"/>
            </a:pPr>
            <a:r>
              <a:rPr lang="es-ES" sz="2000" dirty="0">
                <a:latin typeface="+mn-lt"/>
              </a:rPr>
              <a:t>Configurando fecha y hora</a:t>
            </a:r>
            <a:endParaRPr lang="es-ES" sz="2000" dirty="0">
              <a:solidFill>
                <a:schemeClr val="dk1"/>
              </a:solidFill>
              <a:latin typeface="+mn-lt"/>
              <a:ea typeface="Calibri"/>
              <a:cs typeface="Calibri"/>
              <a:sym typeface="Calibri"/>
            </a:endParaRPr>
          </a:p>
          <a:p>
            <a:pPr marL="542925" marR="0" lvl="0" indent="-457200" algn="just" defTabSz="620713" rtl="0">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Si hay un estado complejo, explotarlo</a:t>
            </a:r>
          </a:p>
          <a:p>
            <a:pPr marL="712788" lvl="1" indent="-169863" defTabSz="620713">
              <a:lnSpc>
                <a:spcPct val="90000"/>
              </a:lnSpc>
              <a:spcBef>
                <a:spcPts val="200"/>
              </a:spcBef>
              <a:buSzPts val="1800"/>
              <a:buFont typeface="Arial" panose="020B0604020202020204" pitchFamily="34" charset="0"/>
              <a:buChar char="•"/>
            </a:pPr>
            <a:r>
              <a:rPr lang="es-ES" sz="2000" dirty="0">
                <a:latin typeface="+mn-lt"/>
                <a:sym typeface="Calibri"/>
              </a:rPr>
              <a:t>No es necesario</a:t>
            </a:r>
          </a:p>
          <a:p>
            <a:pPr marL="542925" marR="0" lvl="0" indent="-457200" algn="just" defTabSz="620713" rtl="0">
              <a:spcBef>
                <a:spcPts val="0"/>
              </a:spcBef>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Identificar el estado inicial</a:t>
            </a:r>
          </a:p>
          <a:p>
            <a:pPr marL="712788" lvl="1" indent="-169863" defTabSz="620713">
              <a:lnSpc>
                <a:spcPct val="90000"/>
              </a:lnSpc>
              <a:spcBef>
                <a:spcPts val="200"/>
              </a:spcBef>
              <a:buSzPts val="1800"/>
              <a:buFont typeface="Arial" panose="020B0604020202020204" pitchFamily="34" charset="0"/>
              <a:buChar char="•"/>
            </a:pPr>
            <a:r>
              <a:rPr lang="es-ES" sz="2000" dirty="0">
                <a:latin typeface="+mn-lt"/>
              </a:rPr>
              <a:t>En este caso, el sistema inicia al colocarse la pila y pasaría al estado visualizando hora</a:t>
            </a:r>
          </a:p>
          <a:p>
            <a:pPr marL="542925" indent="-457200" algn="just" defTabSz="620713">
              <a:spcAft>
                <a:spcPts val="300"/>
              </a:spcAft>
              <a:buClr>
                <a:srgbClr val="C00000"/>
              </a:buClr>
              <a:buSzPct val="100000"/>
              <a:buFont typeface="+mj-lt"/>
              <a:buAutoNum type="arabicPeriod"/>
            </a:pPr>
            <a:r>
              <a:rPr lang="es-ES" sz="2400" dirty="0">
                <a:solidFill>
                  <a:schemeClr val="dk1"/>
                </a:solidFill>
                <a:latin typeface="Calibri"/>
                <a:ea typeface="Calibri"/>
                <a:cs typeface="Calibri"/>
                <a:sym typeface="Calibri"/>
              </a:rPr>
              <a:t>Analizar las condiciones y las acciones para pasar de un estado a otro</a:t>
            </a:r>
          </a:p>
          <a:p>
            <a:pPr marL="542925" marR="0" lvl="0" indent="-457200" algn="just" defTabSz="620713" rtl="0">
              <a:spcBef>
                <a:spcPts val="0"/>
              </a:spcBef>
              <a:spcAft>
                <a:spcPts val="300"/>
              </a:spcAft>
              <a:buClr>
                <a:srgbClr val="C00000"/>
              </a:buClr>
              <a:buSzPct val="100000"/>
              <a:buFont typeface="+mj-lt"/>
              <a:buAutoNum type="arabicPeriod"/>
            </a:pPr>
            <a:endParaRPr lang="es-ES" sz="2400" dirty="0">
              <a:solidFill>
                <a:schemeClr val="dk1"/>
              </a:solidFill>
              <a:latin typeface="Calibri"/>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pic>
        <p:nvPicPr>
          <p:cNvPr id="2" name="Imagen 1">
            <a:extLst>
              <a:ext uri="{FF2B5EF4-FFF2-40B4-BE49-F238E27FC236}">
                <a16:creationId xmlns:a16="http://schemas.microsoft.com/office/drawing/2014/main" id="{67D92EAD-C1CB-9FA8-2FC4-7B4288CF2B85}"/>
              </a:ext>
            </a:extLst>
          </p:cNvPr>
          <p:cNvPicPr>
            <a:picLocks noChangeAspect="1"/>
          </p:cNvPicPr>
          <p:nvPr/>
        </p:nvPicPr>
        <p:blipFill>
          <a:blip r:embed="rId3"/>
          <a:stretch>
            <a:fillRect/>
          </a:stretch>
        </p:blipFill>
        <p:spPr>
          <a:xfrm>
            <a:off x="8509000" y="2779081"/>
            <a:ext cx="1533739" cy="1733792"/>
          </a:xfrm>
          <a:prstGeom prst="rect">
            <a:avLst/>
          </a:prstGeom>
        </p:spPr>
      </p:pic>
    </p:spTree>
    <p:extLst>
      <p:ext uri="{BB962C8B-B14F-4D97-AF65-F5344CB8AC3E}">
        <p14:creationId xmlns:p14="http://schemas.microsoft.com/office/powerpoint/2010/main" val="1664173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6B6452C5-2803-1E83-74DD-327A1B8E2B7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B340989-E215-1FEB-EB62-2FC6ED0DC6BA}"/>
              </a:ext>
            </a:extLst>
          </p:cNvPr>
          <p:cNvPicPr>
            <a:picLocks noChangeAspect="1"/>
          </p:cNvPicPr>
          <p:nvPr/>
        </p:nvPicPr>
        <p:blipFill>
          <a:blip r:embed="rId3"/>
          <a:srcRect l="1778" t="4233"/>
          <a:stretch>
            <a:fillRect/>
          </a:stretch>
        </p:blipFill>
        <p:spPr>
          <a:xfrm>
            <a:off x="5126481" y="2638660"/>
            <a:ext cx="6765037" cy="3539746"/>
          </a:xfrm>
          <a:prstGeom prst="rect">
            <a:avLst/>
          </a:prstGeom>
        </p:spPr>
      </p:pic>
      <p:sp>
        <p:nvSpPr>
          <p:cNvPr id="379" name="Google Shape;379;p63">
            <a:extLst>
              <a:ext uri="{FF2B5EF4-FFF2-40B4-BE49-F238E27FC236}">
                <a16:creationId xmlns:a16="http://schemas.microsoft.com/office/drawing/2014/main" id="{DBBE3871-79E8-14EB-5B28-C5D4AED673F2}"/>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AF7AE42F-5CD5-DE9E-2A3F-73C8F867E0D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7E7083B1-86C6-F23B-B4B2-12634B9F28B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3FFB4F93-80FE-1DEE-1303-5B9348FD64E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25</a:t>
            </a:fld>
            <a:endParaRPr/>
          </a:p>
        </p:txBody>
      </p:sp>
      <p:sp>
        <p:nvSpPr>
          <p:cNvPr id="383" name="Google Shape;383;p63">
            <a:extLst>
              <a:ext uri="{FF2B5EF4-FFF2-40B4-BE49-F238E27FC236}">
                <a16:creationId xmlns:a16="http://schemas.microsoft.com/office/drawing/2014/main" id="{B5195483-916E-70F8-7943-756941A71C6E}"/>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542925" marR="0" lvl="0" indent="-457200" algn="just" defTabSz="620713" rtl="0">
              <a:spcBef>
                <a:spcPts val="0"/>
              </a:spcBef>
              <a:spcAft>
                <a:spcPts val="300"/>
              </a:spcAft>
              <a:buClr>
                <a:srgbClr val="C00000"/>
              </a:buClr>
              <a:buSzPct val="100000"/>
              <a:buFont typeface="+mj-lt"/>
              <a:buAutoNum type="arabicPeriod" startAt="4"/>
            </a:pPr>
            <a:r>
              <a:rPr lang="es-ES" sz="2400" dirty="0">
                <a:solidFill>
                  <a:schemeClr val="dk1"/>
                </a:solidFill>
                <a:latin typeface="Calibri"/>
                <a:ea typeface="Calibri"/>
                <a:cs typeface="Calibri"/>
                <a:sym typeface="Calibri"/>
              </a:rPr>
              <a:t>Visualizando hora</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B1 Visualiza la fecha</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B2 Modifica la fecha y hora</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B3 Visualiza el cronometro</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B4 Enciende la luz</a:t>
            </a:r>
          </a:p>
          <a:p>
            <a:pPr marL="542925" marR="0" lvl="0" indent="-457200" algn="just" defTabSz="620713" rtl="0">
              <a:spcBef>
                <a:spcPts val="0"/>
              </a:spcBef>
              <a:spcAft>
                <a:spcPts val="300"/>
              </a:spcAft>
              <a:buClr>
                <a:srgbClr val="C00000"/>
              </a:buClr>
              <a:buSzPct val="100000"/>
              <a:buFont typeface="+mj-lt"/>
              <a:buAutoNum type="arabicPeriod" startAt="4"/>
            </a:pPr>
            <a:endParaRPr lang="es-ES" sz="2400" dirty="0">
              <a:solidFill>
                <a:schemeClr val="dk1"/>
              </a:solidFill>
              <a:latin typeface="Calibri"/>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330459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41FB57DC-F6E4-3AAC-7C14-41912F83E9A2}"/>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ADDF3879-790B-478A-1520-5C987CC972D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25DD7CDD-DAF8-D08D-AC1D-C7BA15224D3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D5623FEA-F367-328C-E657-968FD008801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075B5F24-57B1-1096-1F58-E1092998D31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26</a:t>
            </a:fld>
            <a:endParaRPr/>
          </a:p>
        </p:txBody>
      </p:sp>
      <p:sp>
        <p:nvSpPr>
          <p:cNvPr id="383" name="Google Shape;383;p63">
            <a:extLst>
              <a:ext uri="{FF2B5EF4-FFF2-40B4-BE49-F238E27FC236}">
                <a16:creationId xmlns:a16="http://schemas.microsoft.com/office/drawing/2014/main" id="{335DA450-5137-FBEC-000B-39048001C71B}"/>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542925" marR="0" lvl="0" indent="-457200" algn="just" defTabSz="620713" rtl="0">
              <a:spcBef>
                <a:spcPts val="0"/>
              </a:spcBef>
              <a:spcAft>
                <a:spcPts val="300"/>
              </a:spcAft>
              <a:buClr>
                <a:srgbClr val="C00000"/>
              </a:buClr>
              <a:buSzPct val="100000"/>
              <a:buFont typeface="+mj-lt"/>
              <a:buAutoNum type="arabicPeriod" startAt="4"/>
            </a:pPr>
            <a:r>
              <a:rPr lang="es-ES" sz="2400" dirty="0">
                <a:solidFill>
                  <a:schemeClr val="dk1"/>
                </a:solidFill>
                <a:latin typeface="Calibri"/>
                <a:ea typeface="Calibri"/>
                <a:cs typeface="Calibri"/>
                <a:sym typeface="Calibri"/>
              </a:rPr>
              <a:t>Visualizando fecha</a:t>
            </a:r>
          </a:p>
          <a:p>
            <a:pPr marL="712788" lvl="1" indent="-169863">
              <a:lnSpc>
                <a:spcPct val="90000"/>
              </a:lnSpc>
              <a:spcBef>
                <a:spcPts val="200"/>
              </a:spcBef>
              <a:buSzPts val="1800"/>
              <a:buFont typeface="Arial" panose="020B0604020202020204" pitchFamily="34" charset="0"/>
              <a:buChar char="•"/>
            </a:pPr>
            <a:r>
              <a:rPr lang="es-ES" sz="2000" dirty="0">
                <a:latin typeface="+mn-lt"/>
              </a:rPr>
              <a:t>Estando en el estado Visualizando fecha , presionando B1 o B2 o B3 vuelve a visualizar la hora</a:t>
            </a:r>
          </a:p>
          <a:p>
            <a:pPr marL="712788" lvl="1" indent="-169863">
              <a:lnSpc>
                <a:spcPct val="90000"/>
              </a:lnSpc>
              <a:spcBef>
                <a:spcPts val="200"/>
              </a:spcBef>
              <a:buSzPts val="1800"/>
              <a:buFont typeface="Arial" panose="020B0604020202020204" pitchFamily="34" charset="0"/>
              <a:buChar char="•"/>
            </a:pPr>
            <a:r>
              <a:rPr lang="es-ES" sz="2000" dirty="0">
                <a:latin typeface="+mn-lt"/>
              </a:rPr>
              <a:t>En cualquier momento se puede encender la luz con el botón B4</a:t>
            </a:r>
          </a:p>
          <a:p>
            <a:pPr marL="542925" marR="0" lvl="0" indent="-457200" algn="just" defTabSz="620713" rtl="0">
              <a:spcBef>
                <a:spcPts val="0"/>
              </a:spcBef>
              <a:spcAft>
                <a:spcPts val="300"/>
              </a:spcAft>
              <a:buClr>
                <a:srgbClr val="C00000"/>
              </a:buClr>
              <a:buSzPct val="100000"/>
              <a:buFont typeface="+mj-lt"/>
              <a:buAutoNum type="arabicPeriod" startAt="4"/>
            </a:pPr>
            <a:endParaRPr lang="es-ES" sz="2400" dirty="0">
              <a:solidFill>
                <a:schemeClr val="dk1"/>
              </a:solidFill>
              <a:latin typeface="Calibri"/>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87A8CD03-A1BC-F6A5-22AC-26B811C09E63}"/>
              </a:ext>
            </a:extLst>
          </p:cNvPr>
          <p:cNvPicPr>
            <a:picLocks noChangeAspect="1"/>
          </p:cNvPicPr>
          <p:nvPr/>
        </p:nvPicPr>
        <p:blipFill>
          <a:blip r:embed="rId3"/>
          <a:stretch>
            <a:fillRect/>
          </a:stretch>
        </p:blipFill>
        <p:spPr>
          <a:xfrm>
            <a:off x="4646345" y="3236914"/>
            <a:ext cx="6030167" cy="2076740"/>
          </a:xfrm>
          <a:prstGeom prst="rect">
            <a:avLst/>
          </a:prstGeom>
        </p:spPr>
      </p:pic>
    </p:spTree>
    <p:extLst>
      <p:ext uri="{BB962C8B-B14F-4D97-AF65-F5344CB8AC3E}">
        <p14:creationId xmlns:p14="http://schemas.microsoft.com/office/powerpoint/2010/main" val="1615711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5C8BF42B-502E-C52E-A2C5-E20454CB9155}"/>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E28BDEC2-9175-5723-D95C-67D4DE234E34}"/>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919A0AF0-5DB3-FCAE-5499-3987008828F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9B075D74-078B-F35C-01B9-BABC4F368C2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DA639E0B-0DF6-7325-2A27-3DD933C0AD0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27</a:t>
            </a:fld>
            <a:endParaRPr/>
          </a:p>
        </p:txBody>
      </p:sp>
      <p:sp>
        <p:nvSpPr>
          <p:cNvPr id="383" name="Google Shape;383;p63">
            <a:extLst>
              <a:ext uri="{FF2B5EF4-FFF2-40B4-BE49-F238E27FC236}">
                <a16:creationId xmlns:a16="http://schemas.microsoft.com/office/drawing/2014/main" id="{8595DA0C-617D-AC66-2CFA-FAD3DC622C2B}"/>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542925" marR="0" lvl="0" indent="-457200" algn="just" defTabSz="620713" rtl="0">
              <a:spcBef>
                <a:spcPts val="0"/>
              </a:spcBef>
              <a:spcAft>
                <a:spcPts val="300"/>
              </a:spcAft>
              <a:buClr>
                <a:srgbClr val="C00000"/>
              </a:buClr>
              <a:buSzPct val="100000"/>
              <a:buFont typeface="+mj-lt"/>
              <a:buAutoNum type="arabicPeriod" startAt="4"/>
            </a:pPr>
            <a:r>
              <a:rPr lang="es-ES" sz="2400" dirty="0">
                <a:solidFill>
                  <a:schemeClr val="dk1"/>
                </a:solidFill>
                <a:latin typeface="Calibri"/>
                <a:ea typeface="Calibri"/>
                <a:cs typeface="Calibri"/>
                <a:sym typeface="Calibri"/>
              </a:rPr>
              <a:t>Configurando fecha y hora</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B1 modifica el digito</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B2 vuelve a visualizar la hora</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B3 modifica el digito a modificar</a:t>
            </a:r>
          </a:p>
          <a:p>
            <a:pPr marL="542925" lvl="1">
              <a:lnSpc>
                <a:spcPct val="90000"/>
              </a:lnSpc>
              <a:spcBef>
                <a:spcPts val="200"/>
              </a:spcBef>
              <a:buSzPts val="1800"/>
            </a:pPr>
            <a:r>
              <a:rPr lang="es-ES" sz="2000" dirty="0">
                <a:latin typeface="+mn-lt"/>
              </a:rPr>
              <a:t>	</a:t>
            </a:r>
            <a:r>
              <a:rPr lang="es-ES" sz="2000" i="1" dirty="0">
                <a:latin typeface="+mn-lt"/>
              </a:rPr>
              <a:t>Hora, minuto, segundo, día, mes </a:t>
            </a:r>
          </a:p>
          <a:p>
            <a:pPr marL="712788" lvl="1" indent="-169863">
              <a:lnSpc>
                <a:spcPct val="90000"/>
              </a:lnSpc>
              <a:spcBef>
                <a:spcPts val="200"/>
              </a:spcBef>
              <a:buSzPts val="1800"/>
              <a:buFont typeface="Arial" panose="020B0604020202020204" pitchFamily="34" charset="0"/>
              <a:buChar char="•"/>
            </a:pPr>
            <a:r>
              <a:rPr lang="es-ES" sz="2000" dirty="0">
                <a:latin typeface="+mn-lt"/>
              </a:rPr>
              <a:t>Se presiona B4 enciende la luz</a:t>
            </a:r>
          </a:p>
          <a:p>
            <a:pPr marL="712788" lvl="1" indent="-169863">
              <a:lnSpc>
                <a:spcPct val="90000"/>
              </a:lnSpc>
              <a:spcBef>
                <a:spcPts val="200"/>
              </a:spcBef>
              <a:buSzPts val="1800"/>
              <a:buFont typeface="Arial" panose="020B0604020202020204" pitchFamily="34" charset="0"/>
              <a:buChar char="•"/>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r>
              <a:rPr lang="es-ES" sz="2400" dirty="0">
                <a:solidFill>
                  <a:schemeClr val="dk1"/>
                </a:solidFill>
                <a:latin typeface="+mn-lt"/>
                <a:ea typeface="Calibri"/>
                <a:cs typeface="Calibri"/>
                <a:sym typeface="Calibri"/>
              </a:rPr>
              <a:t>Continuamos con todos los estados…</a:t>
            </a:r>
            <a:endParaRPr lang="es-ES" sz="2800" dirty="0">
              <a:solidFill>
                <a:schemeClr val="dk1"/>
              </a:solidFill>
              <a:latin typeface="+mn-lt"/>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pic>
        <p:nvPicPr>
          <p:cNvPr id="4" name="Imagen 3">
            <a:extLst>
              <a:ext uri="{FF2B5EF4-FFF2-40B4-BE49-F238E27FC236}">
                <a16:creationId xmlns:a16="http://schemas.microsoft.com/office/drawing/2014/main" id="{B0CBB7B6-242E-BDDF-D47F-3205D373BBBC}"/>
              </a:ext>
            </a:extLst>
          </p:cNvPr>
          <p:cNvPicPr>
            <a:picLocks noChangeAspect="1"/>
          </p:cNvPicPr>
          <p:nvPr/>
        </p:nvPicPr>
        <p:blipFill>
          <a:blip r:embed="rId3"/>
          <a:srcRect l="6769" t="4000"/>
          <a:stretch>
            <a:fillRect/>
          </a:stretch>
        </p:blipFill>
        <p:spPr>
          <a:xfrm>
            <a:off x="6949368" y="1962798"/>
            <a:ext cx="4263145" cy="4307431"/>
          </a:xfrm>
          <a:prstGeom prst="rect">
            <a:avLst/>
          </a:prstGeom>
        </p:spPr>
      </p:pic>
    </p:spTree>
    <p:extLst>
      <p:ext uri="{BB962C8B-B14F-4D97-AF65-F5344CB8AC3E}">
        <p14:creationId xmlns:p14="http://schemas.microsoft.com/office/powerpoint/2010/main" val="3158432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86755B52-2994-64F5-C1B4-70D966485A48}"/>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20D1D504-AF21-EE29-5417-115913E7EBF5}"/>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 Ejemplo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F6DAF53E-D432-C968-FA38-49D9DE77FE2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7225A137-7E9A-3627-7741-C9C582CCCEE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5101B870-CFAE-16B4-DC94-9E9CFF5FC05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28</a:t>
            </a:fld>
            <a:endParaRPr/>
          </a:p>
        </p:txBody>
      </p:sp>
      <p:sp>
        <p:nvSpPr>
          <p:cNvPr id="383" name="Google Shape;383;p63">
            <a:extLst>
              <a:ext uri="{FF2B5EF4-FFF2-40B4-BE49-F238E27FC236}">
                <a16:creationId xmlns:a16="http://schemas.microsoft.com/office/drawing/2014/main" id="{8CEF8C95-F9F1-B609-B400-0FBBC67AD3E6}"/>
              </a:ext>
            </a:extLst>
          </p:cNvPr>
          <p:cNvSpPr/>
          <p:nvPr/>
        </p:nvSpPr>
        <p:spPr>
          <a:xfrm>
            <a:off x="1151584" y="1886309"/>
            <a:ext cx="11040416" cy="4460410"/>
          </a:xfrm>
          <a:prstGeom prst="rect">
            <a:avLst/>
          </a:prstGeom>
          <a:noFill/>
          <a:ln>
            <a:noFill/>
          </a:ln>
        </p:spPr>
        <p:txBody>
          <a:bodyPr spcFirstLastPara="1" wrap="square" lIns="89625" tIns="44800" rIns="89625" bIns="44800" anchor="t" anchorCtr="0">
            <a:noAutofit/>
          </a:bodyPr>
          <a:lstStyle/>
          <a:p>
            <a:pPr marL="542925" marR="0" lvl="0" indent="-457200" algn="just" defTabSz="620713" rtl="0">
              <a:spcBef>
                <a:spcPts val="0"/>
              </a:spcBef>
              <a:spcAft>
                <a:spcPts val="300"/>
              </a:spcAft>
              <a:buClr>
                <a:srgbClr val="C00000"/>
              </a:buClr>
              <a:buSzPct val="100000"/>
              <a:buFont typeface="+mj-lt"/>
              <a:buAutoNum type="arabicPeriod" startAt="5"/>
            </a:pPr>
            <a:r>
              <a:rPr lang="es-ES" sz="2400" dirty="0">
                <a:solidFill>
                  <a:schemeClr val="dk1"/>
                </a:solidFill>
                <a:latin typeface="Calibri"/>
                <a:ea typeface="Calibri"/>
                <a:cs typeface="Calibri"/>
                <a:sym typeface="Calibri"/>
              </a:rPr>
              <a:t>Verificar la consistencia</a:t>
            </a:r>
          </a:p>
          <a:p>
            <a:pPr marL="712788" lvl="1" indent="-169863">
              <a:lnSpc>
                <a:spcPct val="90000"/>
              </a:lnSpc>
              <a:spcBef>
                <a:spcPts val="200"/>
              </a:spcBef>
              <a:buSzPts val="1800"/>
              <a:buFont typeface="Arial" panose="020B0604020202020204" pitchFamily="34" charset="0"/>
              <a:buChar char="•"/>
            </a:pPr>
            <a:r>
              <a:rPr lang="es-ES" sz="2000" dirty="0">
                <a:latin typeface="+mn-lt"/>
              </a:rPr>
              <a:t>Se han definido todos los estados</a:t>
            </a:r>
          </a:p>
          <a:p>
            <a:pPr marL="712788" lvl="1" indent="-169863">
              <a:lnSpc>
                <a:spcPct val="90000"/>
              </a:lnSpc>
              <a:spcBef>
                <a:spcPts val="200"/>
              </a:spcBef>
              <a:buSzPts val="1800"/>
              <a:buFont typeface="Arial" panose="020B0604020202020204" pitchFamily="34" charset="0"/>
              <a:buChar char="•"/>
            </a:pPr>
            <a:r>
              <a:rPr lang="es-ES" sz="2000" dirty="0">
                <a:latin typeface="+mn-lt"/>
              </a:rPr>
              <a:t>Se pueden alcanzar todos los estados</a:t>
            </a:r>
          </a:p>
          <a:p>
            <a:pPr marL="712788" lvl="1" indent="-169863">
              <a:lnSpc>
                <a:spcPct val="90000"/>
              </a:lnSpc>
              <a:spcBef>
                <a:spcPts val="200"/>
              </a:spcBef>
              <a:buSzPts val="1800"/>
              <a:buFont typeface="Arial" panose="020B0604020202020204" pitchFamily="34" charset="0"/>
              <a:buChar char="•"/>
            </a:pPr>
            <a:r>
              <a:rPr lang="es-ES" sz="2000" dirty="0">
                <a:latin typeface="+mn-lt"/>
              </a:rPr>
              <a:t>Se puede salir de todos los estados</a:t>
            </a:r>
          </a:p>
          <a:p>
            <a:pPr marL="712788" lvl="1" indent="-169863">
              <a:lnSpc>
                <a:spcPct val="90000"/>
              </a:lnSpc>
              <a:spcBef>
                <a:spcPts val="200"/>
              </a:spcBef>
              <a:buSzPts val="1800"/>
              <a:buFont typeface="Arial" panose="020B0604020202020204" pitchFamily="34" charset="0"/>
              <a:buChar char="•"/>
            </a:pPr>
            <a:r>
              <a:rPr lang="es-ES" sz="2000" dirty="0">
                <a:latin typeface="+mn-lt"/>
              </a:rPr>
              <a:t>En cada estado, el sistema responde a todas las condiciones posibles (normales y anormales)</a:t>
            </a:r>
          </a:p>
          <a:p>
            <a:pPr marL="712788" lvl="1" indent="-169863">
              <a:lnSpc>
                <a:spcPct val="90000"/>
              </a:lnSpc>
              <a:spcBef>
                <a:spcPts val="200"/>
              </a:spcBef>
              <a:buSzPts val="1800"/>
              <a:buFont typeface="Arial" panose="020B0604020202020204" pitchFamily="34" charset="0"/>
              <a:buChar char="•"/>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endParaRPr lang="es-ES" sz="2000" dirty="0">
              <a:solidFill>
                <a:schemeClr val="dk1"/>
              </a:solidFill>
              <a:latin typeface="+mn-lt"/>
              <a:ea typeface="Calibri"/>
              <a:cs typeface="Calibri"/>
              <a:sym typeface="Calibri"/>
            </a:endParaRPr>
          </a:p>
          <a:p>
            <a:pPr marL="542925" lvl="1">
              <a:lnSpc>
                <a:spcPct val="90000"/>
              </a:lnSpc>
              <a:spcBef>
                <a:spcPts val="200"/>
              </a:spcBef>
              <a:buSzPts val="1800"/>
            </a:pPr>
            <a:endParaRPr lang="es-ES" sz="2000" dirty="0">
              <a:solidFill>
                <a:schemeClr val="dk1"/>
              </a:solidFill>
              <a:latin typeface="+mn-lt"/>
              <a:ea typeface="Calibri"/>
              <a:cs typeface="Calibri"/>
              <a:sym typeface="Calibri"/>
            </a:endParaRPr>
          </a:p>
          <a:p>
            <a:pPr marR="0" lvl="0" algn="just" rtl="0">
              <a:spcBef>
                <a:spcPts val="0"/>
              </a:spcBef>
              <a:spcAft>
                <a:spcPts val="300"/>
              </a:spcAft>
              <a:buClr>
                <a:srgbClr val="C00000"/>
              </a:buClr>
              <a:buSzPct val="100000"/>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83067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13C4891B-F982-8B9B-8FF5-F967920AD5BF}"/>
            </a:ext>
          </a:extLst>
        </p:cNvPr>
        <p:cNvGrpSpPr/>
        <p:nvPr/>
      </p:nvGrpSpPr>
      <p:grpSpPr>
        <a:xfrm>
          <a:off x="0" y="0"/>
          <a:ext cx="0" cy="0"/>
          <a:chOff x="0" y="0"/>
          <a:chExt cx="0" cy="0"/>
        </a:xfrm>
      </p:grpSpPr>
      <p:sp>
        <p:nvSpPr>
          <p:cNvPr id="380" name="Google Shape;380;p63">
            <a:extLst>
              <a:ext uri="{FF2B5EF4-FFF2-40B4-BE49-F238E27FC236}">
                <a16:creationId xmlns:a16="http://schemas.microsoft.com/office/drawing/2014/main" id="{3CE845EC-C0F4-AA00-8B65-46A67A3E96DA}"/>
              </a:ext>
            </a:extLst>
          </p:cNvPr>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0476A1E7-BA8E-7761-AE4C-92ADD087264E}"/>
              </a:ext>
            </a:extLst>
          </p:cNvPr>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D871CF10-4906-45B9-D4FC-2F449E3C98ED}"/>
              </a:ext>
            </a:extLst>
          </p:cNvPr>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29</a:t>
            </a:fld>
            <a:endParaRPr/>
          </a:p>
        </p:txBody>
      </p:sp>
      <p:pic>
        <p:nvPicPr>
          <p:cNvPr id="6" name="Imagen 5">
            <a:extLst>
              <a:ext uri="{FF2B5EF4-FFF2-40B4-BE49-F238E27FC236}">
                <a16:creationId xmlns:a16="http://schemas.microsoft.com/office/drawing/2014/main" id="{A35080E9-D646-9215-E89F-F2BEDD44E8EA}"/>
              </a:ext>
            </a:extLst>
          </p:cNvPr>
          <p:cNvPicPr>
            <a:picLocks noChangeAspect="1"/>
          </p:cNvPicPr>
          <p:nvPr/>
        </p:nvPicPr>
        <p:blipFill>
          <a:blip r:embed="rId3"/>
          <a:stretch>
            <a:fillRect/>
          </a:stretch>
        </p:blipFill>
        <p:spPr>
          <a:xfrm>
            <a:off x="1775635" y="375335"/>
            <a:ext cx="8640729" cy="5839552"/>
          </a:xfrm>
          <a:prstGeom prst="rect">
            <a:avLst/>
          </a:prstGeom>
        </p:spPr>
      </p:pic>
    </p:spTree>
    <p:extLst>
      <p:ext uri="{BB962C8B-B14F-4D97-AF65-F5344CB8AC3E}">
        <p14:creationId xmlns:p14="http://schemas.microsoft.com/office/powerpoint/2010/main" val="1414319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063E886B-4692-8AD9-403C-61B17AE023B1}"/>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2B78BF89-83BC-25F0-3592-C6994BA1BA2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F4967789-2EBF-F5B4-5B54-5BD79DB6A8B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A08843B5-B2B9-462E-7F6C-466D4CE41EE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0C8CFE43-C1DF-A933-B77B-E7A4FA5524F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30</a:t>
            </a:fld>
            <a:endParaRPr/>
          </a:p>
        </p:txBody>
      </p:sp>
      <p:sp>
        <p:nvSpPr>
          <p:cNvPr id="383" name="Google Shape;383;p63">
            <a:extLst>
              <a:ext uri="{FF2B5EF4-FFF2-40B4-BE49-F238E27FC236}">
                <a16:creationId xmlns:a16="http://schemas.microsoft.com/office/drawing/2014/main" id="{0906296A-BDA7-3F67-419C-267660EE93B4}"/>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Ventajas </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Mejora la comprensión: ofrece un mapa visual que hace fácil entender cómo un sistema reacciona a diferentes eventos.</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Previene errores: ayuda a encontrar fallos de lógica y caminos que no deberían existir, todo esto en la etapa de diseño, lo que ahorra tiempo y esfuerzo en la codificación.</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Valida el diseño: confirma que todos los requisitos del sistema han sido considerados y que el comportamiento es coherente.</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Facilita las pruebas: proporciona un plan para crear pruebas, asegurando que se validan todas las interacciones posibles del sistema.</a:t>
            </a:r>
          </a:p>
        </p:txBody>
      </p:sp>
    </p:spTree>
    <p:extLst>
      <p:ext uri="{BB962C8B-B14F-4D97-AF65-F5344CB8AC3E}">
        <p14:creationId xmlns:p14="http://schemas.microsoft.com/office/powerpoint/2010/main" val="994068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6348C11B-C1FA-A028-6853-1D53DA7792EB}"/>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FBC1BA0A-5A60-0C21-8F88-8F7068B177E9}"/>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5D63EAF8-7E0C-A092-4990-0E0A97CD7AA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543C12DB-759C-EF4B-EE47-60F5BF39726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24C6907C-DF11-18D3-862B-996BADEEF6E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31</a:t>
            </a:fld>
            <a:endParaRPr/>
          </a:p>
        </p:txBody>
      </p:sp>
      <p:sp>
        <p:nvSpPr>
          <p:cNvPr id="383" name="Google Shape;383;p63">
            <a:extLst>
              <a:ext uri="{FF2B5EF4-FFF2-40B4-BE49-F238E27FC236}">
                <a16:creationId xmlns:a16="http://schemas.microsoft.com/office/drawing/2014/main" id="{1AD5BF9F-F157-C0C7-8E01-F29A93CD8680}"/>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800" dirty="0">
                <a:solidFill>
                  <a:schemeClr val="dk1"/>
                </a:solidFill>
                <a:latin typeface="Calibri"/>
                <a:ea typeface="Calibri"/>
                <a:cs typeface="Calibri"/>
                <a:sym typeface="Calibri"/>
              </a:rPr>
              <a:t>Desventajas </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Complejidad: los DTE pueden volverse muy complejos y difíciles de manejar en sistemas con una gran cantidad de estados y transiciones.</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Enfoque en un solo objeto: se modela típicamente el comportamiento de un único objeto o componente. Para entender el sistema completo, se necesita una colección de DTE.</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No modela la concurrencia: los DTE básicos no son ideales para modelar sistemas concurrentes, donde varios estados pueden cambiar al mismo tiempo.</a:t>
            </a:r>
          </a:p>
        </p:txBody>
      </p:sp>
    </p:spTree>
    <p:extLst>
      <p:ext uri="{BB962C8B-B14F-4D97-AF65-F5344CB8AC3E}">
        <p14:creationId xmlns:p14="http://schemas.microsoft.com/office/powerpoint/2010/main" val="23604777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6B9BAAFE-40B4-E3E9-7209-AD11CA762D2F}"/>
            </a:ext>
          </a:extLst>
        </p:cNvPr>
        <p:cNvGrpSpPr/>
        <p:nvPr/>
      </p:nvGrpSpPr>
      <p:grpSpPr>
        <a:xfrm>
          <a:off x="0" y="0"/>
          <a:ext cx="0" cy="0"/>
          <a:chOff x="0" y="0"/>
          <a:chExt cx="0" cy="0"/>
        </a:xfrm>
      </p:grpSpPr>
      <p:sp>
        <p:nvSpPr>
          <p:cNvPr id="379" name="Google Shape;379;p63">
            <a:extLst>
              <a:ext uri="{FF2B5EF4-FFF2-40B4-BE49-F238E27FC236}">
                <a16:creationId xmlns:a16="http://schemas.microsoft.com/office/drawing/2014/main" id="{21D65544-C727-111C-A122-965AE34BB765}"/>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Clr>
                <a:schemeClr val="dk1"/>
              </a:buClr>
              <a:buSzPts val="4382"/>
              <a:buFont typeface="Calibri"/>
              <a:buNone/>
            </a:pPr>
            <a:r>
              <a:rPr lang="es-ES" sz="4382" dirty="0">
                <a:solidFill>
                  <a:schemeClr val="dk1"/>
                </a:solidFill>
                <a:latin typeface="Calibri"/>
                <a:ea typeface="Calibri"/>
                <a:cs typeface="Calibri"/>
                <a:sym typeface="Calibri"/>
              </a:rPr>
              <a:t>Diagrama de Transición de Estados </a:t>
            </a:r>
            <a:endParaRPr sz="4382" dirty="0">
              <a:solidFill>
                <a:schemeClr val="dk1"/>
              </a:solidFill>
              <a:latin typeface="Calibri"/>
              <a:ea typeface="Calibri"/>
              <a:cs typeface="Calibri"/>
              <a:sym typeface="Calibri"/>
            </a:endParaRPr>
          </a:p>
        </p:txBody>
      </p:sp>
      <p:sp>
        <p:nvSpPr>
          <p:cNvPr id="380" name="Google Shape;380;p63">
            <a:extLst>
              <a:ext uri="{FF2B5EF4-FFF2-40B4-BE49-F238E27FC236}">
                <a16:creationId xmlns:a16="http://schemas.microsoft.com/office/drawing/2014/main" id="{BEC5E6D0-FEDF-1EBF-E3BC-25188FD6E00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900"/>
              <a:buFont typeface="Calibri"/>
              <a:buNone/>
            </a:pPr>
            <a:r>
              <a:rPr lang="es-ES"/>
              <a:t>2026</a:t>
            </a:r>
            <a:endParaRPr/>
          </a:p>
        </p:txBody>
      </p:sp>
      <p:sp>
        <p:nvSpPr>
          <p:cNvPr id="381" name="Google Shape;381;p63">
            <a:extLst>
              <a:ext uri="{FF2B5EF4-FFF2-40B4-BE49-F238E27FC236}">
                <a16:creationId xmlns:a16="http://schemas.microsoft.com/office/drawing/2014/main" id="{D88EEE81-0DC5-D436-08BB-52725372B94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900"/>
              <a:buFont typeface="Calibri"/>
              <a:buNone/>
            </a:pPr>
            <a:r>
              <a:rPr lang="es-ES"/>
              <a:t>INGENIERÍA DE SOFTWARE I</a:t>
            </a:r>
            <a:endParaRPr/>
          </a:p>
        </p:txBody>
      </p:sp>
      <p:sp>
        <p:nvSpPr>
          <p:cNvPr id="382" name="Google Shape;382;p63">
            <a:extLst>
              <a:ext uri="{FF2B5EF4-FFF2-40B4-BE49-F238E27FC236}">
                <a16:creationId xmlns:a16="http://schemas.microsoft.com/office/drawing/2014/main" id="{4526976D-DEAF-B6AB-4A8D-B14BB321EB2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s-ES"/>
              <a:t>32</a:t>
            </a:fld>
            <a:endParaRPr/>
          </a:p>
        </p:txBody>
      </p:sp>
      <p:sp>
        <p:nvSpPr>
          <p:cNvPr id="383" name="Google Shape;383;p63">
            <a:extLst>
              <a:ext uri="{FF2B5EF4-FFF2-40B4-BE49-F238E27FC236}">
                <a16:creationId xmlns:a16="http://schemas.microsoft.com/office/drawing/2014/main" id="{06FDDAF1-EB9D-CF92-4BBE-99591774F6B3}"/>
              </a:ext>
            </a:extLst>
          </p:cNvPr>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300"/>
              </a:spcAft>
              <a:buClr>
                <a:srgbClr val="C00000"/>
              </a:buClr>
              <a:buSzPct val="100000"/>
              <a:buFont typeface="Noto Sans Symbols"/>
              <a:buChar char="❖"/>
            </a:pPr>
            <a:r>
              <a:rPr lang="es-ES" sz="2600" dirty="0">
                <a:solidFill>
                  <a:schemeClr val="dk1"/>
                </a:solidFill>
                <a:latin typeface="Calibri"/>
                <a:ea typeface="Calibri"/>
                <a:cs typeface="Calibri"/>
                <a:sym typeface="Calibri"/>
              </a:rPr>
              <a:t>¿Cuándo usar DTE? </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200" dirty="0">
                <a:solidFill>
                  <a:schemeClr val="dk1"/>
                </a:solidFill>
                <a:latin typeface="Calibri"/>
                <a:ea typeface="Calibri"/>
                <a:cs typeface="Calibri"/>
                <a:sym typeface="Calibri"/>
              </a:rPr>
              <a:t>Sistemas de tiempo real: cuando el software está impulsado por eventos externos, como un sistema de control para una máquina o un dispositivo.</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200" dirty="0">
                <a:solidFill>
                  <a:schemeClr val="dk1"/>
                </a:solidFill>
                <a:latin typeface="Calibri"/>
                <a:ea typeface="Calibri"/>
                <a:cs typeface="Calibri"/>
                <a:sym typeface="Calibri"/>
              </a:rPr>
              <a:t>Modelado del comportamiento de la interfaz de usuario: para aplicaciones con interfaces de usuario complejas, un DTE puede mostrar cómo la pantalla o un componente de la interfaz cambia en respuesta a las acciones del usuario.</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200" dirty="0">
                <a:solidFill>
                  <a:schemeClr val="dk1"/>
                </a:solidFill>
                <a:latin typeface="Calibri"/>
                <a:ea typeface="Calibri"/>
                <a:cs typeface="Calibri"/>
                <a:sym typeface="Calibri"/>
              </a:rPr>
              <a:t>Sistemas con un número finito de estados: cuando el componente de software puede estar en un número limitado de estados bien definidos (por ejemplo, una válvula que puede estar "abierta" o "cerrada").</a:t>
            </a:r>
          </a:p>
          <a:p>
            <a:pPr marL="712788" marR="0" lvl="0" indent="-263525" algn="just" rtl="0">
              <a:spcBef>
                <a:spcPts val="0"/>
              </a:spcBef>
              <a:spcAft>
                <a:spcPts val="300"/>
              </a:spcAft>
              <a:buClr>
                <a:srgbClr val="C00000"/>
              </a:buClr>
              <a:buSzPct val="100000"/>
              <a:buFont typeface="Noto Sans Symbols2" panose="020B0502040504020204" pitchFamily="34" charset="0"/>
              <a:buChar char="»"/>
            </a:pPr>
            <a:r>
              <a:rPr lang="es-ES" sz="2200" dirty="0">
                <a:solidFill>
                  <a:schemeClr val="dk1"/>
                </a:solidFill>
                <a:latin typeface="Calibri"/>
                <a:ea typeface="Calibri"/>
                <a:cs typeface="Calibri"/>
                <a:sym typeface="Calibri"/>
              </a:rPr>
              <a:t>Diseño de algoritmos de control: en el diseño de software para sistemas de control, donde el estado actual del sistema determina su próximo comportamiento.</a:t>
            </a:r>
          </a:p>
        </p:txBody>
      </p:sp>
    </p:spTree>
    <p:extLst>
      <p:ext uri="{BB962C8B-B14F-4D97-AF65-F5344CB8AC3E}">
        <p14:creationId xmlns:p14="http://schemas.microsoft.com/office/powerpoint/2010/main" val="4237850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99"/>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Bibliografía</a:t>
            </a:r>
            <a:endParaRPr sz="4400">
              <a:solidFill>
                <a:schemeClr val="dk1"/>
              </a:solidFill>
              <a:latin typeface="Calibri"/>
              <a:ea typeface="Calibri"/>
              <a:cs typeface="Calibri"/>
              <a:sym typeface="Calibri"/>
            </a:endParaRPr>
          </a:p>
        </p:txBody>
      </p:sp>
      <p:sp>
        <p:nvSpPr>
          <p:cNvPr id="586" name="Google Shape;586;p9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87" name="Google Shape;587;p9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88" name="Google Shape;588;p9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33</a:t>
            </a:fld>
            <a:endParaRPr/>
          </a:p>
        </p:txBody>
      </p:sp>
      <p:sp>
        <p:nvSpPr>
          <p:cNvPr id="589" name="Google Shape;589;p99"/>
          <p:cNvSpPr/>
          <p:nvPr/>
        </p:nvSpPr>
        <p:spPr>
          <a:xfrm>
            <a:off x="1151584" y="1886309"/>
            <a:ext cx="9945202" cy="4460410"/>
          </a:xfrm>
          <a:prstGeom prst="rect">
            <a:avLst/>
          </a:prstGeom>
          <a:noFill/>
          <a:ln>
            <a:noFill/>
          </a:ln>
        </p:spPr>
        <p:txBody>
          <a:bodyPr spcFirstLastPara="1" wrap="square" lIns="89625" tIns="44800" rIns="89625" bIns="44800" anchor="t" anchorCtr="0">
            <a:noAutofit/>
          </a:bodyPr>
          <a:lstStyle/>
          <a:p>
            <a:pPr marL="263525" marR="0" lvl="0" indent="-263525" algn="just" rtl="0">
              <a:spcBef>
                <a:spcPts val="0"/>
              </a:spcBef>
              <a:spcAft>
                <a:spcPts val="0"/>
              </a:spcAft>
              <a:buClr>
                <a:schemeClr val="dk1"/>
              </a:buClr>
              <a:buSzPts val="2400"/>
              <a:buFont typeface="Times New Roman"/>
              <a:buChar char="-"/>
            </a:pPr>
            <a:r>
              <a:rPr lang="es-ES" sz="2400" dirty="0">
                <a:solidFill>
                  <a:schemeClr val="dk1"/>
                </a:solidFill>
                <a:latin typeface="Calibri"/>
                <a:ea typeface="Calibri"/>
                <a:cs typeface="Calibri"/>
                <a:sym typeface="Calibri"/>
              </a:rPr>
              <a:t>Pfleeger, Capítulo 4 , Ingeniería de Software, Pearson Prentice Hall 2002 </a:t>
            </a:r>
            <a:endParaRPr dirty="0"/>
          </a:p>
          <a:p>
            <a:pPr marL="263525" marR="0" lvl="0" indent="-263525" algn="just" rtl="0">
              <a:spcBef>
                <a:spcPts val="300"/>
              </a:spcBef>
              <a:spcAft>
                <a:spcPts val="0"/>
              </a:spcAft>
              <a:buClr>
                <a:schemeClr val="dk1"/>
              </a:buClr>
              <a:buSzPts val="2400"/>
              <a:buFont typeface="Times New Roman"/>
              <a:buChar char="-"/>
            </a:pPr>
            <a:r>
              <a:rPr lang="es-ES" sz="2400" dirty="0">
                <a:solidFill>
                  <a:schemeClr val="dk1"/>
                </a:solidFill>
                <a:latin typeface="Calibri"/>
                <a:ea typeface="Calibri"/>
                <a:cs typeface="Calibri"/>
                <a:sym typeface="Calibri"/>
              </a:rPr>
              <a:t>Sommerville Ian,  Capítulo 5, Ingeniería de software, Addison Wesley 2011</a:t>
            </a:r>
            <a:endParaRPr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IS2 2026">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IS2 2026" id="{16FBCDB9-40B2-4F63-BA84-B5526169C3F5}" vid="{B6418BC2-037E-42CA-8840-133335CAEFD2}"/>
    </a:ext>
  </a:ext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IS2 2026</Template>
  <TotalTime>252</TotalTime>
  <Words>1908</Words>
  <Application>Microsoft Office PowerPoint</Application>
  <PresentationFormat>Panorámica</PresentationFormat>
  <Paragraphs>332</Paragraphs>
  <Slides>33</Slides>
  <Notes>33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33</vt:i4>
      </vt:variant>
    </vt:vector>
  </HeadingPairs>
  <TitlesOfParts>
    <vt:vector size="39" baseType="lpstr">
      <vt:lpstr>Noto Sans Symbols2</vt:lpstr>
      <vt:lpstr>Times New Roman</vt:lpstr>
      <vt:lpstr>Arial</vt:lpstr>
      <vt:lpstr>Noto Sans Symbols</vt:lpstr>
      <vt:lpstr>Calibri</vt:lpstr>
      <vt:lpstr>IS2 2026</vt:lpstr>
      <vt:lpstr>Ingeniería de Software I</vt:lpstr>
      <vt:lpstr>Contenidos</vt:lpstr>
      <vt:lpstr>Técnicas de Especificación de Requerimientos</vt:lpstr>
      <vt:lpstr>Máquinas de Estado Finito</vt:lpstr>
      <vt:lpstr>Máquinas de Estado Finito</vt:lpstr>
      <vt:lpstr>Máquinas de Estado Finito</vt:lpstr>
      <vt:lpstr>Máquinas de Estado Finito</vt:lpstr>
      <vt:lpstr>Máquinas de Estado Finito</vt:lpstr>
      <vt:lpstr>Máquinas de Estado Finito</vt:lpstr>
      <vt:lpstr>Máquinas de Estado Finito</vt:lpstr>
      <vt:lpstr>Máquinas de Estado Finito</vt:lpstr>
      <vt:lpstr>Diagrama de Transición de Estados </vt:lpstr>
      <vt:lpstr>Diagrama de Transición de Estados </vt:lpstr>
      <vt:lpstr>Diagrama de Transición de Estados </vt:lpstr>
      <vt:lpstr>Diagrama de Transición de Estados </vt:lpstr>
      <vt:lpstr>Diagrama de Transición de Estados - Ejemplo</vt:lpstr>
      <vt:lpstr>Diagrama de Transición de Estados - Ejemplo </vt:lpstr>
      <vt:lpstr>Diagrama de Transición de Estados - Ejemplo </vt:lpstr>
      <vt:lpstr>Diagrama de Transición de Estados - Ejemplo </vt:lpstr>
      <vt:lpstr>Diagrama de Transición de Estados - Ejemplo </vt:lpstr>
      <vt:lpstr>Diagrama de Transición de Estados - Ejemplo</vt:lpstr>
      <vt:lpstr>Diagrama de Transición de Estados - Ejemplo </vt:lpstr>
      <vt:lpstr>Diagrama de Transición de Estados - Ejemplo </vt:lpstr>
      <vt:lpstr>Diagrama de Transición de Estados - Ejemplo </vt:lpstr>
      <vt:lpstr>Diagrama de Transición de Estados - Ejemplo </vt:lpstr>
      <vt:lpstr>Diagrama de Transición de Estados - Ejemplo </vt:lpstr>
      <vt:lpstr>Diagrama de Transición de Estados - Ejemplo </vt:lpstr>
      <vt:lpstr>Diagrama de Transición de Estados - Ejemplo </vt:lpstr>
      <vt:lpstr>Presentación de PowerPoint</vt:lpstr>
      <vt:lpstr>Diagrama de Transición de Estados </vt:lpstr>
      <vt:lpstr>Diagrama de Transición de Estados </vt:lpstr>
      <vt:lpstr>Diagrama de Transición de Estados </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dc:creator>
  <cp:lastModifiedBy>Rocio Muñoz</cp:lastModifiedBy>
  <cp:revision>26</cp:revision>
  <dcterms:created xsi:type="dcterms:W3CDTF">2011-08-01T13:16:26Z</dcterms:created>
  <dcterms:modified xsi:type="dcterms:W3CDTF">2026-09-18T13:16:54Z</dcterms:modified>
</cp:coreProperties>
</file>