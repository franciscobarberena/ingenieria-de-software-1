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22" r:id="rId1"/>
  </p:sldMasterIdLst>
  <p:notesMasterIdLst>
    <p:notesMasterId r:id="rId42"/>
  </p:notesMasterIdLst>
  <p:sldIdLst>
    <p:sldId id="312" r:id="rId2"/>
    <p:sldId id="313" r:id="rId3"/>
    <p:sldId id="314" r:id="rId4"/>
    <p:sldId id="316" r:id="rId5"/>
    <p:sldId id="318" r:id="rId6"/>
    <p:sldId id="317" r:id="rId7"/>
    <p:sldId id="319" r:id="rId8"/>
    <p:sldId id="321" r:id="rId9"/>
    <p:sldId id="322" r:id="rId10"/>
    <p:sldId id="330" r:id="rId11"/>
    <p:sldId id="332" r:id="rId12"/>
    <p:sldId id="323" r:id="rId13"/>
    <p:sldId id="333" r:id="rId14"/>
    <p:sldId id="334" r:id="rId15"/>
    <p:sldId id="324" r:id="rId16"/>
    <p:sldId id="325" r:id="rId17"/>
    <p:sldId id="326" r:id="rId18"/>
    <p:sldId id="327" r:id="rId19"/>
    <p:sldId id="328" r:id="rId20"/>
    <p:sldId id="329" r:id="rId21"/>
    <p:sldId id="338" r:id="rId22"/>
    <p:sldId id="339" r:id="rId23"/>
    <p:sldId id="340" r:id="rId24"/>
    <p:sldId id="341" r:id="rId25"/>
    <p:sldId id="335" r:id="rId26"/>
    <p:sldId id="337" r:id="rId27"/>
    <p:sldId id="336" r:id="rId28"/>
    <p:sldId id="315" r:id="rId29"/>
    <p:sldId id="342" r:id="rId30"/>
    <p:sldId id="343" r:id="rId31"/>
    <p:sldId id="344" r:id="rId32"/>
    <p:sldId id="347" r:id="rId33"/>
    <p:sldId id="345" r:id="rId34"/>
    <p:sldId id="346" r:id="rId35"/>
    <p:sldId id="348" r:id="rId36"/>
    <p:sldId id="349" r:id="rId37"/>
    <p:sldId id="350" r:id="rId38"/>
    <p:sldId id="351" r:id="rId39"/>
    <p:sldId id="352" r:id="rId40"/>
    <p:sldId id="299" r:id="rId41"/>
  </p:sldIdLst>
  <p:sldSz cx="12192000" cy="6858000"/>
  <p:notesSz cx="6797675" cy="9874250"/>
  <p:embeddedFontLst>
    <p:embeddedFont>
      <p:font typeface="Noto Sans Symbols" panose="020B0604020202020204" charset="0"/>
      <p:regular r:id="rId43"/>
      <p:bold r:id="rId44"/>
    </p:embeddedFont>
    <p:embeddedFont>
      <p:font typeface="Noto Sans Symbols2" panose="020B0502040504020204" pitchFamily="34" charset="0"/>
      <p:regular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fyHjvLOhTppsxZ1yfSZGMthIr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4079AC-1019-435F-88D0-13771664655A}">
  <a:tblStyle styleId="{014079AC-1019-435F-88D0-13771664655A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6E6"/>
          </a:solidFill>
        </a:fill>
      </a:tcStyle>
    </a:wholeTbl>
    <a:band1H>
      <a:tcTxStyle b="off" i="off"/>
      <a:tcStyle>
        <a:tcBdr/>
        <a:fill>
          <a:solidFill>
            <a:srgbClr val="E8CA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CA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093D751-695A-4B9B-ACB2-DCE672DDA7E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93E73BA-C17D-4A99-9D19-78DB4725B846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061" autoAdjust="0"/>
  </p:normalViewPr>
  <p:slideViewPr>
    <p:cSldViewPr snapToGrid="0">
      <p:cViewPr varScale="1">
        <p:scale>
          <a:sx n="62" d="100"/>
          <a:sy n="62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8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41363"/>
            <a:ext cx="6581775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000000"/>
                </a:solidFill>
              </a:rPr>
              <a:t>Ingeniera de Software I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6" name="Google Shape;36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3DFD8D33-2BE6-9E57-9A3C-2538DF768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1D73B12D-EA17-1578-968E-7138C1FE0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12319BA2-6F7D-F651-182D-3AD78B5F0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E6ED67B5-CCD7-14AC-342B-B3791538D8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1962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E82E436F-CDA3-8E5B-90F6-D43175F7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BC103868-B66B-E501-45E1-9E2F98931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20F9ACBC-631D-916A-861F-7AE9873C7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D79FAEFE-66DD-6BA1-B175-7AE9B98CA2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6023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30A66CCA-AE5C-FC02-2DD9-DCFB1602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FB2C4E3B-2D7C-16B3-0A6F-60C49CC893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0F88497C-0707-F477-980E-3F6B77EBC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2FD5D68A-8001-8A39-D3D9-13EA09B833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8742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BCF490B-7981-3C37-1823-69CF281D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50C37BB6-DB5A-748D-AF19-AD3D61FA1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E8DE6E7C-7DAA-50F4-9AF6-DFB6A29C7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0EFBE5F8-66B8-D81B-E359-195CAAF186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8690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73BB15D8-1349-86A2-2C24-E3190D5F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BBF97840-597F-C3A9-AAF9-B24E90B99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1B60B188-0D59-A4A6-9872-377F4E549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83EBC1C3-5E61-C90F-5034-66A95A5C90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8913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78CBD969-E74B-B60F-8416-4511C6E2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DC30528C-5A9E-E860-9188-7006FABDA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C4246FE-C275-1D2C-0381-0628CE5D3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696871C7-CB00-C3FC-A3B7-62161294C7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620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A50D82DA-E7D5-883A-9785-9F698ABC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EE9DD4EA-3B43-8058-1420-7DFE824C9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F2CDD34-CB9C-FB23-CD66-5552D4A77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54521B03-0E9D-304E-E2BC-4C0D6595DF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9834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9F723D99-2075-D6BF-81CA-0A8D72C6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3C9EC4B9-29D7-89EE-BF86-780DE20B9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28D59C17-E0C0-81C1-63D3-9442BE9B4A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7E58F674-9BEC-6C3B-B7F9-133678DA8B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1316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0505FA1C-CBC7-4485-EB7D-6AE4A973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4A346581-4F04-33EF-C2AD-F771FCB8E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7B0816AD-EBAE-A1AB-AF46-4EF05A8A0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E826D13A-7FDA-1A04-D56C-B913D3C23C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1367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D809DEA-9C1A-437D-EB17-3B2131E2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97CAF771-0F82-A8CA-CD4F-DD4EE7BDF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32BD19A8-CCA4-F235-25AF-FCA66B429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817740C0-92AE-B755-E54F-6118A66BA1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8661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2EF69A7B-1D5B-7600-ADB6-3E4ADE4E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A6CA5F25-912E-6E91-2608-6262CC656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C516FC1F-EDF6-052B-A384-37899A0E3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980288C5-7CCC-9B5D-8B8A-8E29F5FF3D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907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C664CCA1-3B8A-869A-7F12-F5BC2C42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EADE5832-9284-3166-7935-F70591E33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F8CC09AC-6A47-065A-D88E-630AED5BE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8869A321-D205-717D-280A-E215A03C31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9933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C7AC54DB-913D-9379-E29C-ECD6B02B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1B4CC972-F77C-41ED-DD4F-65C576FB7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F8EE6205-587E-50BB-00A3-99C48C73C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AEE76645-182A-EBEA-3838-64BBB53138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0783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2C8A8318-8972-3CC0-4FDC-728D1A9F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0C373F19-3CC5-902D-E76D-AC4E27AFC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D3448E8A-9370-E0F6-2FD7-FD5857BCC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4FBCDEE4-58EA-0E74-1A9C-0DF4704B7F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4287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A900EDE-6442-FE79-869C-124A4CE6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0DDF8FE3-DE38-70EE-DDEF-7CC3CDD8C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ED77E9E1-4078-7C46-C108-9A832601E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0539C3D5-8A6F-C5D4-52DD-13765B6EBB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06977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5B8205D8-B708-23AF-2781-813D4EDC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7F54BC46-5E29-9B07-3C91-775F86FB6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8258BB8-19CE-8CD2-C4FE-1CB085C7C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7FCBA4A8-D07C-6E56-0997-EC82CD374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0413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275BA37F-8783-25A2-62FB-D3C30710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78F63E49-453F-1111-ACAB-ED0271375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2C40B8F4-5F64-60D5-7650-574D1D696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A1C2CEE9-191E-BA7C-DA62-358A98A09B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1113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8E1EBFFB-6592-7A14-7C1D-A233E4DE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7C0DC502-23F7-576E-EAB3-948A3E87E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878A6170-CEBF-8355-0758-615073C63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A01B9BEF-4C48-EECA-AE46-F2EC0FF44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953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6DE3FA18-1910-AF80-9D64-6535450B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436CBAE5-3F00-55F1-9ABC-050D43F10F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7DB74A36-7AC7-50CD-A544-05F41740C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0BE02E9C-03F3-8CFB-C79F-9E32BFF0DD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7820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5327E3D-22F9-E9D6-4359-A4EF87B1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403ABCFF-4E42-07B8-C335-C70292D1A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B71AE67E-9BCF-E2CF-53C7-9E18B96E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D683BE18-BF7E-0E03-7510-10F1B03D33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7828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8788399-F20B-126F-8CE6-877D210A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9627DF97-E12A-82DE-07BF-9F24B1E7F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C217EBDE-9339-B289-E702-542675859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CF57BCCF-F7FC-7D9E-04BA-5B05B1E784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8987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36949373-DCD6-5DDA-A0D7-4C237F2E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17CC8461-1977-2D18-E020-7754532EE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1524B055-75CF-7E87-24A3-6B633C148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E8699595-882E-1D9F-961F-368C00BAE0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2556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4518DB37-F529-B96E-2872-C6EDAAEE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84EDF56F-61F6-6661-2232-2BB99F182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99E51B9-4831-6366-61B4-BA2665C110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75C08E4D-0FE4-B9B3-E0D8-7B2F4CABFA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2003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2249F155-A832-0350-775C-F60571B1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2:notes">
            <a:extLst>
              <a:ext uri="{FF2B5EF4-FFF2-40B4-BE49-F238E27FC236}">
                <a16:creationId xmlns:a16="http://schemas.microsoft.com/office/drawing/2014/main" id="{D67CF720-F0C7-65CA-D580-5D252488D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62:notes">
            <a:extLst>
              <a:ext uri="{FF2B5EF4-FFF2-40B4-BE49-F238E27FC236}">
                <a16:creationId xmlns:a16="http://schemas.microsoft.com/office/drawing/2014/main" id="{ED506E32-EA9F-F16A-2729-AC89F4C81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24927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EE1B2624-C618-4996-DC29-CF915BDA1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6CE24C90-D931-B50B-D340-A4AE31F26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F8A0EC8D-2D3D-2432-C8AD-458E9F1F0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61005049-E0CD-E858-0CBA-0ECA07AA5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52169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37C5D020-6B41-4AD9-37BE-BF9C3F14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D67CB3E9-A805-E817-5990-7BF9F51830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089EA9D8-210C-ACE8-CD2E-477FA6819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D924D0EB-5A6D-FA05-53B6-19FB760F2C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0134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2DECE22F-2F48-6D25-FAEB-B34F6678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D670B6A4-0387-07CB-4E9C-D761C33F8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E1DBF4D2-FB87-9283-F54F-4BF0CF516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8F4AD469-2518-A582-5B4E-ECB278EE1C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083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0172AF4-EF82-6EC8-C0EC-40741E7A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EA6CB188-0E0F-D06F-E51B-B75AAD45F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05E3F55-5919-8A8F-390C-A618BFEE6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F740AD5D-5143-2239-A243-E6B1B0FC23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919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AE43F46-7F46-32D9-281B-E8C182B5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AD94C164-B3F6-4375-A967-271F0F0B2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73D96219-880F-0B18-8BE0-9D8E474AC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BB7E8829-C872-E41D-E59C-7C20C28612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76908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C3255FC-1D0D-C12A-AA17-6772CC6C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8B959CF3-4F35-9A34-539B-878437C82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4A7FA929-8AB4-4FC6-EBD7-973A489D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07B06532-3167-DF17-0C61-B1FE3F1F8A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06462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D8868419-DDD4-B3D0-B65B-B3CA5A50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B8314C66-CF8C-D068-B47B-13E48F4F2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4F14D43-BA66-9298-C68F-078B71024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FF83EE89-9F00-348F-502A-3A5B5B4281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44868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ED90BC8D-FE77-8B45-010D-865A740F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0428FB75-12FC-A770-4183-EA6F508CC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7C8F8B63-19A3-F58C-5A4C-4A18DF01A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A356C4EB-2B8B-662B-E243-3A1A9355F9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3643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B05C702F-523C-D2AC-5755-4C0F344E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EA5283D0-F534-C2B8-9E81-FFC96343B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93DC3FFD-D4E0-7685-97B6-3144D9A40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18F46FCD-0A80-C23A-3AC2-2C7F6B3FAE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20889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EAD42F96-A9F2-5F5B-4B76-DE3D5891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6F1765CE-A7AB-BFA7-C92C-AAD428E8D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ED6CCBA6-DDFC-A0DB-DD1E-C58E2CE65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866F34F2-AD0F-5A2E-B307-B95348C68E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04296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F101FB82-127A-D83B-EE4D-7DF2EFB6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:notes">
            <a:extLst>
              <a:ext uri="{FF2B5EF4-FFF2-40B4-BE49-F238E27FC236}">
                <a16:creationId xmlns:a16="http://schemas.microsoft.com/office/drawing/2014/main" id="{C0931E4D-3E84-15F6-277D-1B910C74D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3:notes">
            <a:extLst>
              <a:ext uri="{FF2B5EF4-FFF2-40B4-BE49-F238E27FC236}">
                <a16:creationId xmlns:a16="http://schemas.microsoft.com/office/drawing/2014/main" id="{75E59FFC-1603-6B19-5071-7054E4328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63:notes">
            <a:extLst>
              <a:ext uri="{FF2B5EF4-FFF2-40B4-BE49-F238E27FC236}">
                <a16:creationId xmlns:a16="http://schemas.microsoft.com/office/drawing/2014/main" id="{9171D5EF-B9B1-8815-6922-B97AD6B3B9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70594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p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40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C43E6BC9-8A4B-BD2D-A97B-03388AE41EAE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F678791-B724-BCA3-27E2-1573250C65F7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4376D2-E739-A143-7567-7E7C895C1073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19872CF-55A0-9DEA-1F48-99EF21A0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BF3F83-733F-7998-8465-9CAF03D8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3749773-EDCF-15AC-8873-BA88B893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97461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ECB8E-6984-4DA0-CCDE-D937FA0C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57F4-2F29-4C31-2415-BFB11E3F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ECEC8-651A-FCF9-B2E1-B405EBC2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89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1201EA0-53D0-7652-4D4E-95C016955A0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45C714-55C6-FB84-2F9B-BFCE7404FEA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6B424C43-339F-FEC6-DA41-E1340B223021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65F793D-C4CA-CA71-3A8A-37CABDA2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CA7C2D-C4DC-416D-A3B6-E7A59B10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BE78C8-FAFB-6BF8-391B-10D29622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56542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2B40943-1B9C-D884-CDBA-16AC1C8C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7FE42-A4CB-C241-D463-8DBF129E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A125-51D5-AB66-7530-03C78059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451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87869F-EDC5-A732-2427-D6C4489ED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D35A538-2180-F873-24AE-5D01A8A5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D96B72-324F-7BE1-1E26-4D65C805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555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1F1421-0CC8-F1A5-7259-5FB989CA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98B81BF-13B0-EA03-CD9B-4BA8BF91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7AFA0F-1030-F66F-82F9-E684ED8B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657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496674-BB05-017D-11E0-8966F048B70E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45132C5-EA5E-91C9-06B1-C8FE60EB0056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59257FC8-08D6-5512-2DF0-06002931FE4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624F40B6-1A7A-531D-1A8F-73692B3B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27FD8BA-9E81-1FA5-93C6-91982F23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6980B1A-467B-C990-8E42-FDD3B612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873777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4DBA1FB-2DA3-161C-611C-46AD52F8EC39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DBF4A0-F832-4607-0601-C6529010CCB7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93845C7-38E9-19B1-4955-4FFEC826C4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endParaRPr lang="es-AR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6F55F3F-774F-E112-4897-DA757319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Ingeniería de Software I  2025</a:t>
            </a:r>
            <a:endParaRPr lang="sv-SE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8336173-168A-1D62-F85B-5F9F07C7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198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B3590E-941F-6C46-99CA-6B8CD47B4F9E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B5B376E-A078-4B8B-9A3B-B708E73C5022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5810FA40-BAA6-540E-BA60-E395E8CD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E990C6F-C468-0E3C-906A-6CC9F814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8D84FF6-2B50-4F03-A16A-1223F063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623547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27B67-55D2-D85A-4888-84E2B43AF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CD5D6-24B5-8006-8387-CE9DBA0D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8E67-12E2-4C7F-CFAF-D7A64BDD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67834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96FD164-7E2D-1175-C78E-31E006FF48AB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4C54E99-E0F9-4658-A70F-5F31CC0BDE9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346644-2702-65ED-807A-63AF82B0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9ABDFB8-65BB-45F5-EA46-B95105E2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A9F0A9-80BD-F363-9268-6353B70D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07465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B5D058D-174B-7E86-7EB5-CC25C437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EB60D3-19A8-0CEE-092F-DA685311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390253-683C-1C0C-FDBF-CF46B03C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3443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F7BA581-B936-75B7-8199-5A6D2739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C7B9D3E-E2EC-7C83-2F91-C4F5F303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4620CA-F0E4-93E4-CF84-E712740B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7851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4738E740-7E5F-4227-B0C9-620E61EC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7B9DFD6E-5553-8A0A-0CD9-C0072507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5094922-97C7-2E63-717F-CAA134FD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789368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16BC62-80EB-6A48-91AA-5CCDDB5E4AE7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4CECD4-62E1-7094-EE64-51040DA522A0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0B69E-9EA9-2F5B-8C53-68F1A31C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57573C21-5CBF-DDA2-32F1-61FF22A03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DA1BB-B518-F9E9-A4BB-C90FF5B81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899E6-4FE1-AB0B-39F5-9369FD516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12A3-F1F3-CDCE-28F5-8D4205A88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749874-E946-59B7-87F7-6D06B2D56870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006D9384-4CC2-58F5-2E39-FB4BEB43C9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79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dirty="0"/>
              <a:t>2026 – CLASE 6</a:t>
            </a:r>
            <a:endParaRPr dirty="0"/>
          </a:p>
        </p:txBody>
      </p:sp>
      <p:sp>
        <p:nvSpPr>
          <p:cNvPr id="130" name="Google Shape;130;p3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8085"/>
              </a:buClr>
              <a:buSzPts val="1000"/>
              <a:buFont typeface="Calibri"/>
              <a:buNone/>
            </a:pPr>
            <a:fld id="{00000000-1234-1234-1234-123412341234}" type="slidenum">
              <a:rPr lang="es-ES">
                <a:solidFill>
                  <a:srgbClr val="758085"/>
                </a:solidFill>
              </a:rPr>
              <a:t>1</a:t>
            </a:fld>
            <a:endParaRPr>
              <a:solidFill>
                <a:srgbClr val="758085"/>
              </a:solidFill>
            </a:endParaRPr>
          </a:p>
        </p:txBody>
      </p:sp>
      <p:pic>
        <p:nvPicPr>
          <p:cNvPr id="131" name="Google Shape;1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413" y="4968816"/>
            <a:ext cx="1147495" cy="11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/>
          <p:nvPr/>
        </p:nvSpPr>
        <p:spPr>
          <a:xfrm>
            <a:off x="9170372" y="2852665"/>
            <a:ext cx="2851962" cy="10478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75" tIns="44625" rIns="89275" bIns="44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7"/>
              <a:buFont typeface="Calibri"/>
              <a:buNone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75" tIns="44625" rIns="89275" bIns="44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7"/>
              <a:buFont typeface="Calibri"/>
              <a:buNone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marR="0" lvl="0" indent="-558360" algn="l" rtl="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516"/>
              <a:buFont typeface="Noto Sans Symbols"/>
              <a:buChar char="❖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Especificación de requerimientos</a:t>
            </a: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51454" marR="0" lvl="3" indent="-558360" algn="l" rtl="0">
              <a:lnSpc>
                <a:spcPct val="85000"/>
              </a:lnSpc>
              <a:spcBef>
                <a:spcPts val="756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s-ES" sz="351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Tablas de Decisión (TD)</a:t>
            </a:r>
          </a:p>
          <a:p>
            <a:pPr marL="1451454" marR="0" lvl="3" indent="-558360" algn="l" rtl="0">
              <a:lnSpc>
                <a:spcPct val="85000"/>
              </a:lnSpc>
              <a:spcBef>
                <a:spcPts val="756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s-ES" sz="3516" dirty="0">
                <a:latin typeface="Calibri"/>
                <a:cs typeface="Calibri"/>
                <a:sym typeface="Calibri"/>
              </a:rPr>
              <a:t>Análisis Estructurado</a:t>
            </a:r>
            <a:endParaRPr sz="3516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chemeClr val="dk1"/>
              </a:buClr>
              <a:buSzPts val="3516"/>
              <a:buFont typeface="Calibri"/>
              <a:buNone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Contenidos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75" tIns="44625" rIns="89275" bIns="446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2"/>
          <p:cNvSpPr txBox="1">
            <a:spLocks noGrp="1"/>
          </p:cNvSpPr>
          <p:nvPr>
            <p:ph type="title"/>
          </p:nvPr>
        </p:nvSpPr>
        <p:spPr>
          <a:xfrm>
            <a:off x="457199" y="594359"/>
            <a:ext cx="343287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alibri"/>
              <a:buNone/>
            </a:pPr>
            <a:r>
              <a:rPr lang="es-ES"/>
              <a:t>Técnicas de Especificación de Requerimientos</a:t>
            </a:r>
            <a:endParaRPr/>
          </a:p>
        </p:txBody>
      </p:sp>
      <p:sp>
        <p:nvSpPr>
          <p:cNvPr id="369" name="Google Shape;369;p62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ts val="3600"/>
              <a:buNone/>
            </a:pP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1200" dirty="0"/>
          </a:p>
        </p:txBody>
      </p:sp>
      <p:sp>
        <p:nvSpPr>
          <p:cNvPr id="370" name="Google Shape;370;p62"/>
          <p:cNvSpPr txBox="1">
            <a:spLocks noGrp="1"/>
          </p:cNvSpPr>
          <p:nvPr>
            <p:ph type="dt" idx="10"/>
          </p:nvPr>
        </p:nvSpPr>
        <p:spPr>
          <a:xfrm>
            <a:off x="465138" y="6459538"/>
            <a:ext cx="2619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71" name="Google Shape;371;p62"/>
          <p:cNvSpPr txBox="1">
            <a:spLocks noGrp="1"/>
          </p:cNvSpPr>
          <p:nvPr>
            <p:ph type="ftr" idx="11"/>
          </p:nvPr>
        </p:nvSpPr>
        <p:spPr>
          <a:xfrm>
            <a:off x="4800600" y="64595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72" name="Google Shape;372;p62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3</a:t>
            </a:fld>
            <a:endParaRPr>
              <a:solidFill>
                <a:srgbClr val="C00000"/>
              </a:solidFill>
            </a:endParaRPr>
          </a:p>
        </p:txBody>
      </p:sp>
      <p:sp>
        <p:nvSpPr>
          <p:cNvPr id="373" name="Google Shape;373;p62"/>
          <p:cNvSpPr txBox="1">
            <a:spLocks noGrp="1"/>
          </p:cNvSpPr>
          <p:nvPr>
            <p:ph type="body" idx="1"/>
          </p:nvPr>
        </p:nvSpPr>
        <p:spPr>
          <a:xfrm>
            <a:off x="4800600" y="731838"/>
            <a:ext cx="6714641" cy="557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</a:rPr>
              <a:t>Es una herramienta que permite presentar de forma concisa las reglas lógicas que hay que utilizar para decidir acciones a ejecutar en función de las condiciones y la lógica de decisión de un problema específico.</a:t>
            </a: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</a:endParaRP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</a:rPr>
              <a:t>Describe el sistema como un conjunto de:</a:t>
            </a:r>
          </a:p>
          <a:p>
            <a:pPr marL="620713" lvl="0" indent="-26352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Posibles </a:t>
            </a:r>
            <a:r>
              <a:rPr lang="es-ES" sz="2400" dirty="0">
                <a:solidFill>
                  <a:srgbClr val="C00000"/>
                </a:solidFill>
              </a:rPr>
              <a:t>CONDICIONES</a:t>
            </a:r>
            <a:r>
              <a:rPr lang="es-ES" sz="2400" dirty="0">
                <a:solidFill>
                  <a:schemeClr val="dk1"/>
                </a:solidFill>
              </a:rPr>
              <a:t> satisfechas por el sistema en un momento dado.</a:t>
            </a:r>
          </a:p>
          <a:p>
            <a:pPr marL="620713" lvl="0" indent="-26352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rgbClr val="C00000"/>
                </a:solidFill>
              </a:rPr>
              <a:t>REGLAS</a:t>
            </a:r>
            <a:r>
              <a:rPr lang="es-ES" sz="2400" dirty="0">
                <a:solidFill>
                  <a:schemeClr val="dk1"/>
                </a:solidFill>
              </a:rPr>
              <a:t> para reaccionar ante los estímulos que ocurren cuando se reúnen determinados conjuntos de condiciones.</a:t>
            </a:r>
          </a:p>
          <a:p>
            <a:pPr marL="620713" lvl="0" indent="-26352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rgbClr val="C00000"/>
                </a:solidFill>
              </a:rPr>
              <a:t>ACCIONES</a:t>
            </a:r>
            <a:r>
              <a:rPr lang="es-ES" sz="2400" dirty="0">
                <a:solidFill>
                  <a:schemeClr val="dk1"/>
                </a:solidFill>
              </a:rPr>
              <a:t> a ser tomadas como un resultado.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/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383" name="Google Shape;383;p63"/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Construiremos las tablas con: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Condiciones simples y acciones simples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condiciones toman sólo valores Verdadero o Falso</a:t>
            </a:r>
          </a:p>
          <a:p>
            <a:pPr marL="806450" marR="0" lvl="0" indent="-357188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Hay 2N Reglas donde N es la cantidad de condiciones</a:t>
            </a:r>
          </a:p>
        </p:txBody>
      </p:sp>
      <p:graphicFrame>
        <p:nvGraphicFramePr>
          <p:cNvPr id="3" name="Google Shape;436;p6">
            <a:extLst>
              <a:ext uri="{FF2B5EF4-FFF2-40B4-BE49-F238E27FC236}">
                <a16:creationId xmlns:a16="http://schemas.microsoft.com/office/drawing/2014/main" id="{06C3C269-85BD-6158-BA99-77E905194B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2997918"/>
              </p:ext>
            </p:extLst>
          </p:nvPr>
        </p:nvGraphicFramePr>
        <p:xfrm>
          <a:off x="4042258" y="4116514"/>
          <a:ext cx="4107484" cy="1611925"/>
        </p:xfrm>
        <a:graphic>
          <a:graphicData uri="http://schemas.openxmlformats.org/drawingml/2006/table">
            <a:tbl>
              <a:tblPr firstRow="1" firstCol="1" bandRow="1">
                <a:noFill/>
                <a:tableStyleId>{014079AC-1019-435F-88D0-13771664655A}</a:tableStyleId>
              </a:tblPr>
              <a:tblGrid>
                <a:gridCol w="1210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 dirty="0"/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REGLA1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REGLA2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………….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COND1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COND2	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………..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ACCION1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ACCION2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………..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 dirty="0"/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06F113F-B339-BDCD-6142-B140739E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70371F12-7A04-EE79-5C20-DED4D7ECF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3040E11-3818-DEA7-431C-21764D9B125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DC8F41B2-730A-D961-FDAB-358AFCF1976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32C8E324-3BEA-6EDA-B71E-8C96435F0B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A7C8C2A2-7DF7-27E9-FBFC-10D239982DCA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Pasos a seguir, a partir de un enunciado: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las condiciones y las acciones.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 la tabla, teniendo en cuenta:</a:t>
            </a:r>
          </a:p>
          <a:p>
            <a:pPr marL="1255713" lvl="1" indent="-357188" algn="just"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lphaLcParenR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hay condiciones que son opuestas, debe colocarse solo una de ellas, ya que por la negativa se “obtendrá” la otra. (Si son n condiciones excluyentes, colocar n-1 en la tabla).</a:t>
            </a:r>
          </a:p>
          <a:p>
            <a:pPr marL="1255713" lvl="1" indent="-357188" algn="just"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lphaLcParenR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condiciones deben ser atómicas.</a:t>
            </a:r>
          </a:p>
          <a:p>
            <a:pPr marL="1255713" lvl="1" indent="-357188" algn="just"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lphaLcParenR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deben eliminar las inconsistencias (situaciones imposibles).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las reglas.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Asociar las acciones a las reglas.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Simplificar la tabla.</a:t>
            </a:r>
          </a:p>
        </p:txBody>
      </p:sp>
    </p:spTree>
    <p:extLst>
      <p:ext uri="{BB962C8B-B14F-4D97-AF65-F5344CB8AC3E}">
        <p14:creationId xmlns:p14="http://schemas.microsoft.com/office/powerpoint/2010/main" val="336057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74E1591-9615-9F23-1E65-830B6A1D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B22D109B-1509-11E3-753E-D5B3D51AE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A2580AB4-BFE7-51E5-CB23-6A30002738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059A297B-426F-A950-B7CB-9FFC61E3B7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394FCB0F-A58C-B32E-CACB-0216A45A53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F6B069EF-8AAB-774E-BF25-261D99C4A947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Modelizar el problema de remisión de mercadería con las siguientes consideraciones: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83CC2B5-EA16-20EE-E6AE-326076A6CE86}"/>
              </a:ext>
            </a:extLst>
          </p:cNvPr>
          <p:cNvGrpSpPr/>
          <p:nvPr/>
        </p:nvGrpSpPr>
        <p:grpSpPr>
          <a:xfrm>
            <a:off x="1904438" y="3429000"/>
            <a:ext cx="8555219" cy="1685429"/>
            <a:chOff x="2001656" y="3263374"/>
            <a:chExt cx="8555219" cy="1685429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37A3BFC8-B5AA-4273-6130-91322E5E5F7F}"/>
                </a:ext>
              </a:extLst>
            </p:cNvPr>
            <p:cNvSpPr/>
            <p:nvPr/>
          </p:nvSpPr>
          <p:spPr>
            <a:xfrm>
              <a:off x="2001656" y="3263374"/>
              <a:ext cx="8555219" cy="1685429"/>
            </a:xfrm>
            <a:prstGeom prst="roundRect">
              <a:avLst/>
            </a:prstGeom>
            <a:noFill/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8FF1421-8BA0-03BE-C859-F5CF715B37A2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14790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comprador no es cliente se imprime un mensaje de aviso y no se remite.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no hay stock y el comprador es cliente no se remite.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hay stock y el comprador es cliente se remite.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443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EDBE48F7-9AAA-1B2B-99C8-4577F238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5B76E8B-1B3F-FD16-7315-052614F0A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E943C2C8-7C89-B244-6CD7-EF496CACDBE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67DC910-BC88-06B8-85B9-A67CF5FD9E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E6933635-7B34-FC13-4630-6934AF8486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BC299433-1597-018B-C830-7030B26F1C60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las condiciones y las acciones</a:t>
            </a: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 la tabla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2F58888-AFA3-2101-6AEC-06E382C39EE6}"/>
              </a:ext>
            </a:extLst>
          </p:cNvPr>
          <p:cNvGrpSpPr/>
          <p:nvPr/>
        </p:nvGrpSpPr>
        <p:grpSpPr>
          <a:xfrm>
            <a:off x="3570288" y="1545256"/>
            <a:ext cx="8555219" cy="1685429"/>
            <a:chOff x="2001656" y="3263374"/>
            <a:chExt cx="8555219" cy="1685429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5681E072-7BF8-FC7C-A7A9-7949BFFEBDB3}"/>
                </a:ext>
              </a:extLst>
            </p:cNvPr>
            <p:cNvSpPr/>
            <p:nvPr/>
          </p:nvSpPr>
          <p:spPr>
            <a:xfrm>
              <a:off x="2001656" y="3263374"/>
              <a:ext cx="8555219" cy="1685429"/>
            </a:xfrm>
            <a:prstGeom prst="roundRect">
              <a:avLst/>
            </a:prstGeom>
            <a:solidFill>
              <a:schemeClr val="bg1"/>
            </a:solidFill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4BD333B-896B-17C8-8A82-62CF6C586709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14790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comprador no es cliente se imprime un mensaje de aviso y no se remite.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no hay stock y el comprador es cliente no se remite.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hay stock y el comprador es cliente se remite.</a:t>
              </a:r>
            </a:p>
          </p:txBody>
        </p:sp>
      </p:grpSp>
      <p:graphicFrame>
        <p:nvGraphicFramePr>
          <p:cNvPr id="2" name="Google Shape;460;p9">
            <a:extLst>
              <a:ext uri="{FF2B5EF4-FFF2-40B4-BE49-F238E27FC236}">
                <a16:creationId xmlns:a16="http://schemas.microsoft.com/office/drawing/2014/main" id="{071C176D-42C7-7BD9-A0D7-F7397FD2E1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302879"/>
              </p:ext>
            </p:extLst>
          </p:nvPr>
        </p:nvGraphicFramePr>
        <p:xfrm>
          <a:off x="3027795" y="3425460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Google Shape;461;p9">
            <a:extLst>
              <a:ext uri="{FF2B5EF4-FFF2-40B4-BE49-F238E27FC236}">
                <a16:creationId xmlns:a16="http://schemas.microsoft.com/office/drawing/2014/main" id="{19E7AA05-2D06-8309-6F3B-97C668D856B0}"/>
              </a:ext>
            </a:extLst>
          </p:cNvPr>
          <p:cNvSpPr/>
          <p:nvPr/>
        </p:nvSpPr>
        <p:spPr>
          <a:xfrm>
            <a:off x="2572960" y="3410116"/>
            <a:ext cx="483055" cy="945108"/>
          </a:xfrm>
          <a:prstGeom prst="leftBrac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tx1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462;p9">
            <a:extLst>
              <a:ext uri="{FF2B5EF4-FFF2-40B4-BE49-F238E27FC236}">
                <a16:creationId xmlns:a16="http://schemas.microsoft.com/office/drawing/2014/main" id="{7E997172-6B58-8540-C1D3-894B74F4D7E7}"/>
              </a:ext>
            </a:extLst>
          </p:cNvPr>
          <p:cNvSpPr/>
          <p:nvPr/>
        </p:nvSpPr>
        <p:spPr>
          <a:xfrm>
            <a:off x="2544740" y="4550035"/>
            <a:ext cx="483056" cy="1297248"/>
          </a:xfrm>
          <a:prstGeom prst="leftBrac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C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463;p9">
            <a:extLst>
              <a:ext uri="{FF2B5EF4-FFF2-40B4-BE49-F238E27FC236}">
                <a16:creationId xmlns:a16="http://schemas.microsoft.com/office/drawing/2014/main" id="{96610366-AF9B-AD25-BF84-6F986433EE49}"/>
              </a:ext>
            </a:extLst>
          </p:cNvPr>
          <p:cNvSpPr txBox="1"/>
          <p:nvPr/>
        </p:nvSpPr>
        <p:spPr>
          <a:xfrm>
            <a:off x="830289" y="3651858"/>
            <a:ext cx="171877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i="0" u="none" strike="noStrike" cap="none" dirty="0">
                <a:solidFill>
                  <a:srgbClr val="C00000"/>
                </a:solidFill>
                <a:latin typeface="+mn-lt"/>
                <a:ea typeface="Calibri"/>
                <a:cs typeface="Calibri"/>
                <a:sym typeface="Calibri"/>
              </a:rPr>
              <a:t>Condiciones</a:t>
            </a:r>
            <a:endParaRPr sz="1200" i="0" u="none" strike="noStrike" cap="none" dirty="0">
              <a:solidFill>
                <a:srgbClr val="C00000"/>
              </a:solidFill>
              <a:latin typeface="+mn-lt"/>
              <a:sym typeface="Arial"/>
            </a:endParaRPr>
          </a:p>
        </p:txBody>
      </p:sp>
      <p:sp>
        <p:nvSpPr>
          <p:cNvPr id="9" name="Google Shape;464;p9">
            <a:extLst>
              <a:ext uri="{FF2B5EF4-FFF2-40B4-BE49-F238E27FC236}">
                <a16:creationId xmlns:a16="http://schemas.microsoft.com/office/drawing/2014/main" id="{7AD3227A-CE99-CC8B-89F7-56E481DAB531}"/>
              </a:ext>
            </a:extLst>
          </p:cNvPr>
          <p:cNvSpPr txBox="1"/>
          <p:nvPr/>
        </p:nvSpPr>
        <p:spPr>
          <a:xfrm>
            <a:off x="1213873" y="4959366"/>
            <a:ext cx="128356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i="0" u="none" strike="noStrike" cap="none" dirty="0">
                <a:solidFill>
                  <a:srgbClr val="C00000"/>
                </a:solidFill>
                <a:latin typeface="+mn-lt"/>
                <a:ea typeface="Calibri"/>
                <a:cs typeface="Calibri"/>
                <a:sym typeface="Calibri"/>
              </a:rPr>
              <a:t>Acciones</a:t>
            </a:r>
            <a:endParaRPr sz="1200" i="0" u="none" strike="noStrike" cap="none" dirty="0">
              <a:solidFill>
                <a:srgbClr val="C00000"/>
              </a:solidFill>
              <a:latin typeface="+mn-lt"/>
              <a:sym typeface="Arial"/>
            </a:endParaRPr>
          </a:p>
        </p:txBody>
      </p:sp>
      <p:graphicFrame>
        <p:nvGraphicFramePr>
          <p:cNvPr id="10" name="Google Shape;465;p9">
            <a:extLst>
              <a:ext uri="{FF2B5EF4-FFF2-40B4-BE49-F238E27FC236}">
                <a16:creationId xmlns:a16="http://schemas.microsoft.com/office/drawing/2014/main" id="{80D95FA3-EC14-E138-DE73-AD690DDBE9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8163528"/>
              </p:ext>
            </p:extLst>
          </p:nvPr>
        </p:nvGraphicFramePr>
        <p:xfrm>
          <a:off x="3027795" y="4485267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86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42C2E54F-8492-FA5D-4656-C7C2E27B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DF4191C6-841D-38D8-6878-328E5FD15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7020065-C31F-B7F5-A64E-632731390CC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09C7C834-6B99-59C2-0A0A-115865BF21E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1183D30A-8681-318F-1FC9-14EB4F9BE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AD265AE-69AF-3E0A-9C78-7E374DF6D8B3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3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las reglas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460;p9">
            <a:extLst>
              <a:ext uri="{FF2B5EF4-FFF2-40B4-BE49-F238E27FC236}">
                <a16:creationId xmlns:a16="http://schemas.microsoft.com/office/drawing/2014/main" id="{4FE363C9-8D67-ACB7-2189-A9388BF459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9568055"/>
              </p:ext>
            </p:extLst>
          </p:nvPr>
        </p:nvGraphicFramePr>
        <p:xfrm>
          <a:off x="2950304" y="3341779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oogle Shape;465;p9">
            <a:extLst>
              <a:ext uri="{FF2B5EF4-FFF2-40B4-BE49-F238E27FC236}">
                <a16:creationId xmlns:a16="http://schemas.microsoft.com/office/drawing/2014/main" id="{12AC1262-9E5E-0056-6F41-AA46D50680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290213"/>
              </p:ext>
            </p:extLst>
          </p:nvPr>
        </p:nvGraphicFramePr>
        <p:xfrm>
          <a:off x="2950304" y="4401586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Google Shape;466;p9">
            <a:extLst>
              <a:ext uri="{FF2B5EF4-FFF2-40B4-BE49-F238E27FC236}">
                <a16:creationId xmlns:a16="http://schemas.microsoft.com/office/drawing/2014/main" id="{72D9E0B8-817A-7B2C-4B6E-76622CAE7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782399"/>
              </p:ext>
            </p:extLst>
          </p:nvPr>
        </p:nvGraphicFramePr>
        <p:xfrm>
          <a:off x="6515244" y="3341779"/>
          <a:ext cx="143985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Google Shape;467;p9">
            <a:extLst>
              <a:ext uri="{FF2B5EF4-FFF2-40B4-BE49-F238E27FC236}">
                <a16:creationId xmlns:a16="http://schemas.microsoft.com/office/drawing/2014/main" id="{43CE8349-1E3D-B97B-0061-35F55A4EB8DD}"/>
              </a:ext>
            </a:extLst>
          </p:cNvPr>
          <p:cNvSpPr txBox="1"/>
          <p:nvPr/>
        </p:nvSpPr>
        <p:spPr>
          <a:xfrm>
            <a:off x="6657742" y="2930195"/>
            <a:ext cx="11581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i="0" u="none" strike="noStrike" cap="none" dirty="0">
                <a:solidFill>
                  <a:srgbClr val="C00000"/>
                </a:solidFill>
                <a:latin typeface="+mn-lt"/>
                <a:ea typeface="Calibri"/>
                <a:cs typeface="Calibri"/>
                <a:sym typeface="Calibri"/>
              </a:rPr>
              <a:t>Reglas</a:t>
            </a:r>
            <a:endParaRPr sz="2400" i="0" u="none" strike="noStrike" cap="none" dirty="0">
              <a:solidFill>
                <a:srgbClr val="C00000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470;p9">
            <a:extLst>
              <a:ext uri="{FF2B5EF4-FFF2-40B4-BE49-F238E27FC236}">
                <a16:creationId xmlns:a16="http://schemas.microsoft.com/office/drawing/2014/main" id="{0CC44120-62E4-9370-D173-31D82BB161D3}"/>
              </a:ext>
            </a:extLst>
          </p:cNvPr>
          <p:cNvSpPr/>
          <p:nvPr/>
        </p:nvSpPr>
        <p:spPr>
          <a:xfrm>
            <a:off x="8097592" y="2708752"/>
            <a:ext cx="1796204" cy="820576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i="0" u="none" strike="noStrike" cap="none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2</a:t>
            </a:r>
            <a:r>
              <a:rPr lang="es-ES" sz="3200" i="0" u="none" strike="noStrike" cap="none" baseline="3000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n</a:t>
            </a:r>
            <a:r>
              <a:rPr lang="es-ES" sz="2800" i="0" u="none" strike="noStrike" cap="none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 Reglas</a:t>
            </a:r>
            <a:endParaRPr sz="2800" i="0" u="none" strike="noStrike" cap="none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50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C1F314FE-D208-A421-6458-7D0C67EA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907F791-55AD-3545-A9D4-5F35E7B59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DF857386-E23F-287B-350D-2B713CD1134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54A3B7A4-C19C-447C-BB96-E2F77D3269A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B1958036-4A34-564C-94D1-893FC64922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B6170A6B-A8DD-010F-C51A-E5333A3FDC46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Asociar las acciones a las reglas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460;p9">
            <a:extLst>
              <a:ext uri="{FF2B5EF4-FFF2-40B4-BE49-F238E27FC236}">
                <a16:creationId xmlns:a16="http://schemas.microsoft.com/office/drawing/2014/main" id="{95F6A351-5B4D-E3A5-420B-E83A0B5689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160049"/>
              </p:ext>
            </p:extLst>
          </p:nvPr>
        </p:nvGraphicFramePr>
        <p:xfrm>
          <a:off x="2950304" y="3341779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oogle Shape;465;p9">
            <a:extLst>
              <a:ext uri="{FF2B5EF4-FFF2-40B4-BE49-F238E27FC236}">
                <a16:creationId xmlns:a16="http://schemas.microsoft.com/office/drawing/2014/main" id="{C17F1BF7-9DE6-1EC5-E3EE-431A173CA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1633783"/>
              </p:ext>
            </p:extLst>
          </p:nvPr>
        </p:nvGraphicFramePr>
        <p:xfrm>
          <a:off x="2950304" y="4401586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Google Shape;466;p9">
            <a:extLst>
              <a:ext uri="{FF2B5EF4-FFF2-40B4-BE49-F238E27FC236}">
                <a16:creationId xmlns:a16="http://schemas.microsoft.com/office/drawing/2014/main" id="{7CCAC71E-A426-4CD2-4E11-0432323B6E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085137"/>
              </p:ext>
            </p:extLst>
          </p:nvPr>
        </p:nvGraphicFramePr>
        <p:xfrm>
          <a:off x="6515244" y="3341779"/>
          <a:ext cx="143985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7A2EE68A-938F-9A68-757C-67DEBE7989E9}"/>
              </a:ext>
            </a:extLst>
          </p:cNvPr>
          <p:cNvGrpSpPr/>
          <p:nvPr/>
        </p:nvGrpSpPr>
        <p:grpSpPr>
          <a:xfrm>
            <a:off x="3570288" y="1426044"/>
            <a:ext cx="8555219" cy="1685429"/>
            <a:chOff x="2001656" y="3263374"/>
            <a:chExt cx="8555219" cy="1685429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22AAC042-A375-D7DA-8FC2-674210627E6B}"/>
                </a:ext>
              </a:extLst>
            </p:cNvPr>
            <p:cNvSpPr/>
            <p:nvPr/>
          </p:nvSpPr>
          <p:spPr>
            <a:xfrm>
              <a:off x="2001656" y="3263374"/>
              <a:ext cx="8555219" cy="1685429"/>
            </a:xfrm>
            <a:prstGeom prst="roundRect">
              <a:avLst/>
            </a:prstGeom>
            <a:solidFill>
              <a:schemeClr val="bg1"/>
            </a:solidFill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0E72125-893E-234D-928C-5C7C4D31A91D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14790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comprador no es cliente se imprime un mensaje de aviso y no se remite.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no hay stock y el comprador es cliente no se remite.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hay stock y el comprador es cliente se remite.</a:t>
              </a:r>
            </a:p>
          </p:txBody>
        </p:sp>
      </p:grpSp>
      <p:graphicFrame>
        <p:nvGraphicFramePr>
          <p:cNvPr id="6" name="Google Shape;468;p9">
            <a:extLst>
              <a:ext uri="{FF2B5EF4-FFF2-40B4-BE49-F238E27FC236}">
                <a16:creationId xmlns:a16="http://schemas.microsoft.com/office/drawing/2014/main" id="{889A913B-08F6-1971-6899-5B833673EB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699759"/>
              </p:ext>
            </p:extLst>
          </p:nvPr>
        </p:nvGraphicFramePr>
        <p:xfrm>
          <a:off x="6515244" y="4401586"/>
          <a:ext cx="1439850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49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50A8B6D2-2BD4-DECB-B78C-73C60B62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DC14EE86-D81D-066E-BA99-EE6C3BC76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3B32D97-A4CD-55B8-DE3F-567B5D0F54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EE1DAC1A-1717-E2F0-CADF-437C566A31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C0FDB3EE-4094-CD5D-F457-71EA9018ED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7CA79AE-EE40-D380-EE23-16C245BADCA8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5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Simplificar la tabla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460;p9">
            <a:extLst>
              <a:ext uri="{FF2B5EF4-FFF2-40B4-BE49-F238E27FC236}">
                <a16:creationId xmlns:a16="http://schemas.microsoft.com/office/drawing/2014/main" id="{71D821FA-EE50-C570-97B2-47774CCE2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7576040"/>
              </p:ext>
            </p:extLst>
          </p:nvPr>
        </p:nvGraphicFramePr>
        <p:xfrm>
          <a:off x="2950304" y="3341779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oogle Shape;465;p9">
            <a:extLst>
              <a:ext uri="{FF2B5EF4-FFF2-40B4-BE49-F238E27FC236}">
                <a16:creationId xmlns:a16="http://schemas.microsoft.com/office/drawing/2014/main" id="{4D8F458D-BDD5-FC22-0332-B872B76BB1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598265"/>
              </p:ext>
            </p:extLst>
          </p:nvPr>
        </p:nvGraphicFramePr>
        <p:xfrm>
          <a:off x="2950304" y="4401586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oogle Shape;466;p9">
            <a:extLst>
              <a:ext uri="{FF2B5EF4-FFF2-40B4-BE49-F238E27FC236}">
                <a16:creationId xmlns:a16="http://schemas.microsoft.com/office/drawing/2014/main" id="{D4B4B4A7-DF43-1CF9-D657-EE7E8C0DA2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0937172"/>
              </p:ext>
            </p:extLst>
          </p:nvPr>
        </p:nvGraphicFramePr>
        <p:xfrm>
          <a:off x="6515244" y="3341779"/>
          <a:ext cx="143985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oogle Shape;468;p9">
            <a:extLst>
              <a:ext uri="{FF2B5EF4-FFF2-40B4-BE49-F238E27FC236}">
                <a16:creationId xmlns:a16="http://schemas.microsoft.com/office/drawing/2014/main" id="{C9F7A0CA-1BF4-0F63-9B03-70B247943A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953401"/>
              </p:ext>
            </p:extLst>
          </p:nvPr>
        </p:nvGraphicFramePr>
        <p:xfrm>
          <a:off x="6515244" y="4401586"/>
          <a:ext cx="1439850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Elipse 7">
            <a:extLst>
              <a:ext uri="{FF2B5EF4-FFF2-40B4-BE49-F238E27FC236}">
                <a16:creationId xmlns:a16="http://schemas.microsoft.com/office/drawing/2014/main" id="{EC329029-321C-512F-4301-3947D46F4BDA}"/>
              </a:ext>
            </a:extLst>
          </p:cNvPr>
          <p:cNvSpPr/>
          <p:nvPr/>
        </p:nvSpPr>
        <p:spPr>
          <a:xfrm>
            <a:off x="7098225" y="3115159"/>
            <a:ext cx="1038386" cy="285168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7F939EA-436C-1048-83DD-76774C267538}"/>
              </a:ext>
            </a:extLst>
          </p:cNvPr>
          <p:cNvGrpSpPr/>
          <p:nvPr/>
        </p:nvGrpSpPr>
        <p:grpSpPr>
          <a:xfrm>
            <a:off x="3624183" y="2357934"/>
            <a:ext cx="8555219" cy="790214"/>
            <a:chOff x="2001656" y="3263374"/>
            <a:chExt cx="8555219" cy="1685429"/>
          </a:xfrm>
        </p:grpSpPr>
        <p:sp>
          <p:nvSpPr>
            <p:cNvPr id="12" name="Google Shape;453;p8">
              <a:extLst>
                <a:ext uri="{FF2B5EF4-FFF2-40B4-BE49-F238E27FC236}">
                  <a16:creationId xmlns:a16="http://schemas.microsoft.com/office/drawing/2014/main" id="{DFF3E526-805A-3748-7272-036FD24B942A}"/>
                </a:ext>
              </a:extLst>
            </p:cNvPr>
            <p:cNvSpPr/>
            <p:nvPr/>
          </p:nvSpPr>
          <p:spPr>
            <a:xfrm>
              <a:off x="2001656" y="3263374"/>
              <a:ext cx="8555219" cy="1685429"/>
            </a:xfrm>
            <a:prstGeom prst="roundRect">
              <a:avLst/>
            </a:prstGeom>
            <a:solidFill>
              <a:schemeClr val="bg1"/>
            </a:solidFill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F8514E3-8B0D-5601-9F14-1346EC49B581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7229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comprador no es cliente se imprime un mensaje de aviso y no se remite.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89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F4804BB-8014-4840-6B55-6169C2FA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B858DAB8-962A-989B-8350-6563581B1E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302182F-A2E9-03BE-5BF3-E88431D1806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2E6A78B7-8B1E-5A69-03C9-452822A09DD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095266E-C806-C9A8-1629-7D15E64EF3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364198DF-B19F-C251-017B-9C140F6E1C90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complejidad</a:t>
            </a:r>
          </a:p>
          <a:p>
            <a:pPr marL="712788" marR="0" lvl="0" indent="-263525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deben combinar las reglas en donde sea evidente que una alternativa no representa una diferencia en el resultado. </a:t>
            </a:r>
          </a:p>
          <a:p>
            <a:pPr marL="712788" marR="0" lvl="0" indent="-263525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guion [-] significa que la condición 2 puede ser V o F, y que aun así se realizará la acción.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460;p9">
            <a:extLst>
              <a:ext uri="{FF2B5EF4-FFF2-40B4-BE49-F238E27FC236}">
                <a16:creationId xmlns:a16="http://schemas.microsoft.com/office/drawing/2014/main" id="{B3885286-393A-6D97-3D30-5A94D41171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097116"/>
              </p:ext>
            </p:extLst>
          </p:nvPr>
        </p:nvGraphicFramePr>
        <p:xfrm>
          <a:off x="2030277" y="4302674"/>
          <a:ext cx="2131639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213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Condición 1: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4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Condición 2: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oogle Shape;466;p9">
            <a:extLst>
              <a:ext uri="{FF2B5EF4-FFF2-40B4-BE49-F238E27FC236}">
                <a16:creationId xmlns:a16="http://schemas.microsoft.com/office/drawing/2014/main" id="{AE323405-C322-427B-8367-115D49AE6F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5746250"/>
              </p:ext>
            </p:extLst>
          </p:nvPr>
        </p:nvGraphicFramePr>
        <p:xfrm>
          <a:off x="4189582" y="4302674"/>
          <a:ext cx="143985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oogle Shape;460;p9">
            <a:extLst>
              <a:ext uri="{FF2B5EF4-FFF2-40B4-BE49-F238E27FC236}">
                <a16:creationId xmlns:a16="http://schemas.microsoft.com/office/drawing/2014/main" id="{E5D8E7C5-10A7-3688-D4F8-D6B2924F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9220786"/>
              </p:ext>
            </p:extLst>
          </p:nvPr>
        </p:nvGraphicFramePr>
        <p:xfrm>
          <a:off x="2030276" y="5260176"/>
          <a:ext cx="2131639" cy="45721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213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Acción 1: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oogle Shape;466;p9">
            <a:extLst>
              <a:ext uri="{FF2B5EF4-FFF2-40B4-BE49-F238E27FC236}">
                <a16:creationId xmlns:a16="http://schemas.microsoft.com/office/drawing/2014/main" id="{08F8B410-DE1B-6856-7A24-48BA2E5F47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1069337"/>
              </p:ext>
            </p:extLst>
          </p:nvPr>
        </p:nvGraphicFramePr>
        <p:xfrm>
          <a:off x="4189582" y="5260176"/>
          <a:ext cx="1439850" cy="45721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oogle Shape;460;p9">
            <a:extLst>
              <a:ext uri="{FF2B5EF4-FFF2-40B4-BE49-F238E27FC236}">
                <a16:creationId xmlns:a16="http://schemas.microsoft.com/office/drawing/2014/main" id="{7B9D3F3D-24F8-1809-7346-75CBBC6523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3240008"/>
              </p:ext>
            </p:extLst>
          </p:nvPr>
        </p:nvGraphicFramePr>
        <p:xfrm>
          <a:off x="6964267" y="4302674"/>
          <a:ext cx="2131639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213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Condición 1: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4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Condición 2: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Google Shape;466;p9">
            <a:extLst>
              <a:ext uri="{FF2B5EF4-FFF2-40B4-BE49-F238E27FC236}">
                <a16:creationId xmlns:a16="http://schemas.microsoft.com/office/drawing/2014/main" id="{405C55AC-B4DB-7A94-1BB3-82DE67FCA8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8698254"/>
              </p:ext>
            </p:extLst>
          </p:nvPr>
        </p:nvGraphicFramePr>
        <p:xfrm>
          <a:off x="9123572" y="4302674"/>
          <a:ext cx="107790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-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Google Shape;460;p9">
            <a:extLst>
              <a:ext uri="{FF2B5EF4-FFF2-40B4-BE49-F238E27FC236}">
                <a16:creationId xmlns:a16="http://schemas.microsoft.com/office/drawing/2014/main" id="{04398F48-9FCE-6640-A113-EA0856F79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123634"/>
              </p:ext>
            </p:extLst>
          </p:nvPr>
        </p:nvGraphicFramePr>
        <p:xfrm>
          <a:off x="6964266" y="5260176"/>
          <a:ext cx="2131639" cy="45721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213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Acción 1: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Google Shape;466;p9">
            <a:extLst>
              <a:ext uri="{FF2B5EF4-FFF2-40B4-BE49-F238E27FC236}">
                <a16:creationId xmlns:a16="http://schemas.microsoft.com/office/drawing/2014/main" id="{50D850A3-5D3A-EA0C-E040-919A04C320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0415534"/>
              </p:ext>
            </p:extLst>
          </p:nvPr>
        </p:nvGraphicFramePr>
        <p:xfrm>
          <a:off x="9123572" y="5260176"/>
          <a:ext cx="1077900" cy="45721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DE3E481-5F77-CC1B-9BB1-027EB05D1C0B}"/>
              </a:ext>
            </a:extLst>
          </p:cNvPr>
          <p:cNvCxnSpPr/>
          <p:nvPr/>
        </p:nvCxnSpPr>
        <p:spPr>
          <a:xfrm>
            <a:off x="5780868" y="4974956"/>
            <a:ext cx="10073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80C375C5-BD9F-36D3-3D25-283EBF1A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BCE92D37-3DEC-8F9F-E39A-C22DA5A16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BC95646-613A-C1F7-69FE-46C4776B5F2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139A8CE0-E395-0DCD-7BA1-99A582B67B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F7A8CA55-3527-A68D-4794-1E3DCAC43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9DAC2C19-EF16-17D3-31B1-B063962D541D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5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Simplificar la tabla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460;p9">
            <a:extLst>
              <a:ext uri="{FF2B5EF4-FFF2-40B4-BE49-F238E27FC236}">
                <a16:creationId xmlns:a16="http://schemas.microsoft.com/office/drawing/2014/main" id="{280782FA-4268-6B5C-C24C-FF131F3FC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544440"/>
              </p:ext>
            </p:extLst>
          </p:nvPr>
        </p:nvGraphicFramePr>
        <p:xfrm>
          <a:off x="2950304" y="3341779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oogle Shape;465;p9">
            <a:extLst>
              <a:ext uri="{FF2B5EF4-FFF2-40B4-BE49-F238E27FC236}">
                <a16:creationId xmlns:a16="http://schemas.microsoft.com/office/drawing/2014/main" id="{717ED226-56F4-7EEF-A0CB-E34ACCB5F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334894"/>
              </p:ext>
            </p:extLst>
          </p:nvPr>
        </p:nvGraphicFramePr>
        <p:xfrm>
          <a:off x="2950304" y="4401586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Google Shape;466;p9">
            <a:extLst>
              <a:ext uri="{FF2B5EF4-FFF2-40B4-BE49-F238E27FC236}">
                <a16:creationId xmlns:a16="http://schemas.microsoft.com/office/drawing/2014/main" id="{2C61B96C-6B3F-9AB7-A169-A7550D112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0168788"/>
              </p:ext>
            </p:extLst>
          </p:nvPr>
        </p:nvGraphicFramePr>
        <p:xfrm>
          <a:off x="6515244" y="3341779"/>
          <a:ext cx="10810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-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468;p9">
            <a:extLst>
              <a:ext uri="{FF2B5EF4-FFF2-40B4-BE49-F238E27FC236}">
                <a16:creationId xmlns:a16="http://schemas.microsoft.com/office/drawing/2014/main" id="{05F3F915-4B9A-9D02-E481-02C163B66D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9925063"/>
              </p:ext>
            </p:extLst>
          </p:nvPr>
        </p:nvGraphicFramePr>
        <p:xfrm>
          <a:off x="6515244" y="4401586"/>
          <a:ext cx="1081075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29E126C5-3E1E-DB69-ECAF-D0E9A2EDEAE4}"/>
              </a:ext>
            </a:extLst>
          </p:cNvPr>
          <p:cNvGrpSpPr/>
          <p:nvPr/>
        </p:nvGrpSpPr>
        <p:grpSpPr>
          <a:xfrm>
            <a:off x="3624183" y="2357934"/>
            <a:ext cx="8555219" cy="790214"/>
            <a:chOff x="2001656" y="3263374"/>
            <a:chExt cx="8555219" cy="1685429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A5E89041-3767-9BD4-59F7-1992A17547CF}"/>
                </a:ext>
              </a:extLst>
            </p:cNvPr>
            <p:cNvSpPr/>
            <p:nvPr/>
          </p:nvSpPr>
          <p:spPr>
            <a:xfrm>
              <a:off x="2001656" y="3263374"/>
              <a:ext cx="8555219" cy="1685429"/>
            </a:xfrm>
            <a:prstGeom prst="roundRect">
              <a:avLst/>
            </a:prstGeom>
            <a:solidFill>
              <a:schemeClr val="bg1"/>
            </a:solidFill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B12FB1D6-E1EF-8592-2648-A5A654675DD4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7229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comprador no es cliente se imprime un mensaje de aviso y no se remite.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99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3F752C6A-0BA6-3AD9-E04D-263F0B16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188850DA-6B80-6C4F-37ED-58EFEF52B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014AD8C-07F9-EA42-EB47-D5DF9E8BF38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0127E6CB-8A1E-95D3-144F-8230623025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18C7F814-5F4D-E7C8-291A-9C9EBF47FE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DCD922EC-C8AC-EC9B-3628-BE6EA1091F4B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complejidad</a:t>
            </a:r>
          </a:p>
          <a:p>
            <a:pPr marL="712788" marR="0" lvl="0" indent="-263525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reducciones se realizan </a:t>
            </a:r>
            <a:r>
              <a:rPr lang="es-E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a pares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712788" marR="0" lvl="0" indent="-263525" algn="just" rtl="0">
              <a:spcBef>
                <a:spcPts val="60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Veamos un ejemplo con 3 condiciones: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1C6A7C8-9F1A-BFFB-CF53-1B931B34EC6C}"/>
              </a:ext>
            </a:extLst>
          </p:cNvPr>
          <p:cNvCxnSpPr/>
          <p:nvPr/>
        </p:nvCxnSpPr>
        <p:spPr>
          <a:xfrm>
            <a:off x="5678353" y="4759884"/>
            <a:ext cx="10073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Google Shape;500;p12">
            <a:extLst>
              <a:ext uri="{FF2B5EF4-FFF2-40B4-BE49-F238E27FC236}">
                <a16:creationId xmlns:a16="http://schemas.microsoft.com/office/drawing/2014/main" id="{D93DACF9-B0FD-6B8A-F0A0-9CA1139FB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0933074"/>
              </p:ext>
            </p:extLst>
          </p:nvPr>
        </p:nvGraphicFramePr>
        <p:xfrm>
          <a:off x="674429" y="3571134"/>
          <a:ext cx="4788000" cy="237750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9933487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36213417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7754469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7186206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751729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60224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2: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3: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1: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67685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2: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698896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3: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01074"/>
                  </a:ext>
                </a:extLst>
              </a:tr>
            </a:tbl>
          </a:graphicData>
        </a:graphic>
      </p:graphicFrame>
      <p:sp>
        <p:nvSpPr>
          <p:cNvPr id="6" name="Elipse 5">
            <a:extLst>
              <a:ext uri="{FF2B5EF4-FFF2-40B4-BE49-F238E27FC236}">
                <a16:creationId xmlns:a16="http://schemas.microsoft.com/office/drawing/2014/main" id="{A4800C59-41C6-1113-EB3D-6D5F09377D59}"/>
              </a:ext>
            </a:extLst>
          </p:cNvPr>
          <p:cNvSpPr/>
          <p:nvPr/>
        </p:nvSpPr>
        <p:spPr>
          <a:xfrm>
            <a:off x="2247254" y="3429000"/>
            <a:ext cx="836909" cy="25196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32C8E97-4127-BC9D-C267-AF31BDE78C7C}"/>
              </a:ext>
            </a:extLst>
          </p:cNvPr>
          <p:cNvSpPr/>
          <p:nvPr/>
        </p:nvSpPr>
        <p:spPr>
          <a:xfrm>
            <a:off x="3084163" y="3429000"/>
            <a:ext cx="836909" cy="25196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CE10DE0-5E78-961A-5416-B6992D88DC1E}"/>
              </a:ext>
            </a:extLst>
          </p:cNvPr>
          <p:cNvSpPr/>
          <p:nvPr/>
        </p:nvSpPr>
        <p:spPr>
          <a:xfrm>
            <a:off x="4625520" y="3429000"/>
            <a:ext cx="836909" cy="25196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8" name="Google Shape;500;p12">
            <a:extLst>
              <a:ext uri="{FF2B5EF4-FFF2-40B4-BE49-F238E27FC236}">
                <a16:creationId xmlns:a16="http://schemas.microsoft.com/office/drawing/2014/main" id="{A6D0B075-8D79-5A83-2279-692853908C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5079849"/>
              </p:ext>
            </p:extLst>
          </p:nvPr>
        </p:nvGraphicFramePr>
        <p:xfrm>
          <a:off x="6901667" y="3571134"/>
          <a:ext cx="3600000" cy="237750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9933487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7754469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751729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60224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2: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3: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-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1: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67685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2: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698896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3: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01074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1E2453C0-DBFF-0B14-30A4-821C83BE77D4}"/>
              </a:ext>
            </a:extLst>
          </p:cNvPr>
          <p:cNvSpPr txBox="1"/>
          <p:nvPr/>
        </p:nvSpPr>
        <p:spPr>
          <a:xfrm>
            <a:off x="8270930" y="3114615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Paso 1</a:t>
            </a:r>
          </a:p>
        </p:txBody>
      </p:sp>
    </p:spTree>
    <p:extLst>
      <p:ext uri="{BB962C8B-B14F-4D97-AF65-F5344CB8AC3E}">
        <p14:creationId xmlns:p14="http://schemas.microsoft.com/office/powerpoint/2010/main" val="152132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0" grpId="0" animBg="1"/>
      <p:bldP spid="10" grpId="1" animBg="1"/>
      <p:bldP spid="14" grpId="0" animBg="1"/>
      <p:bldP spid="14" grpId="1" animBg="1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644D9273-D8F3-A67D-64C5-F594AF3F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00;p12">
            <a:extLst>
              <a:ext uri="{FF2B5EF4-FFF2-40B4-BE49-F238E27FC236}">
                <a16:creationId xmlns:a16="http://schemas.microsoft.com/office/drawing/2014/main" id="{C97CC224-BAAB-AAD7-43A9-C2873BB7E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2136370"/>
              </p:ext>
            </p:extLst>
          </p:nvPr>
        </p:nvGraphicFramePr>
        <p:xfrm>
          <a:off x="1817019" y="3571134"/>
          <a:ext cx="3600000" cy="237750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9933487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7754469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751729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60224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2: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3: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-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1: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67685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2: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698896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3: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01074"/>
                  </a:ext>
                </a:extLst>
              </a:tr>
            </a:tbl>
          </a:graphicData>
        </a:graphic>
      </p:graphicFrame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6D42C840-9F34-BC61-4D86-495BB311A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CE48C36-5A8B-9368-6E7A-52AD85C6764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CE939A0C-1437-225A-0AC5-F660C527DDE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BC107506-3A85-6C9A-3010-F88A056C9D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99122CDD-9A3B-10E5-E9BD-D17A08E2C7E1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complejidad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F1C0213-99A1-7010-2978-EC41A7380987}"/>
              </a:ext>
            </a:extLst>
          </p:cNvPr>
          <p:cNvCxnSpPr/>
          <p:nvPr/>
        </p:nvCxnSpPr>
        <p:spPr>
          <a:xfrm>
            <a:off x="5678353" y="4759884"/>
            <a:ext cx="10073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A1B1D929-F53C-0CEA-41DD-E35540392C71}"/>
              </a:ext>
            </a:extLst>
          </p:cNvPr>
          <p:cNvSpPr/>
          <p:nvPr/>
        </p:nvSpPr>
        <p:spPr>
          <a:xfrm>
            <a:off x="3793655" y="3429000"/>
            <a:ext cx="480448" cy="25196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9844EE3-4D48-C690-1CC5-DA36363E8E4A}"/>
              </a:ext>
            </a:extLst>
          </p:cNvPr>
          <p:cNvSpPr/>
          <p:nvPr/>
        </p:nvSpPr>
        <p:spPr>
          <a:xfrm>
            <a:off x="4967507" y="3429000"/>
            <a:ext cx="494922" cy="25196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8" name="Google Shape;500;p12">
            <a:extLst>
              <a:ext uri="{FF2B5EF4-FFF2-40B4-BE49-F238E27FC236}">
                <a16:creationId xmlns:a16="http://schemas.microsoft.com/office/drawing/2014/main" id="{95087966-2292-D0A5-CBCD-8B078E1C5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448613"/>
              </p:ext>
            </p:extLst>
          </p:nvPr>
        </p:nvGraphicFramePr>
        <p:xfrm>
          <a:off x="6901667" y="3571134"/>
          <a:ext cx="3204000" cy="237750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9933487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7754469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751729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2: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F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Condición 3:</a:t>
                      </a: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-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sym typeface="Libre Baskerville"/>
                        </a:rPr>
                        <a:t>V</a:t>
                      </a:r>
                      <a:endParaRPr sz="1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F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1: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67685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2: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698896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9E39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kumimoji="0" lang="es-E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Acción 3:</a:t>
                      </a:r>
                      <a:endParaRPr kumimoji="0" lang="es-E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  <a:tabLst/>
                        <a:defRPr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Libre Baskerville"/>
                        </a:rPr>
                        <a:t>X</a:t>
                      </a:r>
                      <a:endParaRPr lang="es-ES" sz="18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01074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E2848103-4B6C-0CFD-86DA-63BD7BFF9C99}"/>
              </a:ext>
            </a:extLst>
          </p:cNvPr>
          <p:cNvSpPr txBox="1"/>
          <p:nvPr/>
        </p:nvSpPr>
        <p:spPr>
          <a:xfrm>
            <a:off x="8071497" y="3086811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Paso 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2454BB-3C54-210E-37EF-55BFE5F3C232}"/>
              </a:ext>
            </a:extLst>
          </p:cNvPr>
          <p:cNvSpPr/>
          <p:nvPr/>
        </p:nvSpPr>
        <p:spPr>
          <a:xfrm>
            <a:off x="10133659" y="5777362"/>
            <a:ext cx="2058341" cy="4401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TABLA FINAL</a:t>
            </a:r>
          </a:p>
        </p:txBody>
      </p:sp>
    </p:spTree>
    <p:extLst>
      <p:ext uri="{BB962C8B-B14F-4D97-AF65-F5344CB8AC3E}">
        <p14:creationId xmlns:p14="http://schemas.microsoft.com/office/powerpoint/2010/main" val="226332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4" grpId="0" animBg="1"/>
      <p:bldP spid="14" grpId="1" animBg="1"/>
      <p:bldP spid="20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3A62D5F9-CA39-1ED0-8A85-DDF1E921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CFFD6B5E-249D-C529-B167-006FE3F7B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F6BB37F-916D-D641-E4B5-47E3AE39768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650CA4E7-CF7E-4046-903F-06ED304BAE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07A973B8-D8EF-FDD3-5E11-170B8409DE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DC77C562-A940-907D-9C75-721116A9D941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hay situaciones imposibles, estas deben ser eliminadas de la tabla: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7222213-C5CF-D65C-9C7D-715DE419CE3B}"/>
              </a:ext>
            </a:extLst>
          </p:cNvPr>
          <p:cNvGrpSpPr/>
          <p:nvPr/>
        </p:nvGrpSpPr>
        <p:grpSpPr>
          <a:xfrm>
            <a:off x="1904438" y="3429000"/>
            <a:ext cx="8555219" cy="2284654"/>
            <a:chOff x="2001656" y="3263374"/>
            <a:chExt cx="8555219" cy="2284654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9C848C83-3B88-5207-37A9-4049E95BB25D}"/>
                </a:ext>
              </a:extLst>
            </p:cNvPr>
            <p:cNvSpPr/>
            <p:nvPr/>
          </p:nvSpPr>
          <p:spPr>
            <a:xfrm>
              <a:off x="2001656" y="3263374"/>
              <a:ext cx="8555219" cy="2284654"/>
            </a:xfrm>
            <a:prstGeom prst="roundRect">
              <a:avLst/>
            </a:prstGeom>
            <a:noFill/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532B94CE-0584-128C-564C-7DC3FF0A0E74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21710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85738" lvl="2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</a:pPr>
              <a:r>
                <a:rPr lang="es-ES" sz="2400" dirty="0">
                  <a:latin typeface="+mn-lt"/>
                </a:rPr>
                <a:t>Se desea modelar el registro de usuarios de un sistema: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Las personas que se registran y son menores de 18 años tienen un descuento del 10% en su primera compra.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Los jubilados (personas mayores de 65 años) tienen descuento del 10% para todas las compras.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A todas las personas que se registran se les da un </a:t>
              </a:r>
              <a:r>
                <a:rPr lang="es-ES" sz="2400" dirty="0" err="1">
                  <a:latin typeface="+mn-lt"/>
                </a:rPr>
                <a:t>Nº</a:t>
              </a:r>
              <a:r>
                <a:rPr lang="es-ES" sz="2400" dirty="0">
                  <a:latin typeface="+mn-lt"/>
                </a:rPr>
                <a:t> de cliente.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455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695994D2-4436-0177-C66D-BAE7D33C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26DFCB70-52D3-922C-0627-6687EECD5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590B662-269D-EFD6-5215-FE6100A82D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91C2A14B-C6D9-AF80-8828-112B9572400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904E773A-6D7A-683E-7D28-5F89F59D37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08DF8ADB-63D7-6B56-F550-1FB0C6EE8618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las condiciones y las acciones</a:t>
            </a: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 la tabla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460;p9">
            <a:extLst>
              <a:ext uri="{FF2B5EF4-FFF2-40B4-BE49-F238E27FC236}">
                <a16:creationId xmlns:a16="http://schemas.microsoft.com/office/drawing/2014/main" id="{C6B0B3BD-569A-6DF4-7642-D27647A96A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832466"/>
              </p:ext>
            </p:extLst>
          </p:nvPr>
        </p:nvGraphicFramePr>
        <p:xfrm>
          <a:off x="3027795" y="3425460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menor a 18 años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mayor a 65 años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Google Shape;461;p9">
            <a:extLst>
              <a:ext uri="{FF2B5EF4-FFF2-40B4-BE49-F238E27FC236}">
                <a16:creationId xmlns:a16="http://schemas.microsoft.com/office/drawing/2014/main" id="{005F145B-9802-7552-DCDE-A9FA42E6FC45}"/>
              </a:ext>
            </a:extLst>
          </p:cNvPr>
          <p:cNvSpPr/>
          <p:nvPr/>
        </p:nvSpPr>
        <p:spPr>
          <a:xfrm>
            <a:off x="2572960" y="3410116"/>
            <a:ext cx="483055" cy="945108"/>
          </a:xfrm>
          <a:prstGeom prst="leftBrac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tx1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462;p9">
            <a:extLst>
              <a:ext uri="{FF2B5EF4-FFF2-40B4-BE49-F238E27FC236}">
                <a16:creationId xmlns:a16="http://schemas.microsoft.com/office/drawing/2014/main" id="{56A7EE44-9EC3-3B6E-06DB-D7E4E62F78A8}"/>
              </a:ext>
            </a:extLst>
          </p:cNvPr>
          <p:cNvSpPr/>
          <p:nvPr/>
        </p:nvSpPr>
        <p:spPr>
          <a:xfrm>
            <a:off x="2544740" y="4550035"/>
            <a:ext cx="483056" cy="1297248"/>
          </a:xfrm>
          <a:prstGeom prst="leftBrac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C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463;p9">
            <a:extLst>
              <a:ext uri="{FF2B5EF4-FFF2-40B4-BE49-F238E27FC236}">
                <a16:creationId xmlns:a16="http://schemas.microsoft.com/office/drawing/2014/main" id="{FC80FFE2-9F85-4B79-171E-1199A0DB90FA}"/>
              </a:ext>
            </a:extLst>
          </p:cNvPr>
          <p:cNvSpPr txBox="1"/>
          <p:nvPr/>
        </p:nvSpPr>
        <p:spPr>
          <a:xfrm>
            <a:off x="830289" y="3651858"/>
            <a:ext cx="171877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i="0" u="none" strike="noStrike" cap="none" dirty="0">
                <a:solidFill>
                  <a:srgbClr val="C00000"/>
                </a:solidFill>
                <a:latin typeface="+mn-lt"/>
                <a:ea typeface="Calibri"/>
                <a:cs typeface="Calibri"/>
                <a:sym typeface="Calibri"/>
              </a:rPr>
              <a:t>Condiciones</a:t>
            </a:r>
            <a:endParaRPr sz="1200" i="0" u="none" strike="noStrike" cap="none" dirty="0">
              <a:solidFill>
                <a:srgbClr val="C00000"/>
              </a:solidFill>
              <a:latin typeface="+mn-lt"/>
              <a:sym typeface="Arial"/>
            </a:endParaRPr>
          </a:p>
        </p:txBody>
      </p:sp>
      <p:sp>
        <p:nvSpPr>
          <p:cNvPr id="9" name="Google Shape;464;p9">
            <a:extLst>
              <a:ext uri="{FF2B5EF4-FFF2-40B4-BE49-F238E27FC236}">
                <a16:creationId xmlns:a16="http://schemas.microsoft.com/office/drawing/2014/main" id="{756BA620-AF2A-D0D4-D579-4B6D68432030}"/>
              </a:ext>
            </a:extLst>
          </p:cNvPr>
          <p:cNvSpPr txBox="1"/>
          <p:nvPr/>
        </p:nvSpPr>
        <p:spPr>
          <a:xfrm>
            <a:off x="1213873" y="4959366"/>
            <a:ext cx="128356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i="0" u="none" strike="noStrike" cap="none" dirty="0">
                <a:solidFill>
                  <a:srgbClr val="C00000"/>
                </a:solidFill>
                <a:latin typeface="+mn-lt"/>
                <a:ea typeface="Calibri"/>
                <a:cs typeface="Calibri"/>
                <a:sym typeface="Calibri"/>
              </a:rPr>
              <a:t>Acciones</a:t>
            </a:r>
            <a:endParaRPr sz="1200" i="0" u="none" strike="noStrike" cap="none" dirty="0">
              <a:solidFill>
                <a:srgbClr val="C00000"/>
              </a:solidFill>
              <a:latin typeface="+mn-lt"/>
              <a:sym typeface="Arial"/>
            </a:endParaRPr>
          </a:p>
        </p:txBody>
      </p:sp>
      <p:graphicFrame>
        <p:nvGraphicFramePr>
          <p:cNvPr id="10" name="Google Shape;465;p9">
            <a:extLst>
              <a:ext uri="{FF2B5EF4-FFF2-40B4-BE49-F238E27FC236}">
                <a16:creationId xmlns:a16="http://schemas.microsoft.com/office/drawing/2014/main" id="{29B6F1B4-4678-072D-ADC0-88BD483175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901147"/>
              </p:ext>
            </p:extLst>
          </p:nvPr>
        </p:nvGraphicFramePr>
        <p:xfrm>
          <a:off x="3027795" y="4485267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 en 1º compra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 en todas las compras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Dar </a:t>
                      </a:r>
                      <a:r>
                        <a:rPr lang="es-ES" sz="2400" b="0" i="0" u="none" strike="noStrike" cap="none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Nº</a:t>
                      </a: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48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1EF71C82-8C8C-9414-FA9C-5D5B1241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45FCB231-8980-927F-FBC3-E5B8F95A2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E42D9C7-3020-1B9E-2594-2BA1F5D0A7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67B86B3-2E91-CF18-1DE2-D22F1E618B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7259ED24-77D1-4F36-1774-1B5CC2250C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3D3943FA-55A9-1658-B3C9-E9FE22F51FDE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3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las reglas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Google Shape;466;p9">
            <a:extLst>
              <a:ext uri="{FF2B5EF4-FFF2-40B4-BE49-F238E27FC236}">
                <a16:creationId xmlns:a16="http://schemas.microsoft.com/office/drawing/2014/main" id="{EAC4A73A-4CC4-B947-2E99-F052A70C74C2}"/>
              </a:ext>
            </a:extLst>
          </p:cNvPr>
          <p:cNvGraphicFramePr/>
          <p:nvPr/>
        </p:nvGraphicFramePr>
        <p:xfrm>
          <a:off x="6515244" y="3341779"/>
          <a:ext cx="143985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Google Shape;467;p9">
            <a:extLst>
              <a:ext uri="{FF2B5EF4-FFF2-40B4-BE49-F238E27FC236}">
                <a16:creationId xmlns:a16="http://schemas.microsoft.com/office/drawing/2014/main" id="{649F6C21-431B-D33D-E003-91A253DE2B42}"/>
              </a:ext>
            </a:extLst>
          </p:cNvPr>
          <p:cNvSpPr txBox="1"/>
          <p:nvPr/>
        </p:nvSpPr>
        <p:spPr>
          <a:xfrm>
            <a:off x="6657742" y="2930195"/>
            <a:ext cx="11581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i="0" u="none" strike="noStrike" cap="none" dirty="0">
                <a:solidFill>
                  <a:srgbClr val="C00000"/>
                </a:solidFill>
                <a:latin typeface="+mn-lt"/>
                <a:ea typeface="Calibri"/>
                <a:cs typeface="Calibri"/>
                <a:sym typeface="Calibri"/>
              </a:rPr>
              <a:t>Reglas</a:t>
            </a:r>
            <a:endParaRPr sz="2400" i="0" u="none" strike="noStrike" cap="none" dirty="0">
              <a:solidFill>
                <a:srgbClr val="C00000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470;p9">
            <a:extLst>
              <a:ext uri="{FF2B5EF4-FFF2-40B4-BE49-F238E27FC236}">
                <a16:creationId xmlns:a16="http://schemas.microsoft.com/office/drawing/2014/main" id="{35684718-64BC-61E9-24D6-E56982164BEA}"/>
              </a:ext>
            </a:extLst>
          </p:cNvPr>
          <p:cNvSpPr/>
          <p:nvPr/>
        </p:nvSpPr>
        <p:spPr>
          <a:xfrm>
            <a:off x="8097592" y="2708752"/>
            <a:ext cx="1796204" cy="820576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i="0" u="none" strike="noStrike" cap="none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2</a:t>
            </a:r>
            <a:r>
              <a:rPr lang="es-ES" sz="3200" i="0" u="none" strike="noStrike" cap="none" baseline="3000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n</a:t>
            </a:r>
            <a:r>
              <a:rPr lang="es-ES" sz="2800" i="0" u="none" strike="noStrike" cap="none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 Reglas</a:t>
            </a:r>
            <a:endParaRPr sz="2800" i="0" u="none" strike="noStrike" cap="none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Google Shape;460;p9">
            <a:extLst>
              <a:ext uri="{FF2B5EF4-FFF2-40B4-BE49-F238E27FC236}">
                <a16:creationId xmlns:a16="http://schemas.microsoft.com/office/drawing/2014/main" id="{D6E11AEA-7EAF-2A89-A406-A7932D32A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091874"/>
              </p:ext>
            </p:extLst>
          </p:nvPr>
        </p:nvGraphicFramePr>
        <p:xfrm>
          <a:off x="2906719" y="3341779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menor a 18 años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mayor a 65 años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465;p9">
            <a:extLst>
              <a:ext uri="{FF2B5EF4-FFF2-40B4-BE49-F238E27FC236}">
                <a16:creationId xmlns:a16="http://schemas.microsoft.com/office/drawing/2014/main" id="{B1C85417-CF2D-55B5-8046-4EF3C511AE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002940"/>
              </p:ext>
            </p:extLst>
          </p:nvPr>
        </p:nvGraphicFramePr>
        <p:xfrm>
          <a:off x="2906719" y="4401586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 en 1º compra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 en todas las compras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Dar </a:t>
                      </a:r>
                      <a:r>
                        <a:rPr lang="es-ES" sz="2400" b="0" i="0" u="none" strike="noStrike" cap="none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Nº</a:t>
                      </a: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Google Shape;468;p9">
            <a:extLst>
              <a:ext uri="{FF2B5EF4-FFF2-40B4-BE49-F238E27FC236}">
                <a16:creationId xmlns:a16="http://schemas.microsoft.com/office/drawing/2014/main" id="{EC0B994A-83D1-8F86-3634-578F136CE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250686"/>
              </p:ext>
            </p:extLst>
          </p:nvPr>
        </p:nvGraphicFramePr>
        <p:xfrm>
          <a:off x="6515244" y="4401586"/>
          <a:ext cx="1439850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Elipse 7">
            <a:extLst>
              <a:ext uri="{FF2B5EF4-FFF2-40B4-BE49-F238E27FC236}">
                <a16:creationId xmlns:a16="http://schemas.microsoft.com/office/drawing/2014/main" id="{32AC3C26-C215-FEC8-573A-A34BDB3FE4BA}"/>
              </a:ext>
            </a:extLst>
          </p:cNvPr>
          <p:cNvSpPr/>
          <p:nvPr/>
        </p:nvSpPr>
        <p:spPr>
          <a:xfrm>
            <a:off x="6483160" y="3206969"/>
            <a:ext cx="450534" cy="111412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72892E8-D9CB-188A-AA7E-DB182B8219D4}"/>
              </a:ext>
            </a:extLst>
          </p:cNvPr>
          <p:cNvCxnSpPr/>
          <p:nvPr/>
        </p:nvCxnSpPr>
        <p:spPr>
          <a:xfrm>
            <a:off x="6933694" y="4017419"/>
            <a:ext cx="1845664" cy="43484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245B74A-42E0-2C2F-131F-7F619F136BBE}"/>
              </a:ext>
            </a:extLst>
          </p:cNvPr>
          <p:cNvSpPr txBox="1"/>
          <p:nvPr/>
        </p:nvSpPr>
        <p:spPr>
          <a:xfrm>
            <a:off x="8171856" y="4431514"/>
            <a:ext cx="2618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Situación imposible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E639C4-C99C-3099-D5AF-D3690A815F3C}"/>
              </a:ext>
            </a:extLst>
          </p:cNvPr>
          <p:cNvSpPr/>
          <p:nvPr/>
        </p:nvSpPr>
        <p:spPr>
          <a:xfrm>
            <a:off x="8423952" y="4893179"/>
            <a:ext cx="2229852" cy="46166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latin typeface="Calibri" panose="020F0502020204030204" pitchFamily="34" charset="0"/>
                <a:cs typeface="Calibri" panose="020F0502020204030204" pitchFamily="34" charset="0"/>
              </a:rPr>
              <a:t>Eliminamos la regla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4F2EF4B-6E85-051E-CCD2-BD1D81AF7209}"/>
              </a:ext>
            </a:extLst>
          </p:cNvPr>
          <p:cNvCxnSpPr/>
          <p:nvPr/>
        </p:nvCxnSpPr>
        <p:spPr>
          <a:xfrm>
            <a:off x="6688738" y="3341779"/>
            <a:ext cx="0" cy="23863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67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4" grpId="0"/>
      <p:bldP spid="14" grpId="1"/>
      <p:bldP spid="15" grpId="0" animBg="1"/>
      <p:bldP spid="1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9D8A043A-6484-02E4-F0DE-C854F8F3A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1C7C6FC6-EFB6-D402-C861-F0C874242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C2A75B3-762F-F8CE-3835-55778108A3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5C604052-9856-8DA8-2C2C-B808AD0BED9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62A6EE9-7F8F-89F6-558C-F7B58990E2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A936E785-63FA-0E16-20AD-4735B1777BD4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Asociar las acciones a las reglas</a:t>
            </a: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endParaRPr lang="es-ES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+mj-lt"/>
              <a:buAutoNum type="arabicPeriod" startAt="4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Simplificar la tabla </a:t>
            </a:r>
            <a:r>
              <a:rPr lang="es-E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(no es posible)</a:t>
            </a:r>
            <a:endParaRPr lang="es-ES" sz="2800" i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A67C396-5C02-453D-F9E3-813CD437E31B}"/>
              </a:ext>
            </a:extLst>
          </p:cNvPr>
          <p:cNvGrpSpPr/>
          <p:nvPr/>
        </p:nvGrpSpPr>
        <p:grpSpPr>
          <a:xfrm>
            <a:off x="3570288" y="1441542"/>
            <a:ext cx="8555219" cy="1693056"/>
            <a:chOff x="2001656" y="3263374"/>
            <a:chExt cx="8555219" cy="1693056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318C3FD4-AAD0-1E7C-5BBE-B2D1B6FE162F}"/>
                </a:ext>
              </a:extLst>
            </p:cNvPr>
            <p:cNvSpPr/>
            <p:nvPr/>
          </p:nvSpPr>
          <p:spPr>
            <a:xfrm>
              <a:off x="2001656" y="3263374"/>
              <a:ext cx="8555219" cy="1685429"/>
            </a:xfrm>
            <a:prstGeom prst="roundRect">
              <a:avLst/>
            </a:prstGeom>
            <a:solidFill>
              <a:schemeClr val="bg1"/>
            </a:solidFill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93EA27F0-588E-1C22-333F-25ECB433B51D}"/>
                </a:ext>
              </a:extLst>
            </p:cNvPr>
            <p:cNvSpPr txBox="1"/>
            <p:nvPr/>
          </p:nvSpPr>
          <p:spPr>
            <a:xfrm>
              <a:off x="2001656" y="3294437"/>
              <a:ext cx="8555219" cy="16619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200" dirty="0">
                  <a:latin typeface="+mn-lt"/>
                </a:rPr>
                <a:t>Las personas que se registran y son menores de 18 años tienen un descuento del 10% en su primera compra.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200" dirty="0">
                  <a:latin typeface="+mn-lt"/>
                </a:rPr>
                <a:t>Los jubilados (personas mayores de 65 años) tienen descuento del 10% para todas las compras.</a:t>
              </a:r>
            </a:p>
            <a:p>
              <a:pPr marL="411163" lvl="2" indent="-225425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200" dirty="0">
                  <a:latin typeface="+mn-lt"/>
                </a:rPr>
                <a:t>A todas las personas que se registran se les da un </a:t>
              </a:r>
              <a:r>
                <a:rPr lang="es-ES" sz="2200" dirty="0" err="1">
                  <a:latin typeface="+mn-lt"/>
                </a:rPr>
                <a:t>Nº</a:t>
              </a:r>
              <a:r>
                <a:rPr lang="es-ES" sz="2200" dirty="0">
                  <a:latin typeface="+mn-lt"/>
                </a:rPr>
                <a:t> de cliente.</a:t>
              </a:r>
            </a:p>
          </p:txBody>
        </p:sp>
      </p:grpSp>
      <p:graphicFrame>
        <p:nvGraphicFramePr>
          <p:cNvPr id="7" name="Google Shape;466;p9">
            <a:extLst>
              <a:ext uri="{FF2B5EF4-FFF2-40B4-BE49-F238E27FC236}">
                <a16:creationId xmlns:a16="http://schemas.microsoft.com/office/drawing/2014/main" id="{45D45E1E-1DA7-8654-2166-20F7AB2B4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3723159"/>
              </p:ext>
            </p:extLst>
          </p:nvPr>
        </p:nvGraphicFramePr>
        <p:xfrm>
          <a:off x="6515244" y="3341779"/>
          <a:ext cx="1079500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oogle Shape;460;p9">
            <a:extLst>
              <a:ext uri="{FF2B5EF4-FFF2-40B4-BE49-F238E27FC236}">
                <a16:creationId xmlns:a16="http://schemas.microsoft.com/office/drawing/2014/main" id="{D47C2531-D1A8-4FF6-D89C-46C6E1676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6229238"/>
              </p:ext>
            </p:extLst>
          </p:nvPr>
        </p:nvGraphicFramePr>
        <p:xfrm>
          <a:off x="2906719" y="3341779"/>
          <a:ext cx="3537275" cy="91442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menor a 18 años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mayor a 65 años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oogle Shape;465;p9">
            <a:extLst>
              <a:ext uri="{FF2B5EF4-FFF2-40B4-BE49-F238E27FC236}">
                <a16:creationId xmlns:a16="http://schemas.microsoft.com/office/drawing/2014/main" id="{2A955C95-4E00-5CF8-D8DD-F98BEF2CFE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4700721"/>
              </p:ext>
            </p:extLst>
          </p:nvPr>
        </p:nvGraphicFramePr>
        <p:xfrm>
          <a:off x="2906719" y="4401586"/>
          <a:ext cx="3537276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 en 1º compra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 en todas las compras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Dar </a:t>
                      </a:r>
                      <a:r>
                        <a:rPr lang="es-ES" sz="2400" b="0" i="0" u="none" strike="noStrike" cap="none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Nº</a:t>
                      </a:r>
                      <a:r>
                        <a:rPr lang="es-ES" sz="2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cliente</a:t>
                      </a:r>
                      <a:endParaRPr sz="14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Google Shape;468;p9">
            <a:extLst>
              <a:ext uri="{FF2B5EF4-FFF2-40B4-BE49-F238E27FC236}">
                <a16:creationId xmlns:a16="http://schemas.microsoft.com/office/drawing/2014/main" id="{BD05A47D-2D5B-D153-85F8-8203925956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212323"/>
              </p:ext>
            </p:extLst>
          </p:nvPr>
        </p:nvGraphicFramePr>
        <p:xfrm>
          <a:off x="6515244" y="4401586"/>
          <a:ext cx="1079500" cy="1363783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3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Google Shape;468;p9">
            <a:extLst>
              <a:ext uri="{FF2B5EF4-FFF2-40B4-BE49-F238E27FC236}">
                <a16:creationId xmlns:a16="http://schemas.microsoft.com/office/drawing/2014/main" id="{C9997622-25F9-C6F8-38CD-A334A3E136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076554"/>
              </p:ext>
            </p:extLst>
          </p:nvPr>
        </p:nvGraphicFramePr>
        <p:xfrm>
          <a:off x="6515244" y="4401586"/>
          <a:ext cx="1081075" cy="137163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2400" b="0" i="0" u="none" strike="noStrike" cap="none" dirty="0">
                        <a:solidFill>
                          <a:sysClr val="windowText" lastClr="000000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ysClr val="windowText" lastClr="000000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56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DEC8A906-A31C-482F-F7BA-21BC45E12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F5A9349C-AC35-3D88-51C9-A1F64254E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0A779A65-19F4-489C-3C7E-9D22A739115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84553EAA-0356-933A-8C35-229B686A52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9B91850D-1F86-52EB-31A0-09F1F3E972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1D4432FE-3B7C-5BF8-4B07-98A126FA7228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Especificaciones completas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Aquellas que determinan acciones (una o varias) para todas las reglas posibles.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Especificaciones redundantes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tabLst>
                <a:tab pos="449263" algn="l"/>
              </a:tabLst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Aquellas que marcan, para reglas que determinan las mismas condiciones, acciones iguales.  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Especificaciones contradictorias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Aquellas que especifican, para reglas que determinan las mismas condiciones, acciones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160950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8FD6ECCA-0B37-F97B-2F8F-A77C6D93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18BC00F2-DD3F-BC61-CF97-6965C8735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4CF2235-44ED-D311-D5D1-D22CE645699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C2DC67FF-2B2F-EFF3-859F-04084960A9E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99BD9277-938F-DDA4-FF2E-6B55CC4164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3FAC90B4-D89F-754B-1D8B-5C78CF48792A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Redundancia y contradicción</a:t>
            </a: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490;p11">
            <a:extLst>
              <a:ext uri="{FF2B5EF4-FFF2-40B4-BE49-F238E27FC236}">
                <a16:creationId xmlns:a16="http://schemas.microsoft.com/office/drawing/2014/main" id="{6FC8B56C-F032-BFBE-7E0C-2E9D532CF1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8325924"/>
              </p:ext>
            </p:extLst>
          </p:nvPr>
        </p:nvGraphicFramePr>
        <p:xfrm>
          <a:off x="1698288" y="2730514"/>
          <a:ext cx="3744000" cy="277200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 sz="1400" i="1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C1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C2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C3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A1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A2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A3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Google Shape;490;p11">
            <a:extLst>
              <a:ext uri="{FF2B5EF4-FFF2-40B4-BE49-F238E27FC236}">
                <a16:creationId xmlns:a16="http://schemas.microsoft.com/office/drawing/2014/main" id="{ACD19FD6-26C0-AFBF-9281-025FCC7729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1583089"/>
              </p:ext>
            </p:extLst>
          </p:nvPr>
        </p:nvGraphicFramePr>
        <p:xfrm>
          <a:off x="6749712" y="2730514"/>
          <a:ext cx="3744000" cy="277200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 sz="1400" i="1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C1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C2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C3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A1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A2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A3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tx1"/>
                        </a:solidFill>
                        <a:latin typeface="+mn-lt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4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08EDB8B-1AB8-4145-AEEF-262F11DD5346}"/>
              </a:ext>
            </a:extLst>
          </p:cNvPr>
          <p:cNvSpPr txBox="1"/>
          <p:nvPr/>
        </p:nvSpPr>
        <p:spPr>
          <a:xfrm>
            <a:off x="2867211" y="5502514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b="1" dirty="0">
                <a:latin typeface="+mn-lt"/>
              </a:rPr>
              <a:t>Redundancia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8B931E9-6E8F-B8C4-27FC-28E41E874FA6}"/>
              </a:ext>
            </a:extLst>
          </p:cNvPr>
          <p:cNvSpPr txBox="1"/>
          <p:nvPr/>
        </p:nvSpPr>
        <p:spPr>
          <a:xfrm>
            <a:off x="7869743" y="5502514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b="1" dirty="0">
                <a:latin typeface="+mn-lt"/>
              </a:rPr>
              <a:t>Contradicción</a:t>
            </a:r>
          </a:p>
        </p:txBody>
      </p:sp>
    </p:spTree>
    <p:extLst>
      <p:ext uri="{BB962C8B-B14F-4D97-AF65-F5344CB8AC3E}">
        <p14:creationId xmlns:p14="http://schemas.microsoft.com/office/powerpoint/2010/main" val="55847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53877247-13ED-3722-12AF-54EBE602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C46F8BEA-BA28-85B0-4A54-A2A798D15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6E860D70-26F3-B9AE-5053-7B6C6FA3205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77BF06DB-FCD1-192F-3B3A-31C1AF4759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DD42543D-499E-E8E4-C451-A42538A83B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246B31B-2D01-62B7-45A3-AC29A0013384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especificaciones deben ser completas</a:t>
            </a:r>
          </a:p>
          <a:p>
            <a:pPr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7B87AD2-D3CA-0AAA-5CD6-E45AF389E9E4}"/>
              </a:ext>
            </a:extLst>
          </p:cNvPr>
          <p:cNvGrpSpPr/>
          <p:nvPr/>
        </p:nvGrpSpPr>
        <p:grpSpPr>
          <a:xfrm>
            <a:off x="979487" y="2767524"/>
            <a:ext cx="10060929" cy="2743593"/>
            <a:chOff x="2001656" y="3263374"/>
            <a:chExt cx="8555219" cy="2284654"/>
          </a:xfrm>
        </p:grpSpPr>
        <p:sp>
          <p:nvSpPr>
            <p:cNvPr id="4" name="Google Shape;453;p8">
              <a:extLst>
                <a:ext uri="{FF2B5EF4-FFF2-40B4-BE49-F238E27FC236}">
                  <a16:creationId xmlns:a16="http://schemas.microsoft.com/office/drawing/2014/main" id="{4CF1CF40-5A5A-1B68-4210-6130C01B77B6}"/>
                </a:ext>
              </a:extLst>
            </p:cNvPr>
            <p:cNvSpPr/>
            <p:nvPr/>
          </p:nvSpPr>
          <p:spPr>
            <a:xfrm>
              <a:off x="2001656" y="3263374"/>
              <a:ext cx="8555219" cy="2284654"/>
            </a:xfrm>
            <a:prstGeom prst="roundRect">
              <a:avLst/>
            </a:prstGeom>
            <a:noFill/>
            <a:ln w="28575" cap="flat" cmpd="sng">
              <a:solidFill>
                <a:srgbClr val="8C0000">
                  <a:alpha val="98431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AF8FF21-CF26-7000-2C3F-003B8F4689C7}"/>
                </a:ext>
              </a:extLst>
            </p:cNvPr>
            <p:cNvSpPr txBox="1"/>
            <p:nvPr/>
          </p:nvSpPr>
          <p:spPr>
            <a:xfrm>
              <a:off x="2001656" y="3376984"/>
              <a:ext cx="8555219" cy="21226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85738" lvl="2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</a:pPr>
              <a:r>
                <a:rPr lang="es-ES" sz="2400" dirty="0">
                  <a:latin typeface="+mn-lt"/>
                </a:rPr>
                <a:t>Se quiere determinar el incremento en el salario de los empleados de acuerdo con estos criterios: </a:t>
              </a:r>
            </a:p>
            <a:p>
              <a:pPr marL="528638" lvl="2" indent="-342900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empleado es altamente productivo tendrá un plus de productividad. </a:t>
              </a:r>
            </a:p>
            <a:p>
              <a:pPr marL="528638" lvl="2" indent="-342900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empleado es encargado de su grupo tendrá un plus de encargado. </a:t>
              </a:r>
            </a:p>
            <a:p>
              <a:pPr marL="528638" lvl="2" indent="-342900" algn="l" rtl="0">
                <a:lnSpc>
                  <a:spcPct val="85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62626"/>
                </a:buClr>
                <a:buSzPts val="2800"/>
                <a:buFont typeface="Arial" panose="020B0604020202020204" pitchFamily="34" charset="0"/>
                <a:buChar char="•"/>
              </a:pPr>
              <a:r>
                <a:rPr lang="es-ES" sz="2400" dirty="0">
                  <a:latin typeface="+mn-lt"/>
                </a:rPr>
                <a:t>Si el empleado ha cometido una infracción grave durante ese mes le será eliminado cualquier plus que pudiera tener y se le descontará un 10% de  su salario.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442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B4E40A95-F377-B7AF-2C52-F4DAD21C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1E71EDD2-7F23-32FC-794B-F8FC75487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E7620CC8-07A6-FEDB-CC22-10D71471204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23CF700B-5306-1702-F203-5CB1A51B9A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2302AED-6A8F-C911-A79F-2ECE3DD4BA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62A5ADF9-A5B6-D793-877D-0342CB63EF23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especificaciones deben ser completas</a:t>
            </a:r>
          </a:p>
          <a:p>
            <a:pPr marL="712788" marR="0" lvl="0" indent="-263525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Condiciones y acciones: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521;p14">
            <a:extLst>
              <a:ext uri="{FF2B5EF4-FFF2-40B4-BE49-F238E27FC236}">
                <a16:creationId xmlns:a16="http://schemas.microsoft.com/office/drawing/2014/main" id="{12EBFB31-8AB9-06C2-329B-E2F194605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313289"/>
              </p:ext>
            </p:extLst>
          </p:nvPr>
        </p:nvGraphicFramePr>
        <p:xfrm>
          <a:off x="1422951" y="3646040"/>
          <a:ext cx="4526448" cy="120717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452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Empleado altamente productivo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Empleado encargado de su grupo 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Empleado cometió una infracción grave 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522;p14">
            <a:extLst>
              <a:ext uri="{FF2B5EF4-FFF2-40B4-BE49-F238E27FC236}">
                <a16:creationId xmlns:a16="http://schemas.microsoft.com/office/drawing/2014/main" id="{E631FEE2-6137-9EAF-7DAE-B286C2287BD1}"/>
              </a:ext>
            </a:extLst>
          </p:cNvPr>
          <p:cNvSpPr txBox="1"/>
          <p:nvPr/>
        </p:nvSpPr>
        <p:spPr>
          <a:xfrm>
            <a:off x="1422950" y="3065800"/>
            <a:ext cx="194018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i="0" u="none" strike="noStrike" cap="none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Condiciones:</a:t>
            </a:r>
            <a:endParaRPr sz="1400" i="0" u="none" strike="noStrike" cap="none" dirty="0">
              <a:solidFill>
                <a:schemeClr val="tx1"/>
              </a:solidFill>
              <a:latin typeface="+mn-lt"/>
              <a:sym typeface="Arial"/>
            </a:endParaRPr>
          </a:p>
        </p:txBody>
      </p:sp>
      <p:sp>
        <p:nvSpPr>
          <p:cNvPr id="5" name="Google Shape;523;p14">
            <a:extLst>
              <a:ext uri="{FF2B5EF4-FFF2-40B4-BE49-F238E27FC236}">
                <a16:creationId xmlns:a16="http://schemas.microsoft.com/office/drawing/2014/main" id="{C36FE154-1FBB-7164-E489-80894EADCCA2}"/>
              </a:ext>
            </a:extLst>
          </p:cNvPr>
          <p:cNvSpPr txBox="1"/>
          <p:nvPr/>
        </p:nvSpPr>
        <p:spPr>
          <a:xfrm>
            <a:off x="6724387" y="3065799"/>
            <a:ext cx="24075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i="0" u="none" strike="noStrike" cap="none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Acciones:</a:t>
            </a:r>
            <a:endParaRPr sz="1400" i="0" u="none" strike="noStrike" cap="none" dirty="0">
              <a:solidFill>
                <a:schemeClr val="tx1"/>
              </a:solidFill>
              <a:latin typeface="+mn-lt"/>
              <a:sym typeface="Arial"/>
            </a:endParaRPr>
          </a:p>
        </p:txBody>
      </p:sp>
      <p:graphicFrame>
        <p:nvGraphicFramePr>
          <p:cNvPr id="8" name="Google Shape;524;p14">
            <a:extLst>
              <a:ext uri="{FF2B5EF4-FFF2-40B4-BE49-F238E27FC236}">
                <a16:creationId xmlns:a16="http://schemas.microsoft.com/office/drawing/2014/main" id="{8A1C43B7-2641-EA7F-3779-1B35C046BA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057761"/>
              </p:ext>
            </p:extLst>
          </p:nvPr>
        </p:nvGraphicFramePr>
        <p:xfrm>
          <a:off x="6724387" y="3646040"/>
          <a:ext cx="3065700" cy="1463080"/>
        </p:xfrm>
        <a:graphic>
          <a:graphicData uri="http://schemas.openxmlformats.org/drawingml/2006/table">
            <a:tbl>
              <a:tblPr>
                <a:noFill/>
                <a:tableStyleId>{6093D751-695A-4B9B-ACB2-DCE672DDA7E2}</a:tableStyleId>
              </a:tblPr>
              <a:tblGrid>
                <a:gridCol w="306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Plus de productividad</a:t>
                      </a:r>
                      <a:endParaRPr sz="1800" b="0" i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Plus de encargado</a:t>
                      </a:r>
                      <a:endParaRPr sz="1800" b="0" i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Elimina cualquier plus</a:t>
                      </a:r>
                      <a:endParaRPr sz="1800" b="0" i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Descuento 10%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0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5EE723B1-34AE-4906-8FEB-93CB9BE6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FD5C30D9-C271-EFFD-1A78-772E3E32E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71D821B-D95E-D115-B0DC-70ED6FFEB6A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2EB6C4BB-5A47-28A5-060D-A5E26D5BF79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7212C68-65F7-4643-DE37-2174A9A702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8B4EE7B9-6ED0-A43B-07B2-8CE32F0E250E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especificaciones deben ser completas</a:t>
            </a:r>
          </a:p>
          <a:p>
            <a:pPr marL="712788" marR="0" lvl="0" indent="-263525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Tabla: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533;p15">
            <a:extLst>
              <a:ext uri="{FF2B5EF4-FFF2-40B4-BE49-F238E27FC236}">
                <a16:creationId xmlns:a16="http://schemas.microsoft.com/office/drawing/2014/main" id="{2D053989-D7A9-AA22-FE14-AEEF953DAB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1040256"/>
              </p:ext>
            </p:extLst>
          </p:nvPr>
        </p:nvGraphicFramePr>
        <p:xfrm>
          <a:off x="2496000" y="2807869"/>
          <a:ext cx="7200000" cy="3142850"/>
        </p:xfrm>
        <a:graphic>
          <a:graphicData uri="http://schemas.openxmlformats.org/drawingml/2006/table">
            <a:tbl>
              <a:tblPr firstRow="1" bandRow="1">
                <a:noFill/>
                <a:tableStyleId>{593E73BA-C17D-4A99-9D19-78DB4725B846}</a:tableStyleId>
              </a:tblPr>
              <a:tblGrid>
                <a:gridCol w="4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b="1" i="1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s-ES" sz="1800" b="0" i="1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Reglas</a:t>
                      </a:r>
                      <a:endParaRPr sz="1800" b="0" i="1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Empleado altamente productivo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Empleado encargado de su grupo </a:t>
                      </a:r>
                      <a:endParaRPr sz="1800" b="1" i="0" u="none" strike="noStrike" cap="none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Empleado cometió una infracción grave 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Plus de productividad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Plus de encargado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Elimina cualquier plus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Descuento 10%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086493363"/>
                  </a:ext>
                </a:extLst>
              </a:tr>
            </a:tbl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71F758B5-BE4F-4461-F3A7-DADC1B2278EE}"/>
              </a:ext>
            </a:extLst>
          </p:cNvPr>
          <p:cNvSpPr/>
          <p:nvPr/>
        </p:nvSpPr>
        <p:spPr>
          <a:xfrm>
            <a:off x="9329980" y="3033337"/>
            <a:ext cx="366020" cy="291738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42BF60-4967-7D63-98C3-972158C98C5B}"/>
              </a:ext>
            </a:extLst>
          </p:cNvPr>
          <p:cNvSpPr txBox="1"/>
          <p:nvPr/>
        </p:nvSpPr>
        <p:spPr>
          <a:xfrm>
            <a:off x="4709745" y="5994830"/>
            <a:ext cx="6989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C00000"/>
                </a:solidFill>
              </a:rPr>
              <a:t>Necesitamos que la especificación sea completa (que todas las reglas tengan marcas)</a:t>
            </a:r>
          </a:p>
        </p:txBody>
      </p:sp>
      <p:cxnSp>
        <p:nvCxnSpPr>
          <p:cNvPr id="17" name="Conector: curvado 16">
            <a:extLst>
              <a:ext uri="{FF2B5EF4-FFF2-40B4-BE49-F238E27FC236}">
                <a16:creationId xmlns:a16="http://schemas.microsoft.com/office/drawing/2014/main" id="{013400D7-2255-DB9F-48ED-8E589B9F3D55}"/>
              </a:ext>
            </a:extLst>
          </p:cNvPr>
          <p:cNvCxnSpPr/>
          <p:nvPr/>
        </p:nvCxnSpPr>
        <p:spPr>
          <a:xfrm>
            <a:off x="9696000" y="5284922"/>
            <a:ext cx="935837" cy="665797"/>
          </a:xfrm>
          <a:prstGeom prst="curvedConnector3">
            <a:avLst>
              <a:gd name="adj1" fmla="val 112932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44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9EB28BAF-F60D-073D-8A56-1043C695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8AB23024-26A5-ADD8-8CA1-246A7F98EE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Conceptos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F6B3779-FCA9-565F-C994-9969DA91263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0C6846C1-1D17-86C8-FE83-225D614034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EBCA841-AAAB-37B4-75B7-241FC35CD7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F763BAA0-423A-6AE2-37E4-F343E43E7F79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especificaciones deben ser completas</a:t>
            </a:r>
          </a:p>
          <a:p>
            <a:pPr marL="712788" marR="0" lvl="0" indent="-263525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Tabla:</a:t>
            </a:r>
          </a:p>
          <a:p>
            <a:pPr marL="906462" marR="0" lvl="0" indent="-45720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533;p15">
            <a:extLst>
              <a:ext uri="{FF2B5EF4-FFF2-40B4-BE49-F238E27FC236}">
                <a16:creationId xmlns:a16="http://schemas.microsoft.com/office/drawing/2014/main" id="{75A86D9D-FA12-56DE-A730-F778FC4FA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9386123"/>
              </p:ext>
            </p:extLst>
          </p:nvPr>
        </p:nvGraphicFramePr>
        <p:xfrm>
          <a:off x="2496000" y="2807869"/>
          <a:ext cx="7200000" cy="3538850"/>
        </p:xfrm>
        <a:graphic>
          <a:graphicData uri="http://schemas.openxmlformats.org/drawingml/2006/table">
            <a:tbl>
              <a:tblPr firstRow="1" bandRow="1">
                <a:noFill/>
                <a:tableStyleId>{593E73BA-C17D-4A99-9D19-78DB4725B846}</a:tableStyleId>
              </a:tblPr>
              <a:tblGrid>
                <a:gridCol w="4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b="1" i="1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s-ES" sz="1800" b="0" i="1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Reglas</a:t>
                      </a:r>
                      <a:endParaRPr sz="1800" b="0" i="1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Empleado altamente productivo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Empleado encargado de su grupo </a:t>
                      </a:r>
                      <a:endParaRPr sz="1800" b="1" i="0" u="none" strike="noStrike" cap="none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Empleado cometió una infracción grave 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F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Plus de productividad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Plus de encargado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Elimina cualquier plus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Descuento 10%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08649336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 dirty="0">
                          <a:solidFill>
                            <a:srgbClr val="C00000"/>
                          </a:solidFill>
                          <a:latin typeface="+mn-lt"/>
                        </a:rPr>
                        <a:t>No se incrementa el salario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solidFill>
                            <a:srgbClr val="C00000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2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FFAF50B7-081C-4D12-82FB-0C64463E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3B6F7A9B-3545-BBC8-5168-3EBD67550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 para realizar en grupos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4E22916B-42D1-6015-AC88-FB7679AEFA5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5CDE2AB0-2C5A-51B8-D871-0DE6FA4B56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38FC0918-29C6-A246-2B76-F0CFF57C49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6620F120-E0E2-807A-99C0-56135E0A3166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minutos: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Organizarse en grupos de 5 personas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condiciones y acciones para el enunciado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la tabla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Revisar si se requiere reducción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minutos: 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Compartir la solución con el grupo de al lado para corregirla </a:t>
            </a:r>
          </a:p>
          <a:p>
            <a:pPr marL="449263" marR="0" lvl="0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Llegar a acuerdos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Revisar con el profesor</a:t>
            </a:r>
          </a:p>
        </p:txBody>
      </p:sp>
    </p:spTree>
    <p:extLst>
      <p:ext uri="{BB962C8B-B14F-4D97-AF65-F5344CB8AC3E}">
        <p14:creationId xmlns:p14="http://schemas.microsoft.com/office/powerpoint/2010/main" val="37054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E424688C-3ED8-1747-35E9-7D8510D6C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08A37AC-AFB1-EF95-44F6-4247C2957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 para realizar en grupos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57040662-49CE-142E-A00F-1B4FC12CE1E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492BA958-A8AB-8CF9-D38C-967CF95BEC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4A8F89D-C27D-0534-A277-E0A1CEB396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499EE048-8BAE-C4A0-161B-2C1DBACA67BE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Enunciado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449263" marR="0" lvl="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aerolínea tiene proyectada la siguiente promoción:</a:t>
            </a:r>
          </a:p>
          <a:p>
            <a:pPr marL="620713" marR="0" lvl="0" indent="-17145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aerolínea viaja a Europa o América. Los pasajeros frecuentes acceden a un descuento de un 17% en el valor de su pasaje.</a:t>
            </a:r>
          </a:p>
          <a:p>
            <a:pPr marL="620713" marR="0" lvl="0" indent="-17145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los que van a Europa, sean o no frecuentes, reciben un descuento adicional.</a:t>
            </a:r>
          </a:p>
          <a:p>
            <a:pPr marL="620713" marR="0" lvl="0" indent="-17145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pasajeros que pagaron en efectivo y son de tipo frecuente, tienen derecho a la compra de un pasaje al mismo destino por un 50% de su valor.</a:t>
            </a:r>
          </a:p>
          <a:p>
            <a:pPr marL="620713" marR="0" lvl="0" indent="-17145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pasajeros que pagaron en efectivo, y no son del tipo frecuente, se les concede una cantidad de kilómetros gratuitos en su siguiente viaje.</a:t>
            </a:r>
          </a:p>
          <a:p>
            <a:pPr marL="620713" marR="0" lvl="0" indent="-17145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que son o no frecuentes y viajan a Europa, tienen derecho a una noche gratuita en un hotel de la ciudad destino. El mismo derecho lo tienen aquellos que van países de América y son frecuentes.</a:t>
            </a:r>
          </a:p>
        </p:txBody>
      </p:sp>
    </p:spTree>
    <p:extLst>
      <p:ext uri="{BB962C8B-B14F-4D97-AF65-F5344CB8AC3E}">
        <p14:creationId xmlns:p14="http://schemas.microsoft.com/office/powerpoint/2010/main" val="41504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0307DDDF-B21B-575D-9BE6-CB4D29CF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3F299D2A-F311-BC7D-D571-EA8FC81E5E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- Resumen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FB8F3B4F-C148-679B-B75F-1575249407C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AB948735-4783-40F3-8760-699AA7B25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E531075E-2175-D9DD-EB13-43B7F1784E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A473133B-7133-2377-CA0E-1078E280E907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construir tablas de decisión, el analista necesita determinar el tamaño máximo de la tabla; eliminar cualquier situación imposible, inconsistencia o redundancia, y simplificar la tabla lo más que pueda.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esencial que se verifique la integridad y precisión de las tablas de decisión. Pueden ocurrir cuatro problemas principales al desarrollar tablas de decisión: que estén incompletas, que existan situaciones imposibles, contradicciones y redundancia.</a:t>
            </a:r>
          </a:p>
        </p:txBody>
      </p:sp>
    </p:spTree>
    <p:extLst>
      <p:ext uri="{BB962C8B-B14F-4D97-AF65-F5344CB8AC3E}">
        <p14:creationId xmlns:p14="http://schemas.microsoft.com/office/powerpoint/2010/main" val="284547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4D51EDB5-7206-2375-F9E8-4538CB60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2">
            <a:extLst>
              <a:ext uri="{FF2B5EF4-FFF2-40B4-BE49-F238E27FC236}">
                <a16:creationId xmlns:a16="http://schemas.microsoft.com/office/drawing/2014/main" id="{D909FEE6-12E5-80CD-CD37-0CEE0D981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" y="594359"/>
            <a:ext cx="343287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alibri"/>
              <a:buNone/>
            </a:pPr>
            <a:r>
              <a:rPr lang="es-ES"/>
              <a:t>Técnicas de Especificación de Requerimientos</a:t>
            </a:r>
            <a:endParaRPr/>
          </a:p>
        </p:txBody>
      </p:sp>
      <p:sp>
        <p:nvSpPr>
          <p:cNvPr id="369" name="Google Shape;369;p62">
            <a:extLst>
              <a:ext uri="{FF2B5EF4-FFF2-40B4-BE49-F238E27FC236}">
                <a16:creationId xmlns:a16="http://schemas.microsoft.com/office/drawing/2014/main" id="{2BA2C924-F8D0-DF03-8988-AFC6FC42540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199" y="2926080"/>
            <a:ext cx="3432875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ts val="3600"/>
              <a:buNone/>
            </a:pP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Análisis Estructurado</a:t>
            </a:r>
            <a:endParaRPr sz="1200" dirty="0"/>
          </a:p>
        </p:txBody>
      </p:sp>
      <p:sp>
        <p:nvSpPr>
          <p:cNvPr id="370" name="Google Shape;370;p62">
            <a:extLst>
              <a:ext uri="{FF2B5EF4-FFF2-40B4-BE49-F238E27FC236}">
                <a16:creationId xmlns:a16="http://schemas.microsoft.com/office/drawing/2014/main" id="{5FDB175E-BE24-9E78-835C-40B2F59143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65138" y="6459538"/>
            <a:ext cx="2619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71" name="Google Shape;371;p62">
            <a:extLst>
              <a:ext uri="{FF2B5EF4-FFF2-40B4-BE49-F238E27FC236}">
                <a16:creationId xmlns:a16="http://schemas.microsoft.com/office/drawing/2014/main" id="{AC53C620-E30E-FB2C-3B4D-8731A3CF81F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800600" y="6459538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72" name="Google Shape;372;p62">
            <a:extLst>
              <a:ext uri="{FF2B5EF4-FFF2-40B4-BE49-F238E27FC236}">
                <a16:creationId xmlns:a16="http://schemas.microsoft.com/office/drawing/2014/main" id="{30CB2437-0364-F0E5-1A21-D5F3873408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28</a:t>
            </a:fld>
            <a:endParaRPr>
              <a:solidFill>
                <a:srgbClr val="C00000"/>
              </a:solidFill>
            </a:endParaRPr>
          </a:p>
        </p:txBody>
      </p:sp>
      <p:sp>
        <p:nvSpPr>
          <p:cNvPr id="373" name="Google Shape;373;p62">
            <a:extLst>
              <a:ext uri="{FF2B5EF4-FFF2-40B4-BE49-F238E27FC236}">
                <a16:creationId xmlns:a16="http://schemas.microsoft.com/office/drawing/2014/main" id="{478BA888-679B-1D42-8829-A201CBF41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00" y="731838"/>
            <a:ext cx="6637149" cy="557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</a:rPr>
              <a:t>Para entender los requerimientos, se debe poder reconocer además cómo se mueven los datos, los procesos o transformaciones que sufren dichos datos y sus resultados.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s-ES" sz="2600" dirty="0">
                <a:solidFill>
                  <a:schemeClr val="dk1"/>
                </a:solidFill>
              </a:rPr>
              <a:t> </a:t>
            </a: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</a:rPr>
              <a:t>La elicitación proporciona una descripción verbal del sistema, una descripción visual puede consolidar la información.</a:t>
            </a:r>
          </a:p>
          <a:p>
            <a:pPr marL="447466" lvl="0" indent="-447466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600" dirty="0">
              <a:solidFill>
                <a:schemeClr val="dk1"/>
              </a:solidFill>
            </a:endParaRPr>
          </a:p>
        </p:txBody>
      </p:sp>
      <p:pic>
        <p:nvPicPr>
          <p:cNvPr id="3" name="Google Shape;779;p3" descr="Imagen relacionada">
            <a:extLst>
              <a:ext uri="{FF2B5EF4-FFF2-40B4-BE49-F238E27FC236}">
                <a16:creationId xmlns:a16="http://schemas.microsoft.com/office/drawing/2014/main" id="{5C8D5413-9ADE-18F7-C7D4-F27402A136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0936" y="3901114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7445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B8B89EFB-48CA-BA98-162C-369E449DC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FB48CE4F-BAF8-274E-7F53-05CC29528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Estructurado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54A890E-1600-071A-F8D7-72F9E2B9549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8DA32E92-232D-6DCC-B035-3F50108C66F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8DEA532E-4FCB-3C54-8775-B5FD76A63A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29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5A5E3841-57E1-D3DB-A233-45C39B87562B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técnica de análisis estructurado permite lograr una representación gráfica que permite lograr una comprensión más profunda del sistema a construir y comunicar a los usuarios lo  comprendido.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notación no especifica aspectos físicos de implementación.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 énfasis en el procesamiento o la transformación de datos conforme estos pasan por distintos procesos.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80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5BB263E2-9E31-6AFC-DC4B-15F3CD7B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27D9677D-76B1-B54D-6CB4-C862F28DE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funcional y flujo de la información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BDE81701-AC3A-9147-1152-8A4667F43A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F51313CE-9BAE-D7B4-33C3-0378363888E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B1B47233-AFE9-9098-338E-74B5393923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30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6697CDCD-2AE6-F983-F846-32F132128343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herramienta que permite visualizar un sistema como una red de procesos funcionales, conectados entre sí por “conductos” y almacenamientos de datos.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 la transformación de entradas a salidas. Es también llamado “diagrama de burbujas”.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herramienta comúnmente utilizada por sistemas operacionales en los cuales las funciones del sistema son de gran importancia y son más complejas que los datos que éste maneja.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39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287D32A-0131-9906-867B-CD818295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6101371C-5D77-008E-4375-E5C148A31B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funcional y flujo de la información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376AE8E-2C7C-FF5E-DCDE-CF3E1D98AEB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DE8CC0E-7095-8559-9894-02EF2F11D5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DD8539AA-7921-CE45-5E9C-1CC3958F53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31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38D3F28-FC27-8347-2FC2-8D1D60944E95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 - Elementos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rectángulo representa una </a:t>
            </a:r>
            <a:r>
              <a:rPr lang="es-E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 externa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(un elemento del sistema u otro sistema que produce información para ser transformada por el software o recibe información producida por el software). 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círculo (también llamado burbuja) representa un </a:t>
            </a:r>
            <a:r>
              <a:rPr lang="es-E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transformación que es aplicado a los datos y los modifica. 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flecha representa un </a:t>
            </a:r>
            <a:r>
              <a:rPr lang="es-E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uno o más </a:t>
            </a:r>
            <a:r>
              <a:rPr lang="es-E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de datos 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(objetos de dato).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rectángulo abierto (lado izquierdo y derecho) que representa un </a:t>
            </a:r>
            <a:r>
              <a:rPr lang="es-E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almacén de datos</a:t>
            </a: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47466" marR="0" lvl="0" indent="-447466" algn="just" rtl="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61E817-E686-7EF2-C1E5-BA3C8B8BE5ED}"/>
              </a:ext>
            </a:extLst>
          </p:cNvPr>
          <p:cNvSpPr/>
          <p:nvPr/>
        </p:nvSpPr>
        <p:spPr>
          <a:xfrm>
            <a:off x="5318092" y="3736864"/>
            <a:ext cx="1555816" cy="571734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tx1"/>
                </a:solidFill>
                <a:cs typeface="Arial" panose="020B0604020202020204" pitchFamily="34" charset="0"/>
              </a:rPr>
              <a:t>Cliente</a:t>
            </a:r>
            <a:endParaRPr lang="es-AR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F5F2843-67F7-04F7-9D0E-5C527A063FCB}"/>
              </a:ext>
            </a:extLst>
          </p:cNvPr>
          <p:cNvSpPr/>
          <p:nvPr/>
        </p:nvSpPr>
        <p:spPr>
          <a:xfrm>
            <a:off x="5257936" y="4560787"/>
            <a:ext cx="1676127" cy="7881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cs typeface="Arial" panose="020B0604020202020204" pitchFamily="34" charset="0"/>
              </a:rPr>
              <a:t>Ingresar nuevo cliente</a:t>
            </a:r>
            <a:endParaRPr lang="es-AR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12D8F75-5959-EE05-DBEC-900BAF84C279}"/>
              </a:ext>
            </a:extLst>
          </p:cNvPr>
          <p:cNvCxnSpPr>
            <a:cxnSpLocks/>
          </p:cNvCxnSpPr>
          <p:nvPr/>
        </p:nvCxnSpPr>
        <p:spPr>
          <a:xfrm>
            <a:off x="5012787" y="5656702"/>
            <a:ext cx="2166424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96B1DA4-BE14-7EB8-FB88-BE17CACC03ED}"/>
              </a:ext>
            </a:extLst>
          </p:cNvPr>
          <p:cNvSpPr txBox="1"/>
          <p:nvPr/>
        </p:nvSpPr>
        <p:spPr>
          <a:xfrm>
            <a:off x="5246210" y="5348925"/>
            <a:ext cx="1827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 Nuevo Cliente</a:t>
            </a:r>
            <a:endParaRPr lang="es-A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3F83197-2A25-3752-6656-FADA3AF2C355}"/>
              </a:ext>
            </a:extLst>
          </p:cNvPr>
          <p:cNvCxnSpPr>
            <a:cxnSpLocks/>
          </p:cNvCxnSpPr>
          <p:nvPr/>
        </p:nvCxnSpPr>
        <p:spPr>
          <a:xfrm>
            <a:off x="5133698" y="5885054"/>
            <a:ext cx="204551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78C6EEF-F413-6368-04D1-E793BE0A41F1}"/>
              </a:ext>
            </a:extLst>
          </p:cNvPr>
          <p:cNvCxnSpPr>
            <a:cxnSpLocks/>
          </p:cNvCxnSpPr>
          <p:nvPr/>
        </p:nvCxnSpPr>
        <p:spPr>
          <a:xfrm>
            <a:off x="5133698" y="6236746"/>
            <a:ext cx="204551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0C6509D9-4D5E-0FB4-9CED-13082370BF9F}"/>
              </a:ext>
            </a:extLst>
          </p:cNvPr>
          <p:cNvSpPr txBox="1"/>
          <p:nvPr/>
        </p:nvSpPr>
        <p:spPr>
          <a:xfrm>
            <a:off x="5602516" y="5885054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Clientes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8563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5" grpId="0" animBg="1"/>
      <p:bldP spid="5" grpId="1" animBg="1"/>
      <p:bldP spid="7" grpId="0"/>
      <p:bldP spid="7" grpId="1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CF5B0DE2-0128-9AD0-97A6-57DB08EB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DF2B5FBC-2D10-90A2-4DCB-79D4277E1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funcional y flujo de la información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C369BAE-3E21-20F9-E29E-D16C2112AFE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6C23A90D-CA6A-7045-A5A0-05F0D8CE8C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A781AD06-3EE7-8CF4-7BAB-36FD06D7E9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32</a:t>
            </a:fld>
            <a:endParaRPr/>
          </a:p>
        </p:txBody>
      </p:sp>
      <p:pic>
        <p:nvPicPr>
          <p:cNvPr id="4" name="Google Shape;828;p7">
            <a:extLst>
              <a:ext uri="{FF2B5EF4-FFF2-40B4-BE49-F238E27FC236}">
                <a16:creationId xmlns:a16="http://schemas.microsoft.com/office/drawing/2014/main" id="{EB1C4F92-C4AB-0BC4-C612-E75817CC4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5544" y="2263200"/>
            <a:ext cx="7585694" cy="37036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832;p7">
            <a:extLst>
              <a:ext uri="{FF2B5EF4-FFF2-40B4-BE49-F238E27FC236}">
                <a16:creationId xmlns:a16="http://schemas.microsoft.com/office/drawing/2014/main" id="{52F05343-9B04-86FF-7C0F-074547DBB7CE}"/>
              </a:ext>
            </a:extLst>
          </p:cNvPr>
          <p:cNvCxnSpPr>
            <a:cxnSpLocks/>
          </p:cNvCxnSpPr>
          <p:nvPr/>
        </p:nvCxnSpPr>
        <p:spPr>
          <a:xfrm flipV="1">
            <a:off x="6384032" y="2263200"/>
            <a:ext cx="576064" cy="769735"/>
          </a:xfrm>
          <a:prstGeom prst="straightConnector1">
            <a:avLst/>
          </a:prstGeom>
          <a:noFill/>
          <a:ln w="12700" cap="flat" cmpd="tri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" name="Google Shape;833;p7">
            <a:extLst>
              <a:ext uri="{FF2B5EF4-FFF2-40B4-BE49-F238E27FC236}">
                <a16:creationId xmlns:a16="http://schemas.microsoft.com/office/drawing/2014/main" id="{71413D35-EA5C-12A7-0B61-F71FB8E4301E}"/>
              </a:ext>
            </a:extLst>
          </p:cNvPr>
          <p:cNvSpPr txBox="1"/>
          <p:nvPr/>
        </p:nvSpPr>
        <p:spPr>
          <a:xfrm>
            <a:off x="6891237" y="1893909"/>
            <a:ext cx="192620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Flujos de datos</a:t>
            </a:r>
            <a:endParaRPr dirty="0"/>
          </a:p>
        </p:txBody>
      </p:sp>
      <p:sp>
        <p:nvSpPr>
          <p:cNvPr id="13" name="Google Shape;834;p7">
            <a:extLst>
              <a:ext uri="{FF2B5EF4-FFF2-40B4-BE49-F238E27FC236}">
                <a16:creationId xmlns:a16="http://schemas.microsoft.com/office/drawing/2014/main" id="{B87C1281-E5C8-FA5E-5F71-BA4D2A7CBB8D}"/>
              </a:ext>
            </a:extLst>
          </p:cNvPr>
          <p:cNvSpPr txBox="1"/>
          <p:nvPr/>
        </p:nvSpPr>
        <p:spPr>
          <a:xfrm>
            <a:off x="9901238" y="2014329"/>
            <a:ext cx="136821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 dirty="0"/>
          </a:p>
        </p:txBody>
      </p:sp>
      <p:sp>
        <p:nvSpPr>
          <p:cNvPr id="14" name="Google Shape;835;p7">
            <a:extLst>
              <a:ext uri="{FF2B5EF4-FFF2-40B4-BE49-F238E27FC236}">
                <a16:creationId xmlns:a16="http://schemas.microsoft.com/office/drawing/2014/main" id="{27ABB3A2-E68E-B3A1-D84E-1FED82FFFAED}"/>
              </a:ext>
            </a:extLst>
          </p:cNvPr>
          <p:cNvSpPr txBox="1"/>
          <p:nvPr/>
        </p:nvSpPr>
        <p:spPr>
          <a:xfrm>
            <a:off x="1096963" y="5867881"/>
            <a:ext cx="131952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Almacén</a:t>
            </a:r>
            <a:endParaRPr dirty="0"/>
          </a:p>
        </p:txBody>
      </p:sp>
      <p:sp>
        <p:nvSpPr>
          <p:cNvPr id="15" name="Google Shape;836;p7">
            <a:extLst>
              <a:ext uri="{FF2B5EF4-FFF2-40B4-BE49-F238E27FC236}">
                <a16:creationId xmlns:a16="http://schemas.microsoft.com/office/drawing/2014/main" id="{9A41DD23-78BF-87F6-6389-6719CA81393D}"/>
              </a:ext>
            </a:extLst>
          </p:cNvPr>
          <p:cNvSpPr txBox="1"/>
          <p:nvPr/>
        </p:nvSpPr>
        <p:spPr>
          <a:xfrm>
            <a:off x="624088" y="4086855"/>
            <a:ext cx="19948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 Externa</a:t>
            </a:r>
            <a:endParaRPr dirty="0"/>
          </a:p>
        </p:txBody>
      </p:sp>
      <p:sp>
        <p:nvSpPr>
          <p:cNvPr id="16" name="Google Shape;837;p7">
            <a:extLst>
              <a:ext uri="{FF2B5EF4-FFF2-40B4-BE49-F238E27FC236}">
                <a16:creationId xmlns:a16="http://schemas.microsoft.com/office/drawing/2014/main" id="{2D93B57D-937D-8EF0-22DB-FCB525D76A2C}"/>
              </a:ext>
            </a:extLst>
          </p:cNvPr>
          <p:cNvSpPr/>
          <p:nvPr/>
        </p:nvSpPr>
        <p:spPr>
          <a:xfrm>
            <a:off x="2173865" y="2348880"/>
            <a:ext cx="1419867" cy="1368111"/>
          </a:xfrm>
          <a:prstGeom prst="wedgeEllipseCallout">
            <a:avLst>
              <a:gd name="adj1" fmla="val -79100"/>
              <a:gd name="adj2" fmla="val 76946"/>
            </a:avLst>
          </a:prstGeom>
          <a:noFill/>
          <a:ln w="12700" cap="flat" cmpd="tri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38;p7">
            <a:extLst>
              <a:ext uri="{FF2B5EF4-FFF2-40B4-BE49-F238E27FC236}">
                <a16:creationId xmlns:a16="http://schemas.microsoft.com/office/drawing/2014/main" id="{C556C641-6E0E-D437-B624-FEBACE753C5F}"/>
              </a:ext>
            </a:extLst>
          </p:cNvPr>
          <p:cNvSpPr/>
          <p:nvPr/>
        </p:nvSpPr>
        <p:spPr>
          <a:xfrm>
            <a:off x="3226963" y="4271501"/>
            <a:ext cx="1419867" cy="1445885"/>
          </a:xfrm>
          <a:prstGeom prst="wedgeEllipseCallout">
            <a:avLst>
              <a:gd name="adj1" fmla="val -132153"/>
              <a:gd name="adj2" fmla="val 65390"/>
            </a:avLst>
          </a:prstGeom>
          <a:noFill/>
          <a:ln w="12700" cap="flat" cmpd="tri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39;p7">
            <a:extLst>
              <a:ext uri="{FF2B5EF4-FFF2-40B4-BE49-F238E27FC236}">
                <a16:creationId xmlns:a16="http://schemas.microsoft.com/office/drawing/2014/main" id="{F9F33BD2-9BF4-DDE8-DDFB-2E905CF8FDDE}"/>
              </a:ext>
            </a:extLst>
          </p:cNvPr>
          <p:cNvSpPr/>
          <p:nvPr/>
        </p:nvSpPr>
        <p:spPr>
          <a:xfrm>
            <a:off x="7397576" y="2383620"/>
            <a:ext cx="1419867" cy="1333372"/>
          </a:xfrm>
          <a:prstGeom prst="wedgeEllipseCallout">
            <a:avLst>
              <a:gd name="adj1" fmla="val 124669"/>
              <a:gd name="adj2" fmla="val -61139"/>
            </a:avLst>
          </a:prstGeom>
          <a:noFill/>
          <a:ln w="12700" cap="flat" cmpd="tri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675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FC2C22E-68F0-9A0A-0550-40C4F409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F429D902-C151-9F8B-6F89-965982FCCA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Estructurado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BB3E5CA-E322-3740-8461-D617BBCA5C2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471860C7-A89F-52B8-8970-47A0CD65FAC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E6D2965C-3E6A-D29E-C0A2-D53C08B734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33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FD49E4FB-3CE2-AA77-89F4-0E4723F7338F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organizado de todos los datos pertinentes al sistema. 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definición sin ambigüedad de los datos y elementos del sistema.</a:t>
            </a:r>
          </a:p>
          <a:p>
            <a:pPr marL="809625" marR="0" lvl="0" indent="-361950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Calibri" panose="020F050202020403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Características:</a:t>
            </a:r>
          </a:p>
          <a:p>
            <a:pPr marL="1162050" marR="0" lvl="0" indent="-35560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revisar consistencia</a:t>
            </a:r>
          </a:p>
          <a:p>
            <a:pPr marL="1162050" marR="0" lvl="0" indent="-35560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 el contenido de la información</a:t>
            </a:r>
          </a:p>
          <a:p>
            <a:pPr marL="1162050" marR="0" lvl="0" indent="-35560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el significado de los flujos y los almacenes</a:t>
            </a:r>
          </a:p>
          <a:p>
            <a:pPr marL="1162050" marR="0" lvl="0" indent="-355600" algn="just" rtl="0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dato debe contener Tipo, Nombre y Descripción</a:t>
            </a: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7558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6F040BA-0958-6105-B2C3-CD7C057B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045E6972-FCDF-1D94-0DF8-E8E742C25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Estructurado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9E89C32A-D434-1AF8-0B05-BD99DDB8131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36A62A6F-4022-5576-7568-6DDAC15C8CE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1017F5AE-5211-71DD-BD89-77C96D0769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34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EBEE3D0C-01E3-1B26-86F9-21B49F11CE28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ACBB3E-34E0-31CA-3268-C26FF8DAE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16" b="3955"/>
          <a:stretch>
            <a:fillRect/>
          </a:stretch>
        </p:blipFill>
        <p:spPr>
          <a:xfrm>
            <a:off x="4907386" y="1773490"/>
            <a:ext cx="4332777" cy="44604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Google Shape;849;p8">
            <a:extLst>
              <a:ext uri="{FF2B5EF4-FFF2-40B4-BE49-F238E27FC236}">
                <a16:creationId xmlns:a16="http://schemas.microsoft.com/office/drawing/2014/main" id="{415A0A33-57AA-1CBA-F51A-0EC58987E5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587" y="3429000"/>
            <a:ext cx="2299796" cy="190808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sp>
        <p:nvSpPr>
          <p:cNvPr id="5" name="Google Shape;850;p8">
            <a:extLst>
              <a:ext uri="{FF2B5EF4-FFF2-40B4-BE49-F238E27FC236}">
                <a16:creationId xmlns:a16="http://schemas.microsoft.com/office/drawing/2014/main" id="{742984F9-399F-2D0F-7FB3-5933C2320D55}"/>
              </a:ext>
            </a:extLst>
          </p:cNvPr>
          <p:cNvSpPr/>
          <p:nvPr/>
        </p:nvSpPr>
        <p:spPr>
          <a:xfrm>
            <a:off x="979487" y="4227021"/>
            <a:ext cx="1800200" cy="2880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7960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785B5808-9E08-DE2A-7B07-E7A4AEE28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E7C78B90-922C-3887-0774-5EF3916F9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D1B4FBA4-C80B-B177-6367-9073B278692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AC418EC6-4D6B-83FD-44D4-D83AD587042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2C07F0F5-5A89-4AF6-DE1B-E14953DCD9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35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CCFC4DC8-FD81-1579-93D6-0050F353210A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debe visualizar desde una perspectiva jerárquica de arriba hacia abajo.</a:t>
            </a:r>
          </a:p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Pasos:</a:t>
            </a:r>
          </a:p>
          <a:p>
            <a:pPr marL="906463" marR="0" lvl="0" indent="-457200" algn="just" rtl="0">
              <a:spcBef>
                <a:spcPts val="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Redactar la lista de actividades (eventos) de la organización para determinar:</a:t>
            </a:r>
          </a:p>
          <a:p>
            <a:pPr marL="992188" marR="0" lvl="0" indent="-279400" algn="just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 externas</a:t>
            </a:r>
          </a:p>
          <a:p>
            <a:pPr marL="992188" marR="0" lvl="0" indent="-279400" algn="just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Flujos de datos</a:t>
            </a:r>
          </a:p>
          <a:p>
            <a:pPr marL="992188" marR="0" lvl="0" indent="-279400" algn="just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</a:t>
            </a:r>
          </a:p>
          <a:p>
            <a:pPr marL="992188" marR="0" lvl="0" indent="-279400" algn="just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Almacenes de datos</a:t>
            </a:r>
          </a:p>
          <a:p>
            <a:pPr marL="906463" marR="0" lvl="0" indent="-457200" algn="just" rtl="0">
              <a:spcBef>
                <a:spcPts val="0"/>
              </a:spcBef>
              <a:buClr>
                <a:srgbClr val="C00000"/>
              </a:buClr>
              <a:buSzPct val="100000"/>
              <a:buFont typeface="+mj-lt"/>
              <a:buAutoNum type="arabicPeriod" startAt="2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diagrama de contexto que muestre las entidades externas y los flujos de datos desde y hacia el sistema.</a:t>
            </a:r>
          </a:p>
          <a:p>
            <a:pPr marL="906463" marR="0" lvl="0" indent="-457200" algn="just" rtl="0">
              <a:spcBef>
                <a:spcPts val="0"/>
              </a:spcBef>
              <a:buClr>
                <a:srgbClr val="C00000"/>
              </a:buClr>
              <a:buSzPct val="100000"/>
              <a:buFont typeface="+mj-lt"/>
              <a:buAutoNum type="arabicPeriod" startAt="2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Dibujar el Diagrama 0 (siguiente nivel), con procesos generales y los almacenes correspondientes.</a:t>
            </a:r>
          </a:p>
          <a:p>
            <a:pPr marL="906463" marR="0" lvl="0" indent="-457200" algn="just" rtl="0">
              <a:spcBef>
                <a:spcPts val="0"/>
              </a:spcBef>
              <a:buClr>
                <a:srgbClr val="C00000"/>
              </a:buClr>
              <a:buSzPct val="100000"/>
              <a:buFont typeface="+mj-lt"/>
              <a:buAutoNum type="arabicPeriod" startAt="2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Dibujar un diagrama hijo por cada uno de los procesos del Diagrama 0.</a:t>
            </a:r>
          </a:p>
          <a:p>
            <a:pPr marL="1162050" marR="0" lvl="0" indent="-355600" algn="just" rtl="0"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0096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8B31D1A-5E69-CB6F-5AC8-FB6785BC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878CDC9B-A758-63BE-51C5-01FA5BCE94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C566A9EA-42E1-8F47-BB2D-33129DFD690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90002A0-977E-EFFD-2B4C-67D05150F6F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030BCE2-49A4-E8E0-759C-00B37847E1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36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BE511EF4-6EBD-FD40-17CB-1969FE4DAFA8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Contexto</a:t>
            </a:r>
          </a:p>
          <a:p>
            <a:pPr marL="712788" marR="0" lvl="0" indent="-263525" algn="just" rtl="0">
              <a:spcBef>
                <a:spcPts val="0"/>
              </a:spcBef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muestra un panorama global que muestre las entradas básicas y las salidas.</a:t>
            </a:r>
          </a:p>
          <a:p>
            <a:pPr marL="712788" marR="0" lvl="0" indent="-263525" algn="just" rtl="0">
              <a:spcBef>
                <a:spcPts val="0"/>
              </a:spcBef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nivel más alto en un DFD y contiene un solo proceso que representa a todo el sistema.</a:t>
            </a:r>
          </a:p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62050" marR="0" lvl="0" indent="-355600" algn="just" rtl="0"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F98651-4EB2-D50E-75BE-6F4A78573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8199" y="3083481"/>
            <a:ext cx="54959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70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8E962C35-D16C-4D27-DA33-CDDA682A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584B3AA-FEFE-4C1F-07D9-77205C62D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203" y="3271801"/>
            <a:ext cx="4645594" cy="305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29109983-4140-ACF2-2607-D6DAAAE6B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1A23C1D4-3A1B-BD94-CFCD-21428F4796F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B4E1349A-62A0-1657-D46D-9610E88EC13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69B76EF2-8A75-D4AC-9984-8C5E33BB15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37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C837993F-B5DE-49CE-9BCC-35194A10516D}"/>
              </a:ext>
            </a:extLst>
          </p:cNvPr>
          <p:cNvSpPr/>
          <p:nvPr/>
        </p:nvSpPr>
        <p:spPr>
          <a:xfrm>
            <a:off x="1151584" y="1886309"/>
            <a:ext cx="10060929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0</a:t>
            </a:r>
          </a:p>
          <a:p>
            <a:pPr marL="712788" marR="0" lvl="0" indent="-263525" algn="just" rtl="0">
              <a:spcBef>
                <a:spcPts val="0"/>
              </a:spcBef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la ampliación del Diagrama de Contexto.</a:t>
            </a:r>
          </a:p>
          <a:p>
            <a:pPr marL="712788" marR="0" lvl="0" indent="-263525" algn="just" rtl="0">
              <a:spcBef>
                <a:spcPts val="0"/>
              </a:spcBef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entradas y salidas del Diagrama de Contexto permanecen, sin embargo, se amplía para incluir </a:t>
            </a:r>
            <a:r>
              <a:rPr lang="es-ES" sz="22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hasta 9 procesos</a:t>
            </a: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(como máximo) y mostrar los almacenes de datos y nuevos flujos.</a:t>
            </a:r>
          </a:p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62050" marR="0" lvl="0" indent="-355600" algn="just" rtl="0"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189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2FAD1F37-6685-D198-3A0F-581F9E42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FD9B8-9D8B-06B0-AE94-E929200CB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975" y="3398004"/>
            <a:ext cx="3774049" cy="291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4171C0DA-233F-A9F7-2959-08572AF10B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3A775419-2A10-C423-A543-F997F03A2E5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6939A97D-D004-DEBE-33D4-D190DB3166F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DFEF62E0-2F6F-0C38-361C-2AAB5D2F91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38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2F381952-5AA1-E30E-1617-D31A701EDC04}"/>
              </a:ext>
            </a:extLst>
          </p:cNvPr>
          <p:cNvSpPr/>
          <p:nvPr/>
        </p:nvSpPr>
        <p:spPr>
          <a:xfrm>
            <a:off x="1151584" y="1886309"/>
            <a:ext cx="10258593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Nivelación de un DFD</a:t>
            </a:r>
          </a:p>
          <a:p>
            <a:pPr marL="542925" marR="0" lvl="0" indent="-277813" algn="just" rtl="0">
              <a:spcBef>
                <a:spcPts val="0"/>
              </a:spcBef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proceso puede, a su vez, ampliarse para crear un diagrama hijo más detallado.</a:t>
            </a:r>
          </a:p>
          <a:p>
            <a:pPr marL="542925" marR="0" lvl="0" indent="-277813" algn="just" rtl="0">
              <a:spcBef>
                <a:spcPts val="0"/>
              </a:spcBef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entradas y salidas del proceso padre permanecen, sin embargo, pueden aparecer nuevos almacenes de datos y nuevos flujos.</a:t>
            </a: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62050" marR="0" lvl="0" indent="-355600" algn="just" rtl="0"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</a:pPr>
            <a:endParaRPr lang="es-E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2052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104176F3-C1CD-C1C4-003D-6998CC16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>
            <a:extLst>
              <a:ext uri="{FF2B5EF4-FFF2-40B4-BE49-F238E27FC236}">
                <a16:creationId xmlns:a16="http://schemas.microsoft.com/office/drawing/2014/main" id="{85D0E4BA-1BB8-5BE4-687F-22414FD20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6866" y="1140614"/>
            <a:ext cx="10258593" cy="63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rm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2"/>
              <a:buFont typeface="Calibri"/>
              <a:buNone/>
            </a:pPr>
            <a:r>
              <a:rPr lang="es-ES" sz="4382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  <a:endParaRPr sz="438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3">
            <a:extLst>
              <a:ext uri="{FF2B5EF4-FFF2-40B4-BE49-F238E27FC236}">
                <a16:creationId xmlns:a16="http://schemas.microsoft.com/office/drawing/2014/main" id="{4AD0BA62-DEDF-026E-08AF-3A374F7FBE0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381" name="Google Shape;381;p63">
            <a:extLst>
              <a:ext uri="{FF2B5EF4-FFF2-40B4-BE49-F238E27FC236}">
                <a16:creationId xmlns:a16="http://schemas.microsoft.com/office/drawing/2014/main" id="{6A17E6AB-E8FF-0042-6E3D-D226AC9F07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382" name="Google Shape;382;p63">
            <a:extLst>
              <a:ext uri="{FF2B5EF4-FFF2-40B4-BE49-F238E27FC236}">
                <a16:creationId xmlns:a16="http://schemas.microsoft.com/office/drawing/2014/main" id="{53727DFA-3336-86D4-5A6D-C9BB6C32FC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s-ES"/>
              <a:t>39</a:t>
            </a:fld>
            <a:endParaRPr/>
          </a:p>
        </p:txBody>
      </p:sp>
      <p:sp>
        <p:nvSpPr>
          <p:cNvPr id="383" name="Google Shape;383;p63">
            <a:extLst>
              <a:ext uri="{FF2B5EF4-FFF2-40B4-BE49-F238E27FC236}">
                <a16:creationId xmlns:a16="http://schemas.microsoft.com/office/drawing/2014/main" id="{1411C988-F7EA-A791-CC6C-4E9F09AEC4D2}"/>
              </a:ext>
            </a:extLst>
          </p:cNvPr>
          <p:cNvSpPr/>
          <p:nvPr/>
        </p:nvSpPr>
        <p:spPr>
          <a:xfrm>
            <a:off x="1151584" y="1886309"/>
            <a:ext cx="10258593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447466" marR="0" lvl="0" indent="-447466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789"/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Nivelación de un DFD</a:t>
            </a:r>
          </a:p>
          <a:p>
            <a:pPr marL="542925" marR="0" lvl="0" indent="-277813" algn="just" rtl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partir del DFD preliminar se realizan nivelaciones.</a:t>
            </a:r>
          </a:p>
          <a:p>
            <a:pPr marL="898525" marR="0" lvl="0" indent="-277813" algn="just" rtl="0"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Ascendentes</a:t>
            </a: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898525" marR="0" lvl="0" algn="just" rtl="0">
              <a:spcBef>
                <a:spcPts val="0"/>
              </a:spcBef>
              <a:spcAft>
                <a:spcPts val="600"/>
              </a:spcAft>
              <a:buClrTx/>
              <a:buSzPct val="100000"/>
            </a:pPr>
            <a:r>
              <a:rPr lang="es-ES" sz="2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Agrupa las burbujas con algún criterio.</a:t>
            </a:r>
          </a:p>
          <a:p>
            <a:pPr marL="898525" marR="0" lvl="0" indent="-277813" algn="just" rtl="0"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Descendentes</a:t>
            </a: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898525" marR="0" lvl="0" algn="just" rtl="0">
              <a:spcBef>
                <a:spcPts val="0"/>
              </a:spcBef>
              <a:spcAft>
                <a:spcPts val="600"/>
              </a:spcAft>
              <a:buClrTx/>
              <a:buSzPct val="100000"/>
            </a:pPr>
            <a:r>
              <a:rPr lang="es-ES" sz="2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Descompone las burbujas funcionalmente.</a:t>
            </a:r>
          </a:p>
        </p:txBody>
      </p:sp>
    </p:spTree>
    <p:extLst>
      <p:ext uri="{BB962C8B-B14F-4D97-AF65-F5344CB8AC3E}">
        <p14:creationId xmlns:p14="http://schemas.microsoft.com/office/powerpoint/2010/main" val="1972169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9"/>
          <p:cNvSpPr txBox="1">
            <a:spLocks noGrp="1"/>
          </p:cNvSpPr>
          <p:nvPr>
            <p:ph type="title"/>
          </p:nvPr>
        </p:nvSpPr>
        <p:spPr>
          <a:xfrm>
            <a:off x="1086866" y="1177870"/>
            <a:ext cx="10428375" cy="59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75" tIns="35825" rIns="71675" bIns="35825" anchor="t" anchorCtr="0">
            <a:noAutofit/>
          </a:bodyPr>
          <a:lstStyle/>
          <a:p>
            <a:pPr marL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99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587" name="Google Shape;587;p99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88" name="Google Shape;588;p99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40</a:t>
            </a:fld>
            <a:endParaRPr/>
          </a:p>
        </p:txBody>
      </p:sp>
      <p:sp>
        <p:nvSpPr>
          <p:cNvPr id="589" name="Google Shape;589;p99"/>
          <p:cNvSpPr/>
          <p:nvPr/>
        </p:nvSpPr>
        <p:spPr>
          <a:xfrm>
            <a:off x="1151584" y="1886309"/>
            <a:ext cx="9945202" cy="446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25" tIns="44800" rIns="89625" bIns="44800" anchor="t" anchorCtr="0">
            <a:noAutofit/>
          </a:bodyPr>
          <a:lstStyle/>
          <a:p>
            <a:pPr marL="263525" marR="0" lvl="0" indent="-26352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Kendall &amp; Kendall, Capítulo 9, Análisis y Diseño de Sistemas, Pearson Prentice Hall 2011 . 8va edición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IS2 2026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2 2026" id="{16FBCDB9-40B2-4F63-BA84-B5526169C3F5}" vid="{B6418BC2-037E-42CA-8840-133335CAEFD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IS2 2026</Template>
  <TotalTime>609</TotalTime>
  <Words>2874</Words>
  <Application>Microsoft Office PowerPoint</Application>
  <PresentationFormat>Panorámica</PresentationFormat>
  <Paragraphs>856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6" baseType="lpstr">
      <vt:lpstr>Times New Roman</vt:lpstr>
      <vt:lpstr>Noto Sans Symbols</vt:lpstr>
      <vt:lpstr>Noto Sans Symbols2</vt:lpstr>
      <vt:lpstr>Arial</vt:lpstr>
      <vt:lpstr>Calibri</vt:lpstr>
      <vt:lpstr>IS2 2026</vt:lpstr>
      <vt:lpstr>Ingeniería de Software I</vt:lpstr>
      <vt:lpstr>Contenidos</vt:lpstr>
      <vt:lpstr>Técnicas de Especificación de Requerimientos</vt:lpstr>
      <vt:lpstr>Tablas de Decisión</vt:lpstr>
      <vt:lpstr>Tablas de Decisión</vt:lpstr>
      <vt:lpstr>Tablas de Decisión</vt:lpstr>
      <vt:lpstr>Tablas de Decisión</vt:lpstr>
      <vt:lpstr>Tablas de Decisión</vt:lpstr>
      <vt:lpstr>Tablas de Decisión</vt:lpstr>
      <vt:lpstr>Tablas de Decisión</vt:lpstr>
      <vt:lpstr>Tablas de Decisión - Conceptos</vt:lpstr>
      <vt:lpstr>Tablas de Decisión</vt:lpstr>
      <vt:lpstr>Tablas de Decisión - Conceptos</vt:lpstr>
      <vt:lpstr>Tablas de Decisión - Conceptos</vt:lpstr>
      <vt:lpstr>Tablas de Decisión - Conceptos</vt:lpstr>
      <vt:lpstr>Tablas de Decisión</vt:lpstr>
      <vt:lpstr>Tablas de Decisión</vt:lpstr>
      <vt:lpstr>Tablas de Decisión</vt:lpstr>
      <vt:lpstr>Tablas de Decisión - Conceptos</vt:lpstr>
      <vt:lpstr>Tablas de Decisión - Conceptos</vt:lpstr>
      <vt:lpstr>Tablas de Decisión - Conceptos</vt:lpstr>
      <vt:lpstr>Tablas de Decisión - Conceptos</vt:lpstr>
      <vt:lpstr>Tablas de Decisión - Conceptos</vt:lpstr>
      <vt:lpstr>Tablas de Decisión - Conceptos</vt:lpstr>
      <vt:lpstr>Ejercicio para realizar en grupos</vt:lpstr>
      <vt:lpstr>Ejercicio para realizar en grupos</vt:lpstr>
      <vt:lpstr>Tablas de Decisión - Resumen</vt:lpstr>
      <vt:lpstr>Técnicas de Especificación de Requerimientos</vt:lpstr>
      <vt:lpstr>Análisis Estructurado</vt:lpstr>
      <vt:lpstr>Modelado funcional y flujo de la información</vt:lpstr>
      <vt:lpstr>Modelado funcional y flujo de la información</vt:lpstr>
      <vt:lpstr>Modelado funcional y flujo de la información</vt:lpstr>
      <vt:lpstr>Análisis Estructurado</vt:lpstr>
      <vt:lpstr>Análisis Estructurado</vt:lpstr>
      <vt:lpstr>Diagrama de Flujo de Datos (DFD)</vt:lpstr>
      <vt:lpstr>Diagrama de Flujo de Datos (DFD)</vt:lpstr>
      <vt:lpstr>Diagrama de Flujo de Datos (DFD)</vt:lpstr>
      <vt:lpstr>Diagrama de Flujo de Datos (DFD)</vt:lpstr>
      <vt:lpstr>Diagrama de Flujo de Datos (DFD)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I</dc:title>
  <dc:creator>User</dc:creator>
  <cp:lastModifiedBy>Rocio Muñoz</cp:lastModifiedBy>
  <cp:revision>63</cp:revision>
  <dcterms:modified xsi:type="dcterms:W3CDTF">2026-09-18T12:54:21Z</dcterms:modified>
</cp:coreProperties>
</file>